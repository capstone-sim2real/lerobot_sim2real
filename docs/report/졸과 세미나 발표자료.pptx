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75" r:id="rId4"/>
    <p:sldId id="277" r:id="rId32"/>
    <p:sldId id="265" r:id="rId15"/>
    <p:sldId id="260" r:id="rId10"/>
    <p:sldId id="262" r:id="rId12"/>
    <p:sldId id="257" r:id="rId6"/>
    <p:sldId id="278" r:id="rId33"/>
    <p:sldId id="269" r:id="rId19"/>
    <p:sldId id="272" r:id="rId22"/>
    <p:sldId id="273" r:id="rId23"/>
  </p:sldIdLst>
  <p:sldSz cx="9144000" cy="5143500" type="screen16x9"/>
  <p:notesSz cx="6858000" cy="9144000"/>
  <p:embeddedFontLst>
    <p:embeddedFont>
      <p:font typeface="Asta Sans" panose="020B0600000101010101" charset="-127"/>
      <p:regular r:id="rId25"/>
      <p:bold r:id="rId26"/>
    </p:embeddedFont>
    <p:embeddedFont>
      <p:font typeface="프리젠테이션 5 Medium" pitchFamily="2" charset="-127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705842-0560-4C93-92A0-7A9CA526DA95}">
  <a:tblStyle styleId="{60705842-0560-4C93-92A0-7A9CA526DA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6" Type="http://schemas.openxmlformats.org/officeDocument/2006/relationships/slide" Target="slides/slide4.xml"/><Relationship Id="rId10" Type="http://schemas.openxmlformats.org/officeDocument/2006/relationships/slide" Target="slides/slide8.xml"/><Relationship Id="rId12" Type="http://schemas.openxmlformats.org/officeDocument/2006/relationships/slide" Target="slides/slide10.xml"/><Relationship Id="rId15" Type="http://schemas.openxmlformats.org/officeDocument/2006/relationships/slide" Target="slides/slide13.xml"/><Relationship Id="rId19" Type="http://schemas.openxmlformats.org/officeDocument/2006/relationships/slide" Target="slides/slide17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2.xml"/><Relationship Id="rId33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cc383561_6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표지. 팀 이름과 과제명만 읽고 바로 넘어간다.</a:t>
            </a:r>
          </a:p>
        </p:txBody>
      </p:sp>
      <p:sp>
        <p:nvSpPr>
          <p:cNvPr id="52" name="Google Shape;52;g409cc383561_6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2D67497-8661-7458-CB87-C56122894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09cc383561_15_42:notes">
            <a:extLst>
              <a:ext uri="{FF2B5EF4-FFF2-40B4-BE49-F238E27FC236}">
                <a16:creationId xmlns:a16="http://schemas.microsoft.com/office/drawing/2014/main" id="{053F3E44-6E12-27C2-89F6-066EC2915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고정 탑다운 카메라 한 대로 블록을 찾고, 호모그래피로 로봇 좌표로 옮기고, IK로 팔을 보낸다. Task 1은 운반, Task 2는 같은 경로에서 PLACE만 적재로 바꾼다.</a:t>
            </a:r>
          </a:p>
        </p:txBody>
      </p:sp>
      <p:sp>
        <p:nvSpPr>
          <p:cNvPr id="106" name="Google Shape;106;g409cc383561_15_42:notes">
            <a:extLst>
              <a:ext uri="{FF2B5EF4-FFF2-40B4-BE49-F238E27FC236}">
                <a16:creationId xmlns:a16="http://schemas.microsoft.com/office/drawing/2014/main" id="{F94B32D2-00D0-1736-7366-93736118EA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0616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9cc383561_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네 축으로 나눠 설명. 색은 후보만 만들고 형상이 결정한다는 점, IK는 시드 테이블로 결정론적으로 수렴한다는 점이 핵심.</a:t>
            </a:r>
          </a:p>
        </p:txBody>
      </p:sp>
      <p:sp>
        <p:nvSpPr>
          <p:cNvPr id="64" name="Google Shape;64;g409cc383561_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409cc383561_15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착수 때는 모방학습이었다. 데이터는 모았지만 파지 정밀도가 부족했고, 실패해도 원인을 못 짚어 재학습만 반복했다. 문제 구조가 기하로 완전히 규정되므로 규칙 기반으로 다시 짰다. 규정상 신경망 1개는 상한이지 필수가 아니다.</a:t>
            </a:r>
          </a:p>
        </p:txBody>
      </p:sp>
      <p:sp>
        <p:nvSpPr>
          <p:cNvPr id="136" name="Google Shape;136;g409cc383561_15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9cc383561_15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다이어그램으로 데이터 흐름 설명. 카메라 서버가 장치를 단독 소유하고 실행 경로와 표시 경로가 프레임을 나눠 쓴다. FSM은 파지가 확인되기 전에는 절대 다음 단계로 가지 않는다.</a:t>
            </a:r>
          </a:p>
        </p:txBody>
      </p:sp>
      <p:sp>
        <p:nvSpPr>
          <p:cNvPr id="178" name="Google Shape;178;g409cc383561_15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409cc383561_15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관제 화면 녹화. 색 후보 → 형상 게이트 → 색 할당 순서를 화면으로 보여준다. 이 경로는 표시 전용이라 태스크 실행 속도에 영향을 주지 않는다.</a:t>
            </a:r>
          </a:p>
        </p:txBody>
      </p:sp>
      <p:sp>
        <p:nvSpPr>
          <p:cNvPr id="235" name="Google Shape;235;g409cc383561_15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409cc383561_15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성과와 한계를 같이 말한다. 캘리브레이션 절대 정확도는 목표에 못 미치지만, 그 오차를 전제로 재시도·검증을 설계해 동작하게 만들었다는 것이 요지.</a:t>
            </a:r>
          </a:p>
        </p:txBody>
      </p:sp>
      <p:sp>
        <p:nvSpPr>
          <p:cNvPr id="311" name="Google Shape;311;g409cc383561_15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409cc383561_15_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수평 파지 전환, 손목 카메라 근접 보정, Task 2 적재 완성 순으로 짧게.</a:t>
            </a:r>
          </a:p>
        </p:txBody>
      </p:sp>
      <p:sp>
        <p:nvSpPr>
          <p:cNvPr id="369" name="Google Shape;369;g409cc383561_15_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409cc383561_15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질의응답.</a:t>
            </a:r>
          </a:p>
        </p:txBody>
      </p:sp>
      <p:sp>
        <p:nvSpPr>
          <p:cNvPr id="391" name="Google Shape;391;g409cc383561_15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영상 재생. 검출 → 접근 → 파지 → 운반 → 배치가 한 사이클. 블록을 놓을 때마다 HOME으로 돌아가 카메라 시야를 비우고 다시 검출하는 점을 짚는다.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장이 발표의 중심. 문제 → 해결 네 쌍을 순서대로. 테이프 오검출은 형상으로, 서보 과열은 중립 손목 방향으로, IK 발산은 시드 테이블로, 파지 실패는 센서 검증과 ±15mm 재시도로 해결했다.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67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31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62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824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04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653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962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615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17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363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51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01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41030" y="1775014"/>
            <a:ext cx="7589520" cy="18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Team Sim2Real</a:t>
            </a:r>
            <a:endParaRPr sz="700"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컴퓨터 비전과 역기구학 기반 SO-ARM101 </a:t>
            </a:r>
            <a:br>
              <a:rPr lang="en-US" altLang="ko" sz="3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</a:br>
            <a:r>
              <a:rPr lang="ko" sz="3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로봇팔의 블록 이동 및 적재 시스템 </a:t>
            </a:r>
            <a:endParaRPr sz="700"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636100" y="1498238"/>
            <a:ext cx="52500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0" i="0" u="none" strike="noStrike" cap="none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PUSAN NATIONAL UNIVERSITY </a:t>
            </a:r>
            <a:endParaRPr sz="700"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736450" y="3552200"/>
            <a:ext cx="4641600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*윤민석 김주환 이동근</a:t>
            </a:r>
            <a:endParaRPr sz="700" dirty="0"/>
          </a:p>
        </p:txBody>
      </p:sp>
      <p:grpSp>
        <p:nvGrpSpPr>
          <p:cNvPr id="57" name="Google Shape;57;p13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58" name="Google Shape;58;p13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13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13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2925" y="714216"/>
            <a:ext cx="1545950" cy="15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07">
          <a:extLst>
            <a:ext uri="{FF2B5EF4-FFF2-40B4-BE49-F238E27FC236}">
              <a16:creationId xmlns:a16="http://schemas.microsoft.com/office/drawing/2014/main" id="{C4458D14-0929-85B2-B87E-C26ABDD7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5">
            <a:extLst>
              <a:ext uri="{FF2B5EF4-FFF2-40B4-BE49-F238E27FC236}">
                <a16:creationId xmlns:a16="http://schemas.microsoft.com/office/drawing/2014/main" id="{E2B40CAD-80D4-EDF2-FA52-3C9AB14F9E5B}"/>
              </a:ext>
            </a:extLst>
          </p:cNvPr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09" name="Google Shape;109;p15">
              <a:extLst>
                <a:ext uri="{FF2B5EF4-FFF2-40B4-BE49-F238E27FC236}">
                  <a16:creationId xmlns:a16="http://schemas.microsoft.com/office/drawing/2014/main" id="{A62A2301-2112-8D7F-8E16-684D17221B95}"/>
                </a:ext>
              </a:extLst>
            </p:cNvPr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15">
              <a:extLst>
                <a:ext uri="{FF2B5EF4-FFF2-40B4-BE49-F238E27FC236}">
                  <a16:creationId xmlns:a16="http://schemas.microsoft.com/office/drawing/2014/main" id="{92391527-0845-41D5-A681-CCF691728F76}"/>
                </a:ext>
              </a:extLst>
            </p:cNvPr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15">
              <a:extLst>
                <a:ext uri="{FF2B5EF4-FFF2-40B4-BE49-F238E27FC236}">
                  <a16:creationId xmlns:a16="http://schemas.microsoft.com/office/drawing/2014/main" id="{50E2A769-1E2C-AE56-4A12-B1030619223E}"/>
                </a:ext>
              </a:extLst>
            </p:cNvPr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12" name="Google Shape;112;p15">
            <a:extLst>
              <a:ext uri="{FF2B5EF4-FFF2-40B4-BE49-F238E27FC236}">
                <a16:creationId xmlns:a16="http://schemas.microsoft.com/office/drawing/2014/main" id="{FB9C35BA-8D14-8BED-9E65-59A5A725B2BE}"/>
              </a:ext>
            </a:extLst>
          </p:cNvPr>
          <p:cNvGrpSpPr/>
          <p:nvPr/>
        </p:nvGrpSpPr>
        <p:grpSpPr>
          <a:xfrm>
            <a:off x="436418" y="1663390"/>
            <a:ext cx="8172376" cy="3199550"/>
            <a:chOff x="0" y="-28575"/>
            <a:chExt cx="4274726" cy="1284534"/>
          </a:xfrm>
        </p:grpSpPr>
        <p:sp>
          <p:nvSpPr>
            <p:cNvPr id="113" name="Google Shape;113;p15">
              <a:extLst>
                <a:ext uri="{FF2B5EF4-FFF2-40B4-BE49-F238E27FC236}">
                  <a16:creationId xmlns:a16="http://schemas.microsoft.com/office/drawing/2014/main" id="{B8912C10-688F-624A-42BB-7168196FEA84}"/>
                </a:ext>
              </a:extLst>
            </p:cNvPr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114" name="Google Shape;114;p15">
              <a:extLst>
                <a:ext uri="{FF2B5EF4-FFF2-40B4-BE49-F238E27FC236}">
                  <a16:creationId xmlns:a16="http://schemas.microsoft.com/office/drawing/2014/main" id="{A794102C-33C7-3D85-DD05-6D4DDB1481CE}"/>
                </a:ext>
              </a:extLst>
            </p:cNvPr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cxnSp>
        <p:nvCxnSpPr>
          <p:cNvPr id="117" name="Google Shape;117;p15">
            <a:extLst>
              <a:ext uri="{FF2B5EF4-FFF2-40B4-BE49-F238E27FC236}">
                <a16:creationId xmlns:a16="http://schemas.microsoft.com/office/drawing/2014/main" id="{439AAF81-A539-0CFE-D354-CE51C2FCDE5C}"/>
              </a:ext>
            </a:extLst>
          </p:cNvPr>
          <p:cNvCxnSpPr>
            <a:cxnSpLocks/>
          </p:cNvCxnSpPr>
          <p:nvPr/>
        </p:nvCxnSpPr>
        <p:spPr>
          <a:xfrm>
            <a:off x="3564122" y="1693912"/>
            <a:ext cx="0" cy="3169028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" name="Google Shape;118;p15">
            <a:extLst>
              <a:ext uri="{FF2B5EF4-FFF2-40B4-BE49-F238E27FC236}">
                <a16:creationId xmlns:a16="http://schemas.microsoft.com/office/drawing/2014/main" id="{8028DFB3-E61C-3BF5-FC13-715431BE3503}"/>
              </a:ext>
            </a:extLst>
          </p:cNvPr>
          <p:cNvSpPr txBox="1"/>
          <p:nvPr/>
        </p:nvSpPr>
        <p:spPr>
          <a:xfrm>
            <a:off x="519647" y="731723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① 프로젝트 개요 &amp; 목표</a:t>
            </a:r>
          </a:p>
        </p:txBody>
      </p:sp>
      <p:sp>
        <p:nvSpPr>
          <p:cNvPr id="119" name="Google Shape;119;p15">
            <a:extLst>
              <a:ext uri="{FF2B5EF4-FFF2-40B4-BE49-F238E27FC236}">
                <a16:creationId xmlns:a16="http://schemas.microsoft.com/office/drawing/2014/main" id="{040DEC61-A359-C4BE-3077-FCAD56AF9F71}"/>
              </a:ext>
            </a:extLst>
          </p:cNvPr>
          <p:cNvSpPr txBox="1"/>
          <p:nvPr/>
        </p:nvSpPr>
        <p:spPr>
          <a:xfrm>
            <a:off x="514350" y="1238897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고정 탑다운 카메라 1대 + CV·IK 규칙 기반 파이프라인</a:t>
            </a:r>
          </a:p>
        </p:txBody>
      </p:sp>
      <p:sp>
        <p:nvSpPr>
          <p:cNvPr id="120" name="Google Shape;120;p15">
            <a:extLst>
              <a:ext uri="{FF2B5EF4-FFF2-40B4-BE49-F238E27FC236}">
                <a16:creationId xmlns:a16="http://schemas.microsoft.com/office/drawing/2014/main" id="{CBEBDD27-83B9-D578-68F4-A9C2909A9532}"/>
              </a:ext>
            </a:extLst>
          </p:cNvPr>
          <p:cNvSpPr txBox="1"/>
          <p:nvPr/>
        </p:nvSpPr>
        <p:spPr>
          <a:xfrm>
            <a:off x="703660" y="1856304"/>
            <a:ext cx="7772400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프로젝트 시스템 개요</a:t>
            </a:r>
            <a:r>
              <a:rPr lang="en-US" altLang="ko-KR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		        </a:t>
            </a:r>
            <a:r>
              <a:rPr lang="ko-KR" altLang="en-US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프로젝트 구현 목표 </a:t>
            </a:r>
            <a:endParaRPr lang="ko-KR" altLang="en-US" sz="1000" b="1" dirty="0">
              <a:solidFill>
                <a:srgbClr val="4478FB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E6409A51-349F-299E-2CE4-90B5F93FBA45}"/>
              </a:ext>
            </a:extLst>
          </p:cNvPr>
          <p:cNvSpPr txBox="1"/>
          <p:nvPr/>
        </p:nvSpPr>
        <p:spPr>
          <a:xfrm>
            <a:off x="3865421" y="2971800"/>
            <a:ext cx="4566532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3513" lvl="1">
              <a:lnSpc>
                <a:spcPts val="2500"/>
              </a:lnSpc>
            </a:pPr>
            <a:r>
              <a:rPr lang="ko-KR" altLang="en-US" sz="10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사용 기술 스택</a:t>
            </a:r>
          </a:p>
          <a:p>
            <a:pPr marL="354963" lvl="1" indent="-171450">
              <a:lnSpc>
                <a:spcPts val="2500"/>
              </a:lnSpc>
              <a:buFontTx/>
              <a:buChar char="-"/>
            </a:pPr>
            <a:r>
              <a:rPr lang="en-US" altLang="ko-KR" sz="10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CV : 색 후보 → 형상 필터로 블록 확정</a:t>
            </a:r>
          </a:p>
          <a:p>
            <a:pPr marL="354963" lvl="1" indent="-171450">
              <a:lnSpc>
                <a:spcPts val="2500"/>
              </a:lnSpc>
              <a:buFontTx/>
              <a:buChar char="-"/>
            </a:pPr>
            <a:r>
              <a:rPr lang="en-US" altLang="ko-KR" sz="10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좌표 : 평면 호모그래피 (RMS 8.18mm)</a:t>
            </a:r>
          </a:p>
          <a:p>
            <a:pPr marL="354963" lvl="1" indent="-171450">
              <a:lnSpc>
                <a:spcPts val="2500"/>
              </a:lnSpc>
              <a:buFontTx/>
              <a:buChar char="-"/>
            </a:pPr>
            <a:r>
              <a:rPr lang="en-US" altLang="ko-KR" sz="10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IK : 탑다운 시드 테이블 기반 역기구학</a:t>
            </a:r>
          </a:p>
          <a:p>
            <a:pPr marL="354963" lvl="1" indent="-171450">
              <a:lnSpc>
                <a:spcPts val="2500"/>
              </a:lnSpc>
              <a:buFontTx/>
              <a:buChar char="-"/>
            </a:pPr>
            <a:r>
              <a:rPr lang="en-US" altLang="ko-KR" sz="10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제어 : FSM 파지 검증 · 재시도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15D4CC-B38F-B5FA-1531-82F366D49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48" y="2192328"/>
            <a:ext cx="2223691" cy="2497436"/>
          </a:xfrm>
          <a:prstGeom prst="rect">
            <a:avLst/>
          </a:prstGeom>
        </p:spPr>
      </p:pic>
      <p:sp>
        <p:nvSpPr>
          <p:cNvPr id="25" name="Google Shape;122;p15">
            <a:extLst>
              <a:ext uri="{FF2B5EF4-FFF2-40B4-BE49-F238E27FC236}">
                <a16:creationId xmlns:a16="http://schemas.microsoft.com/office/drawing/2014/main" id="{0F8844F4-C5EC-4B94-ACE7-D28E16663FCC}"/>
              </a:ext>
            </a:extLst>
          </p:cNvPr>
          <p:cNvSpPr txBox="1"/>
          <p:nvPr/>
        </p:nvSpPr>
        <p:spPr>
          <a:xfrm>
            <a:off x="3758184" y="2157984"/>
            <a:ext cx="456653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83513" lvl="1">
              <a:lnSpc>
                <a:spcPts val="2500"/>
              </a:lnSpc>
            </a:pPr>
            <a:r>
              <a:rPr lang="ko-KR" altLang="en-US" sz="11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Task 1 — 블록 5개를 지정 영역으로 운반</a:t>
            </a:r>
          </a:p>
          <a:p>
            <a:pPr marL="183513" lvl="1">
              <a:lnSpc>
                <a:spcPts val="2500"/>
              </a:lnSpc>
            </a:pPr>
            <a:r>
              <a:rPr lang="ko-KR" altLang="en-US" sz="1100" dirty="0">
                <a:solidFill>
                  <a:srgbClr val="212121"/>
                </a:solidFill>
                <a:latin typeface="Asta Sans" pitchFamily="2" charset="-127"/>
                <a:ea typeface="Asta Sans" pitchFamily="2" charset="-127"/>
                <a:cs typeface="JASO Sans"/>
                <a:sym typeface="JASO Sans"/>
              </a:rPr>
              <a:t>Task 2 — PLACE 전략만 교체해 블록 적재</a:t>
            </a:r>
          </a:p>
        </p:txBody>
      </p:sp>
    </p:spTree>
    <p:extLst>
      <p:ext uri="{BB962C8B-B14F-4D97-AF65-F5344CB8AC3E}">
        <p14:creationId xmlns:p14="http://schemas.microsoft.com/office/powerpoint/2010/main" val="302150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14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67" name="Google Shape;67;p14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68;p14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" name="Google Shape;69;p14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70" name="Google Shape;70;p14"/>
          <p:cNvSpPr txBox="1"/>
          <p:nvPr/>
        </p:nvSpPr>
        <p:spPr>
          <a:xfrm>
            <a:off x="1499742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i="0" u="none" strike="noStrike" cap="none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⑤ 핵심 구현 방법</a:t>
            </a:r>
          </a:p>
        </p:txBody>
      </p:sp>
      <p:sp>
        <p:nvSpPr>
          <p:cNvPr id="71" name="Google Shape;71;p14"/>
          <p:cNvSpPr txBox="1"/>
          <p:nvPr/>
        </p:nvSpPr>
        <p:spPr>
          <a:xfrm>
            <a:off x="2950083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검출 · 좌표 변환 · IK · 상태 제어</a:t>
            </a:r>
          </a:p>
        </p:txBody>
      </p:sp>
      <p:grpSp>
        <p:nvGrpSpPr>
          <p:cNvPr id="72" name="Google Shape;72;p14"/>
          <p:cNvGrpSpPr/>
          <p:nvPr/>
        </p:nvGrpSpPr>
        <p:grpSpPr>
          <a:xfrm>
            <a:off x="783121" y="2051068"/>
            <a:ext cx="1719883" cy="2011680"/>
            <a:chOff x="0" y="-28575"/>
            <a:chExt cx="905946" cy="1358002"/>
          </a:xfrm>
        </p:grpSpPr>
        <p:sp>
          <p:nvSpPr>
            <p:cNvPr id="73" name="Google Shape;73;p14"/>
            <p:cNvSpPr/>
            <p:nvPr/>
          </p:nvSpPr>
          <p:spPr>
            <a:xfrm>
              <a:off x="0" y="0"/>
              <a:ext cx="905946" cy="1329427"/>
            </a:xfrm>
            <a:custGeom>
              <a:avLst/>
              <a:gdLst/>
              <a:ahLst/>
              <a:cxnLst/>
              <a:rect l="l" t="t" r="r" b="b"/>
              <a:pathLst>
                <a:path w="905946" h="1329427" extrusionOk="0">
                  <a:moveTo>
                    <a:pt x="0" y="0"/>
                  </a:moveTo>
                  <a:lnTo>
                    <a:pt x="905946" y="0"/>
                  </a:lnTo>
                  <a:lnTo>
                    <a:pt x="905946" y="1329427"/>
                  </a:lnTo>
                  <a:lnTo>
                    <a:pt x="0" y="13294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0" y="-28575"/>
              <a:ext cx="905946" cy="1358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960120" y="2280293"/>
            <a:ext cx="1371600" cy="440965"/>
            <a:chOff x="0" y="-28575"/>
            <a:chExt cx="545490" cy="232278"/>
          </a:xfrm>
        </p:grpSpPr>
        <p:sp>
          <p:nvSpPr>
            <p:cNvPr id="76" name="Google Shape;76;p14"/>
            <p:cNvSpPr/>
            <p:nvPr/>
          </p:nvSpPr>
          <p:spPr>
            <a:xfrm>
              <a:off x="0" y="0"/>
              <a:ext cx="545490" cy="203703"/>
            </a:xfrm>
            <a:custGeom>
              <a:avLst/>
              <a:gdLst/>
              <a:ahLst/>
              <a:cxnLst/>
              <a:rect l="l" t="t" r="r" b="b"/>
              <a:pathLst>
                <a:path w="545490" h="203703" extrusionOk="0">
                  <a:moveTo>
                    <a:pt x="0" y="0"/>
                  </a:moveTo>
                  <a:lnTo>
                    <a:pt x="545490" y="0"/>
                  </a:lnTo>
                  <a:lnTo>
                    <a:pt x="545490" y="203703"/>
                  </a:lnTo>
                  <a:lnTo>
                    <a:pt x="0" y="203703"/>
                  </a:lnTo>
                  <a:close/>
                </a:path>
              </a:pathLst>
            </a:custGeom>
            <a:solidFill>
              <a:srgbClr val="4478F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0" y="-28575"/>
              <a:ext cx="545490" cy="2322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78" name="Google Shape;78;p14"/>
          <p:cNvSpPr txBox="1"/>
          <p:nvPr/>
        </p:nvSpPr>
        <p:spPr>
          <a:xfrm>
            <a:off x="1042416" y="2419156"/>
            <a:ext cx="1207008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색 + 형상 검출</a:t>
            </a:r>
          </a:p>
        </p:txBody>
      </p:sp>
      <p:sp>
        <p:nvSpPr>
          <p:cNvPr id="79" name="Google Shape;79;p14"/>
          <p:cNvSpPr txBox="1"/>
          <p:nvPr/>
        </p:nvSpPr>
        <p:spPr>
          <a:xfrm>
            <a:off x="932688" y="3127725"/>
            <a:ext cx="142646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HSV로 후보를 만들고, 면적 · 종횡비 · 채움 게이트를 통과한 정사각형만 확정</a:t>
            </a:r>
          </a:p>
        </p:txBody>
      </p:sp>
      <p:grpSp>
        <p:nvGrpSpPr>
          <p:cNvPr id="80" name="Google Shape;80;p14"/>
          <p:cNvGrpSpPr/>
          <p:nvPr/>
        </p:nvGrpSpPr>
        <p:grpSpPr>
          <a:xfrm>
            <a:off x="2735746" y="2051068"/>
            <a:ext cx="1719883" cy="2011680"/>
            <a:chOff x="0" y="-28575"/>
            <a:chExt cx="905946" cy="1358002"/>
          </a:xfrm>
        </p:grpSpPr>
        <p:sp>
          <p:nvSpPr>
            <p:cNvPr id="81" name="Google Shape;81;p14"/>
            <p:cNvSpPr/>
            <p:nvPr/>
          </p:nvSpPr>
          <p:spPr>
            <a:xfrm>
              <a:off x="0" y="0"/>
              <a:ext cx="905946" cy="1329427"/>
            </a:xfrm>
            <a:custGeom>
              <a:avLst/>
              <a:gdLst/>
              <a:ahLst/>
              <a:cxnLst/>
              <a:rect l="l" t="t" r="r" b="b"/>
              <a:pathLst>
                <a:path w="905946" h="1329427" extrusionOk="0">
                  <a:moveTo>
                    <a:pt x="0" y="0"/>
                  </a:moveTo>
                  <a:lnTo>
                    <a:pt x="905946" y="0"/>
                  </a:lnTo>
                  <a:lnTo>
                    <a:pt x="905946" y="1329427"/>
                  </a:lnTo>
                  <a:lnTo>
                    <a:pt x="0" y="13294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0" y="-28575"/>
              <a:ext cx="905946" cy="1358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grpSp>
        <p:nvGrpSpPr>
          <p:cNvPr id="83" name="Google Shape;83;p14"/>
          <p:cNvGrpSpPr/>
          <p:nvPr/>
        </p:nvGrpSpPr>
        <p:grpSpPr>
          <a:xfrm>
            <a:off x="2907792" y="2280293"/>
            <a:ext cx="1371600" cy="440965"/>
            <a:chOff x="0" y="-28575"/>
            <a:chExt cx="545490" cy="232278"/>
          </a:xfrm>
        </p:grpSpPr>
        <p:sp>
          <p:nvSpPr>
            <p:cNvPr id="84" name="Google Shape;84;p14"/>
            <p:cNvSpPr/>
            <p:nvPr/>
          </p:nvSpPr>
          <p:spPr>
            <a:xfrm>
              <a:off x="0" y="0"/>
              <a:ext cx="545490" cy="203703"/>
            </a:xfrm>
            <a:custGeom>
              <a:avLst/>
              <a:gdLst/>
              <a:ahLst/>
              <a:cxnLst/>
              <a:rect l="l" t="t" r="r" b="b"/>
              <a:pathLst>
                <a:path w="545490" h="203703" extrusionOk="0">
                  <a:moveTo>
                    <a:pt x="0" y="0"/>
                  </a:moveTo>
                  <a:lnTo>
                    <a:pt x="545490" y="0"/>
                  </a:lnTo>
                  <a:lnTo>
                    <a:pt x="545490" y="203703"/>
                  </a:lnTo>
                  <a:lnTo>
                    <a:pt x="0" y="203703"/>
                  </a:lnTo>
                  <a:close/>
                </a:path>
              </a:pathLst>
            </a:custGeom>
            <a:solidFill>
              <a:srgbClr val="4478F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85" name="Google Shape;85;p14"/>
            <p:cNvSpPr txBox="1"/>
            <p:nvPr/>
          </p:nvSpPr>
          <p:spPr>
            <a:xfrm>
              <a:off x="0" y="-28575"/>
              <a:ext cx="545490" cy="2322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86" name="Google Shape;86;p14"/>
          <p:cNvSpPr txBox="1"/>
          <p:nvPr/>
        </p:nvSpPr>
        <p:spPr>
          <a:xfrm>
            <a:off x="2990088" y="2419156"/>
            <a:ext cx="1207008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평면 호모그래피</a:t>
            </a:r>
          </a:p>
        </p:txBody>
      </p:sp>
      <p:sp>
        <p:nvSpPr>
          <p:cNvPr id="87" name="Google Shape;87;p14"/>
          <p:cNvSpPr txBox="1"/>
          <p:nvPr/>
        </p:nvSpPr>
        <p:spPr>
          <a:xfrm>
            <a:off x="2880360" y="3127725"/>
            <a:ext cx="142646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체스보드로 mm 단위 정면 뷰를 만들고, 픽셀을 로봇 좌표로 변환</a:t>
            </a:r>
          </a:p>
        </p:txBody>
      </p:sp>
      <p:grpSp>
        <p:nvGrpSpPr>
          <p:cNvPr id="88" name="Google Shape;88;p14"/>
          <p:cNvGrpSpPr/>
          <p:nvPr/>
        </p:nvGrpSpPr>
        <p:grpSpPr>
          <a:xfrm>
            <a:off x="4688371" y="2051068"/>
            <a:ext cx="1719883" cy="2011680"/>
            <a:chOff x="0" y="-28575"/>
            <a:chExt cx="905946" cy="1358002"/>
          </a:xfrm>
        </p:grpSpPr>
        <p:sp>
          <p:nvSpPr>
            <p:cNvPr id="89" name="Google Shape;89;p14"/>
            <p:cNvSpPr/>
            <p:nvPr/>
          </p:nvSpPr>
          <p:spPr>
            <a:xfrm>
              <a:off x="0" y="0"/>
              <a:ext cx="905946" cy="1329427"/>
            </a:xfrm>
            <a:custGeom>
              <a:avLst/>
              <a:gdLst/>
              <a:ahLst/>
              <a:cxnLst/>
              <a:rect l="l" t="t" r="r" b="b"/>
              <a:pathLst>
                <a:path w="905946" h="1329427" extrusionOk="0">
                  <a:moveTo>
                    <a:pt x="0" y="0"/>
                  </a:moveTo>
                  <a:lnTo>
                    <a:pt x="905946" y="0"/>
                  </a:lnTo>
                  <a:lnTo>
                    <a:pt x="905946" y="1329427"/>
                  </a:lnTo>
                  <a:lnTo>
                    <a:pt x="0" y="13294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0" y="-28575"/>
              <a:ext cx="905946" cy="1358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grpSp>
        <p:nvGrpSpPr>
          <p:cNvPr id="91" name="Google Shape;91;p14"/>
          <p:cNvGrpSpPr/>
          <p:nvPr/>
        </p:nvGrpSpPr>
        <p:grpSpPr>
          <a:xfrm>
            <a:off x="4864608" y="2280293"/>
            <a:ext cx="1371600" cy="440965"/>
            <a:chOff x="0" y="-28575"/>
            <a:chExt cx="545490" cy="232278"/>
          </a:xfrm>
        </p:grpSpPr>
        <p:sp>
          <p:nvSpPr>
            <p:cNvPr id="92" name="Google Shape;92;p14"/>
            <p:cNvSpPr/>
            <p:nvPr/>
          </p:nvSpPr>
          <p:spPr>
            <a:xfrm>
              <a:off x="0" y="0"/>
              <a:ext cx="545490" cy="203703"/>
            </a:xfrm>
            <a:custGeom>
              <a:avLst/>
              <a:gdLst/>
              <a:ahLst/>
              <a:cxnLst/>
              <a:rect l="l" t="t" r="r" b="b"/>
              <a:pathLst>
                <a:path w="545490" h="203703" extrusionOk="0">
                  <a:moveTo>
                    <a:pt x="0" y="0"/>
                  </a:moveTo>
                  <a:lnTo>
                    <a:pt x="545490" y="0"/>
                  </a:lnTo>
                  <a:lnTo>
                    <a:pt x="545490" y="203703"/>
                  </a:lnTo>
                  <a:lnTo>
                    <a:pt x="0" y="203703"/>
                  </a:lnTo>
                  <a:close/>
                </a:path>
              </a:pathLst>
            </a:custGeom>
            <a:solidFill>
              <a:srgbClr val="4478F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0" y="-28575"/>
              <a:ext cx="545490" cy="2322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94" name="Google Shape;94;p14"/>
          <p:cNvSpPr txBox="1"/>
          <p:nvPr/>
        </p:nvSpPr>
        <p:spPr>
          <a:xfrm>
            <a:off x="4946904" y="2419156"/>
            <a:ext cx="1207008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탑다운 IK</a:t>
            </a:r>
          </a:p>
        </p:txBody>
      </p:sp>
      <p:sp>
        <p:nvSpPr>
          <p:cNvPr id="95" name="Google Shape;95;p14"/>
          <p:cNvSpPr txBox="1"/>
          <p:nvPr/>
        </p:nvSpPr>
        <p:spPr>
          <a:xfrm>
            <a:off x="4837176" y="3127725"/>
            <a:ext cx="142646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시드 테이블에서 초기값을 골라 수렴하고, 도달 불가는 실행 전 차단</a:t>
            </a:r>
          </a:p>
        </p:txBody>
      </p:sp>
      <p:grpSp>
        <p:nvGrpSpPr>
          <p:cNvPr id="96" name="Google Shape;96;p14"/>
          <p:cNvGrpSpPr/>
          <p:nvPr/>
        </p:nvGrpSpPr>
        <p:grpSpPr>
          <a:xfrm>
            <a:off x="6640996" y="2051068"/>
            <a:ext cx="1719882" cy="2011680"/>
            <a:chOff x="0" y="-28575"/>
            <a:chExt cx="905946" cy="1358002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905946" cy="1329427"/>
            </a:xfrm>
            <a:custGeom>
              <a:avLst/>
              <a:gdLst/>
              <a:ahLst/>
              <a:cxnLst/>
              <a:rect l="l" t="t" r="r" b="b"/>
              <a:pathLst>
                <a:path w="905946" h="1329427" extrusionOk="0">
                  <a:moveTo>
                    <a:pt x="0" y="0"/>
                  </a:moveTo>
                  <a:lnTo>
                    <a:pt x="905946" y="0"/>
                  </a:lnTo>
                  <a:lnTo>
                    <a:pt x="905946" y="1329427"/>
                  </a:lnTo>
                  <a:lnTo>
                    <a:pt x="0" y="13294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0" y="-28575"/>
              <a:ext cx="905946" cy="1358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6812279" y="2280293"/>
            <a:ext cx="1371600" cy="440965"/>
            <a:chOff x="0" y="-28575"/>
            <a:chExt cx="545490" cy="232278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545490" cy="203703"/>
            </a:xfrm>
            <a:custGeom>
              <a:avLst/>
              <a:gdLst/>
              <a:ahLst/>
              <a:cxnLst/>
              <a:rect l="l" t="t" r="r" b="b"/>
              <a:pathLst>
                <a:path w="545490" h="203703" extrusionOk="0">
                  <a:moveTo>
                    <a:pt x="0" y="0"/>
                  </a:moveTo>
                  <a:lnTo>
                    <a:pt x="545490" y="0"/>
                  </a:lnTo>
                  <a:lnTo>
                    <a:pt x="545490" y="203703"/>
                  </a:lnTo>
                  <a:lnTo>
                    <a:pt x="0" y="203703"/>
                  </a:lnTo>
                  <a:close/>
                </a:path>
              </a:pathLst>
            </a:custGeom>
            <a:solidFill>
              <a:srgbClr val="4478FB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0" y="-28575"/>
              <a:ext cx="545490" cy="2322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102" name="Google Shape;102;p14"/>
          <p:cNvSpPr txBox="1"/>
          <p:nvPr/>
        </p:nvSpPr>
        <p:spPr>
          <a:xfrm>
            <a:off x="6894575" y="2419156"/>
            <a:ext cx="1207008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FSM 상태 제어</a:t>
            </a:r>
          </a:p>
        </p:txBody>
      </p:sp>
      <p:sp>
        <p:nvSpPr>
          <p:cNvPr id="103" name="Google Shape;103;p14"/>
          <p:cNvSpPr txBox="1"/>
          <p:nvPr/>
        </p:nvSpPr>
        <p:spPr>
          <a:xfrm>
            <a:off x="6784847" y="3127725"/>
            <a:ext cx="1426464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파지가 확인되기 전에는 운반하지 않고, 실패는 재시도 후 다음 순회로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17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39" name="Google Shape;139;p17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" name="Google Shape;140;p17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1" name="Google Shape;141;p17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2" name="Google Shape;142;p17"/>
          <p:cNvSpPr txBox="1"/>
          <p:nvPr/>
        </p:nvSpPr>
        <p:spPr>
          <a:xfrm>
            <a:off x="614897" y="1057566"/>
            <a:ext cx="45000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모방학습(ACT · SmolVLA) → CV + IK</a:t>
            </a:r>
          </a:p>
        </p:txBody>
      </p:sp>
      <p:sp>
        <p:nvSpPr>
          <p:cNvPr id="143" name="Google Shape;143;p17"/>
          <p:cNvSpPr txBox="1"/>
          <p:nvPr/>
        </p:nvSpPr>
        <p:spPr>
          <a:xfrm>
            <a:off x="586321" y="1289341"/>
            <a:ext cx="7000000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③ 기존 접근 및 변경 배경</a:t>
            </a:r>
          </a:p>
        </p:txBody>
      </p:sp>
      <p:cxnSp>
        <p:nvCxnSpPr>
          <p:cNvPr id="144" name="Google Shape;144;p17"/>
          <p:cNvCxnSpPr/>
          <p:nvPr/>
        </p:nvCxnSpPr>
        <p:spPr>
          <a:xfrm>
            <a:off x="987500" y="2287500"/>
            <a:ext cx="0" cy="1650000"/>
          </a:xfrm>
          <a:prstGeom prst="straightConnector1">
            <a:avLst/>
          </a:prstGeom>
          <a:noFill/>
          <a:ln w="19050" cap="rnd" cmpd="sng">
            <a:solidFill>
              <a:srgbClr val="212121">
                <a:alpha val="2392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17"/>
          <p:cNvSpPr/>
          <p:nvPr/>
        </p:nvSpPr>
        <p:spPr>
          <a:xfrm>
            <a:off x="800000" y="2100000"/>
            <a:ext cx="375000" cy="375000"/>
          </a:xfrm>
          <a:prstGeom prst="ellipse">
            <a:avLst/>
          </a:prstGeom>
          <a:solidFill>
            <a:srgbClr val="4478F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01</a:t>
            </a:r>
            <a:endParaRPr sz="700" dirty="0"/>
          </a:p>
        </p:txBody>
      </p:sp>
      <p:sp>
        <p:nvSpPr>
          <p:cNvPr id="146" name="Google Shape;146;p17"/>
          <p:cNvSpPr txBox="1"/>
          <p:nvPr/>
        </p:nvSpPr>
        <p:spPr>
          <a:xfrm>
            <a:off x="1325000" y="20800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초기 설계는 모방학습 기반</a:t>
            </a:r>
          </a:p>
        </p:txBody>
      </p:sp>
      <p:sp>
        <p:nvSpPr>
          <p:cNvPr id="147" name="Google Shape;147;p17"/>
          <p:cNvSpPr txBox="1"/>
          <p:nvPr/>
        </p:nvSpPr>
        <p:spPr>
          <a:xfrm>
            <a:off x="1325000" y="2330000"/>
            <a:ext cx="70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시연 112개 에피소드 수집, SmolVLA는 51개·8,000스텝 파인튜닝, gRPC 원격 추론 구성</a:t>
            </a:r>
          </a:p>
        </p:txBody>
      </p:sp>
      <p:sp>
        <p:nvSpPr>
          <p:cNvPr id="148" name="Google Shape;148;p17"/>
          <p:cNvSpPr/>
          <p:nvPr/>
        </p:nvSpPr>
        <p:spPr>
          <a:xfrm>
            <a:off x="800000" y="2925000"/>
            <a:ext cx="375000" cy="375000"/>
          </a:xfrm>
          <a:prstGeom prst="ellipse">
            <a:avLst/>
          </a:prstGeom>
          <a:solidFill>
            <a:srgbClr val="4478F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02</a:t>
            </a:r>
            <a:endParaRPr sz="700"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1325000" y="29050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문제 — 파지 성능이 미션 요구 수준에 미달</a:t>
            </a:r>
          </a:p>
        </p:txBody>
      </p:sp>
      <p:sp>
        <p:nvSpPr>
          <p:cNvPr id="150" name="Google Shape;150;p17"/>
          <p:cNvSpPr txBox="1"/>
          <p:nvPr/>
        </p:nvSpPr>
        <p:spPr>
          <a:xfrm>
            <a:off x="1325000" y="3155000"/>
            <a:ext cx="70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ACT 단일 블록 이동 29/50회(58%), SmolVLA는 목표 근처 접근에 그침</a:t>
            </a:r>
          </a:p>
        </p:txBody>
      </p:sp>
      <p:sp>
        <p:nvSpPr>
          <p:cNvPr id="151" name="Google Shape;151;p17"/>
          <p:cNvSpPr/>
          <p:nvPr/>
        </p:nvSpPr>
        <p:spPr>
          <a:xfrm>
            <a:off x="800000" y="3750000"/>
            <a:ext cx="375000" cy="375000"/>
          </a:xfrm>
          <a:prstGeom prst="ellipse">
            <a:avLst/>
          </a:prstGeom>
          <a:solidFill>
            <a:srgbClr val="4478F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03</a:t>
            </a:r>
            <a:endParaRPr sz="700"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1325000" y="37300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해결 — 규칙 기반 CV + IK로 전환</a:t>
            </a:r>
          </a:p>
        </p:txBody>
      </p:sp>
      <p:sp>
        <p:nvSpPr>
          <p:cNvPr id="153" name="Google Shape;153;p17"/>
          <p:cNvSpPr txBox="1"/>
          <p:nvPr/>
        </p:nvSpPr>
        <p:spPr>
          <a:xfrm>
            <a:off x="1325000" y="3980000"/>
            <a:ext cx="70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고정 카메라 · 평면 위 단색 블록은 기하로 규정되는 문제 — 실패 원인이 국소화됨</a:t>
            </a:r>
          </a:p>
        </p:txBody>
      </p:sp>
      <p:sp>
        <p:nvSpPr>
          <p:cNvPr id="154" name="Google Shape;153;p17"/>
          <p:cNvSpPr txBox="1"/>
          <p:nvPr/>
        </p:nvSpPr>
        <p:spPr>
          <a:xfrm>
            <a:off x="1325880" y="4498848"/>
            <a:ext cx="70043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※ 색 임계값 · 기하 계산 · IK는 비학습 알고리즘이므로 「신경망 1개」 규정과 무관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9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81" name="Google Shape;181;p19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9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3" name="Google Shape;183;p19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4" name="Google Shape;184;p19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185" name="Google Shape;185;p19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187" name="Google Shape;187;p19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사진 삽입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시스템 아키텍처 다이어그램</a:t>
            </a:r>
            <a:endParaRPr sz="700" dirty="0"/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(보고서 그림 3.1)</a:t>
            </a:r>
            <a:endParaRPr sz="700" dirty="0"/>
          </a:p>
        </p:txBody>
      </p:sp>
      <p:cxnSp>
        <p:nvCxnSpPr>
          <p:cNvPr id="189" name="Google Shape;189;p19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19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④ 전체 시스템 구조</a:t>
            </a:r>
          </a:p>
        </p:txBody>
      </p:sp>
      <p:sp>
        <p:nvSpPr>
          <p:cNvPr id="191" name="Google Shape;191;p19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카메라 → 인식 → IK → 상태 제어</a:t>
            </a:r>
          </a:p>
        </p:txBody>
      </p:sp>
      <p:sp>
        <p:nvSpPr>
          <p:cNvPr id="192" name="Google Shape;192;p19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CV + IK 파이프라인</a:t>
            </a:r>
          </a:p>
        </p:txBody>
      </p:sp>
      <p:sp>
        <p:nvSpPr>
          <p:cNvPr id="193" name="Google Shape;193;p19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카메라 서버가 장치를 단독으로 소유하고, 실행 경로와 표시 경로가 프레임을 나눠 씁니다.</a:t>
            </a:r>
          </a:p>
        </p:txBody>
      </p:sp>
      <p:sp>
        <p:nvSpPr>
          <p:cNvPr id="194" name="Google Shape;194;p19"/>
          <p:cNvSpPr txBox="1"/>
          <p:nvPr/>
        </p:nvSpPr>
        <p:spPr>
          <a:xfrm>
            <a:off x="751129" y="3886581"/>
            <a:ext cx="269748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스냅샷 → 정면화 → 색 · 형상 검출</a:t>
            </a:r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PICK → VERIFY → TRANSPORT → PLACE</a:t>
            </a:r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Task 2는 PLACE 전략만 교체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237;p22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238" name="Google Shape;238;p22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9" name="Google Shape;239;p22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0" name="Google Shape;240;p22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41" name="Google Shape;241;p22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242" name="Google Shape;242;p22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243" name="Google Shape;243;p22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244" name="Google Shape;244;p22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영상 삽입</a:t>
            </a:r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관제 화면 인식 과정 녹화</a:t>
            </a:r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(검출 후보 · 형상 필터 · 색 할당)</a:t>
            </a:r>
          </a:p>
        </p:txBody>
      </p:sp>
      <p:cxnSp>
        <p:nvCxnSpPr>
          <p:cNvPr id="246" name="Google Shape;246;p22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7" name="Google Shape;247;p22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②-2 인식 과정 상세</a:t>
            </a:r>
          </a:p>
        </p:txBody>
      </p:sp>
      <p:sp>
        <p:nvSpPr>
          <p:cNvPr id="248" name="Google Shape;248;p22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카메라 비전 오버레이</a:t>
            </a:r>
          </a:p>
        </p:txBody>
      </p:sp>
      <p:sp>
        <p:nvSpPr>
          <p:cNvPr id="249" name="Google Shape;249;p22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검출 후보 · 색 할당 · 영역 필터</a:t>
            </a:r>
          </a:p>
        </p:txBody>
      </p:sp>
      <p:sp>
        <p:nvSpPr>
          <p:cNvPr id="250" name="Google Shape;250;p22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관제 화면은 표시 전용입니다. 최신 프레임 1장만 따로 분석해 실행 속도에 영향을 주지 않습니다.</a:t>
            </a:r>
          </a:p>
        </p:txBody>
      </p:sp>
      <p:sp>
        <p:nvSpPr>
          <p:cNvPr id="251" name="Google Shape;251;p22"/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색 후보 → 형상 게이트 → 색 할당</a:t>
            </a:r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탈락한 후보도 사유와 함께 표시</a:t>
            </a:r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영역 · 도달 범위 밖 후보는 제외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6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314" name="Google Shape;314;p26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5" name="Google Shape;315;p26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p26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7" name="Google Shape;317;p26"/>
          <p:cNvSpPr txBox="1"/>
          <p:nvPr/>
        </p:nvSpPr>
        <p:spPr>
          <a:xfrm>
            <a:off x="1499742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⑦ 현재 성과 &amp; 한계</a:t>
            </a:r>
          </a:p>
        </p:txBody>
      </p:sp>
      <p:sp>
        <p:nvSpPr>
          <p:cNvPr id="318" name="Google Shape;318;p26"/>
          <p:cNvSpPr txBox="1"/>
          <p:nvPr/>
        </p:nvSpPr>
        <p:spPr>
          <a:xfrm>
            <a:off x="2950083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9월 2일 시연 · 9월 8일 제한시간 시험</a:t>
            </a:r>
          </a:p>
        </p:txBody>
      </p:sp>
      <p:grpSp>
        <p:nvGrpSpPr>
          <p:cNvPr id="319" name="Google Shape;319;p26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320" name="Google Shape;320;p26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321" name="Google Shape;321;p26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322" name="Google Shape;322;p26"/>
          <p:cNvSpPr txBox="1"/>
          <p:nvPr/>
        </p:nvSpPr>
        <p:spPr>
          <a:xfrm>
            <a:off x="941932" y="2803898"/>
            <a:ext cx="1178663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4/5</a:t>
            </a:r>
            <a:endParaRPr sz="700" dirty="0"/>
          </a:p>
        </p:txBody>
      </p:sp>
      <p:sp>
        <p:nvSpPr>
          <p:cNvPr id="323" name="Google Shape;323;p26"/>
          <p:cNvSpPr txBox="1"/>
          <p:nvPr/>
        </p:nvSpPr>
        <p:spPr>
          <a:xfrm>
            <a:off x="662940" y="3395757"/>
            <a:ext cx="173736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180초 시험 배치</a:t>
            </a:r>
            <a:endParaRPr sz="700" dirty="0"/>
          </a:p>
        </p:txBody>
      </p:sp>
      <p:sp>
        <p:nvSpPr>
          <p:cNvPr id="324" name="Google Shape;324;p26"/>
          <p:cNvSpPr txBox="1"/>
          <p:nvPr/>
        </p:nvSpPr>
        <p:spPr>
          <a:xfrm>
            <a:off x="617220" y="3690106"/>
            <a:ext cx="1828800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파란 블록 1개가 영역 밖에 남아 종료</a:t>
            </a:r>
            <a:endParaRPr sz="700" dirty="0"/>
          </a:p>
        </p:txBody>
      </p:sp>
      <p:sp>
        <p:nvSpPr>
          <p:cNvPr id="325" name="Google Shape;325;p26"/>
          <p:cNvSpPr txBox="1"/>
          <p:nvPr/>
        </p:nvSpPr>
        <p:spPr>
          <a:xfrm>
            <a:off x="2969090" y="2803898"/>
            <a:ext cx="1178663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8.18</a:t>
            </a:r>
            <a:endParaRPr sz="700" dirty="0"/>
          </a:p>
        </p:txBody>
      </p:sp>
      <p:sp>
        <p:nvSpPr>
          <p:cNvPr id="326" name="Google Shape;326;p26"/>
          <p:cNvSpPr txBox="1"/>
          <p:nvPr/>
        </p:nvSpPr>
        <p:spPr>
          <a:xfrm>
            <a:off x="2692908" y="3395757"/>
            <a:ext cx="173736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캘리브레이션 RMS (mm)</a:t>
            </a:r>
            <a:endParaRPr sz="700" dirty="0"/>
          </a:p>
        </p:txBody>
      </p:sp>
      <p:sp>
        <p:nvSpPr>
          <p:cNvPr id="327" name="Google Shape;327;p26"/>
          <p:cNvSpPr txBox="1"/>
          <p:nvPr/>
        </p:nvSpPr>
        <p:spPr>
          <a:xfrm>
            <a:off x="2647188" y="3690106"/>
            <a:ext cx="1828800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목표 5mm 미만 기준에 미달</a:t>
            </a:r>
          </a:p>
        </p:txBody>
      </p:sp>
      <p:sp>
        <p:nvSpPr>
          <p:cNvPr id="328" name="Google Shape;328;p26"/>
          <p:cNvSpPr txBox="1"/>
          <p:nvPr/>
        </p:nvSpPr>
        <p:spPr>
          <a:xfrm>
            <a:off x="4996248" y="2803898"/>
            <a:ext cx="1178663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26.64</a:t>
            </a:r>
            <a:endParaRPr sz="700" dirty="0"/>
          </a:p>
        </p:txBody>
      </p:sp>
      <p:sp>
        <p:nvSpPr>
          <p:cNvPr id="329" name="Google Shape;329;p26"/>
          <p:cNvSpPr txBox="1"/>
          <p:nvPr/>
        </p:nvSpPr>
        <p:spPr>
          <a:xfrm>
            <a:off x="4713732" y="3395757"/>
            <a:ext cx="173736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최대 LOO 오차 (mm)</a:t>
            </a:r>
            <a:endParaRPr sz="700" dirty="0"/>
          </a:p>
        </p:txBody>
      </p:sp>
      <p:sp>
        <p:nvSpPr>
          <p:cNvPr id="330" name="Google Shape;330;p26"/>
          <p:cNvSpPr txBox="1"/>
          <p:nvPr/>
        </p:nvSpPr>
        <p:spPr>
          <a:xfrm>
            <a:off x="4668012" y="3690106"/>
            <a:ext cx="1828800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블록 폭 40mm보다 큰 값</a:t>
            </a:r>
            <a:endParaRPr sz="700" dirty="0"/>
          </a:p>
        </p:txBody>
      </p:sp>
      <p:sp>
        <p:nvSpPr>
          <p:cNvPr id="331" name="Google Shape;331;p26"/>
          <p:cNvSpPr txBox="1"/>
          <p:nvPr/>
        </p:nvSpPr>
        <p:spPr>
          <a:xfrm>
            <a:off x="7023405" y="2803898"/>
            <a:ext cx="1178663" cy="44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58%</a:t>
            </a:r>
            <a:endParaRPr sz="700" dirty="0"/>
          </a:p>
        </p:txBody>
      </p:sp>
      <p:sp>
        <p:nvSpPr>
          <p:cNvPr id="332" name="Google Shape;332;p26"/>
          <p:cNvSpPr txBox="1"/>
          <p:nvPr/>
        </p:nvSpPr>
        <p:spPr>
          <a:xfrm>
            <a:off x="6743699" y="3395757"/>
            <a:ext cx="173736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초기 ACT 성공률</a:t>
            </a:r>
            <a:endParaRPr sz="700" dirty="0"/>
          </a:p>
        </p:txBody>
      </p:sp>
      <p:sp>
        <p:nvSpPr>
          <p:cNvPr id="333" name="Google Shape;333;p26"/>
          <p:cNvSpPr txBox="1"/>
          <p:nvPr/>
        </p:nvSpPr>
        <p:spPr>
          <a:xfrm>
            <a:off x="6697979" y="3690106"/>
            <a:ext cx="1828800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모방학습 시절 단일 블록 이동</a:t>
            </a:r>
            <a:endParaRPr sz="700" dirty="0"/>
          </a:p>
        </p:txBody>
      </p:sp>
      <p:cxnSp>
        <p:nvCxnSpPr>
          <p:cNvPr id="334" name="Google Shape;334;p26"/>
          <p:cNvCxnSpPr/>
          <p:nvPr/>
        </p:nvCxnSpPr>
        <p:spPr>
          <a:xfrm>
            <a:off x="2548177" y="2660904"/>
            <a:ext cx="0" cy="132588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5" name="Google Shape;335;p26"/>
          <p:cNvCxnSpPr/>
          <p:nvPr/>
        </p:nvCxnSpPr>
        <p:spPr>
          <a:xfrm>
            <a:off x="4572000" y="2660904"/>
            <a:ext cx="0" cy="132588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" name="Google Shape;336;p26"/>
          <p:cNvCxnSpPr/>
          <p:nvPr/>
        </p:nvCxnSpPr>
        <p:spPr>
          <a:xfrm>
            <a:off x="6595824" y="2660904"/>
            <a:ext cx="0" cy="132588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7" name="Google Shape;324;p26"/>
          <p:cNvSpPr txBox="1"/>
          <p:nvPr/>
        </p:nvSpPr>
        <p:spPr>
          <a:xfrm>
            <a:off x="685800" y="4133087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정확도를 더 끌어올리는 대신, 이 오차를 전제로 흡수하는 설계 — 파지 검증 후 진행 · 도달 가능성 사전 검사</a:t>
            </a:r>
          </a:p>
        </p:txBody>
      </p:sp>
      <p:sp>
        <p:nvSpPr>
          <p:cNvPr id="338" name="Google Shape;324;p26"/>
          <p:cNvSpPr txBox="1"/>
          <p:nvPr/>
        </p:nvSpPr>
        <p:spPr>
          <a:xfrm>
            <a:off x="685800" y="4352544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Task 2 적재는 3단까지 성공, 4단째부터 탑다운 자세의 각도 한계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29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372" name="Google Shape;372;p29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3" name="Google Shape;373;p29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4" name="Google Shape;374;p29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5" name="Google Shape;375;p29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⑧ 향후 계획</a:t>
            </a:r>
          </a:p>
        </p:txBody>
      </p:sp>
      <p:sp>
        <p:nvSpPr>
          <p:cNvPr id="376" name="Google Shape;376;p29"/>
          <p:cNvSpPr txBox="1"/>
          <p:nvPr/>
        </p:nvSpPr>
        <p:spPr>
          <a:xfrm>
            <a:off x="614896" y="1057566"/>
            <a:ext cx="3243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/>
              <a:t>Task 2 완성과 정확도 보완</a:t>
            </a:r>
          </a:p>
        </p:txBody>
      </p:sp>
      <p:grpSp>
        <p:nvGrpSpPr>
          <p:cNvPr id="377" name="Google Shape;377;p29"/>
          <p:cNvGrpSpPr/>
          <p:nvPr/>
        </p:nvGrpSpPr>
        <p:grpSpPr>
          <a:xfrm>
            <a:off x="514350" y="2084831"/>
            <a:ext cx="8115300" cy="914400"/>
            <a:chOff x="0" y="-28575"/>
            <a:chExt cx="4274726" cy="625196"/>
          </a:xfrm>
        </p:grpSpPr>
        <p:sp>
          <p:nvSpPr>
            <p:cNvPr id="378" name="Google Shape;378;p29"/>
            <p:cNvSpPr/>
            <p:nvPr/>
          </p:nvSpPr>
          <p:spPr>
            <a:xfrm>
              <a:off x="0" y="0"/>
              <a:ext cx="4274726" cy="596621"/>
            </a:xfrm>
            <a:custGeom>
              <a:avLst/>
              <a:gdLst/>
              <a:ahLst/>
              <a:cxnLst/>
              <a:rect l="l" t="t" r="r" b="b"/>
              <a:pathLst>
                <a:path w="4274726" h="596621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596621"/>
                  </a:lnTo>
                  <a:lnTo>
                    <a:pt x="0" y="5966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379" name="Google Shape;379;p29"/>
            <p:cNvSpPr txBox="1"/>
            <p:nvPr/>
          </p:nvSpPr>
          <p:spPr>
            <a:xfrm>
              <a:off x="0" y="-28575"/>
              <a:ext cx="4274726" cy="625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grpSp>
        <p:nvGrpSpPr>
          <p:cNvPr id="380" name="Google Shape;380;p29"/>
          <p:cNvGrpSpPr/>
          <p:nvPr/>
        </p:nvGrpSpPr>
        <p:grpSpPr>
          <a:xfrm>
            <a:off x="514350" y="3054096"/>
            <a:ext cx="8115300" cy="914400"/>
            <a:chOff x="0" y="-28575"/>
            <a:chExt cx="4274726" cy="625196"/>
          </a:xfrm>
        </p:grpSpPr>
        <p:sp>
          <p:nvSpPr>
            <p:cNvPr id="381" name="Google Shape;381;p29"/>
            <p:cNvSpPr/>
            <p:nvPr/>
          </p:nvSpPr>
          <p:spPr>
            <a:xfrm>
              <a:off x="0" y="0"/>
              <a:ext cx="4274726" cy="596621"/>
            </a:xfrm>
            <a:custGeom>
              <a:avLst/>
              <a:gdLst/>
              <a:ahLst/>
              <a:cxnLst/>
              <a:rect l="l" t="t" r="r" b="b"/>
              <a:pathLst>
                <a:path w="4274726" h="596621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596621"/>
                  </a:lnTo>
                  <a:lnTo>
                    <a:pt x="0" y="5966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382" name="Google Shape;382;p29"/>
            <p:cNvSpPr txBox="1"/>
            <p:nvPr/>
          </p:nvSpPr>
          <p:spPr>
            <a:xfrm>
              <a:off x="0" y="-28575"/>
              <a:ext cx="4274726" cy="625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383" name="Google Shape;383;p29"/>
          <p:cNvSpPr txBox="1"/>
          <p:nvPr/>
        </p:nvSpPr>
        <p:spPr>
          <a:xfrm>
            <a:off x="1112975" y="2578608"/>
            <a:ext cx="6226200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집게를 눕혀 옆에서 잡는 방식으로 4단 이상 적재 각도를 확보</a:t>
            </a:r>
          </a:p>
        </p:txBody>
      </p:sp>
      <p:sp>
        <p:nvSpPr>
          <p:cNvPr id="384" name="Google Shape;384;p29"/>
          <p:cNvSpPr txBox="1"/>
          <p:nvPr/>
        </p:nvSpPr>
        <p:spPr>
          <a:xfrm>
            <a:off x="1112975" y="2322576"/>
            <a:ext cx="1860156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그리퍼 수평 접근 전환 검토</a:t>
            </a:r>
          </a:p>
        </p:txBody>
      </p:sp>
      <p:sp>
        <p:nvSpPr>
          <p:cNvPr id="385" name="Google Shape;385;p29"/>
          <p:cNvSpPr txBox="1"/>
          <p:nvPr/>
        </p:nvSpPr>
        <p:spPr>
          <a:xfrm>
            <a:off x="750150" y="2286000"/>
            <a:ext cx="31968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 u="sng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01</a:t>
            </a:r>
          </a:p>
        </p:txBody>
      </p:sp>
      <p:sp>
        <p:nvSpPr>
          <p:cNvPr id="386" name="Google Shape;386;p29"/>
          <p:cNvSpPr txBox="1"/>
          <p:nvPr/>
        </p:nvSpPr>
        <p:spPr>
          <a:xfrm>
            <a:off x="1112975" y="3547872"/>
            <a:ext cx="6226135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파지 직전 블록의 상대 위치를 다시 측정해 절대 좌표 오차와 무관하게 접근</a:t>
            </a:r>
          </a:p>
        </p:txBody>
      </p:sp>
      <p:sp>
        <p:nvSpPr>
          <p:cNvPr id="387" name="Google Shape;387;p29"/>
          <p:cNvSpPr txBox="1"/>
          <p:nvPr/>
        </p:nvSpPr>
        <p:spPr>
          <a:xfrm>
            <a:off x="1112975" y="3291839"/>
            <a:ext cx="1860156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손목 카메라 근접 보정</a:t>
            </a:r>
          </a:p>
        </p:txBody>
      </p:sp>
      <p:sp>
        <p:nvSpPr>
          <p:cNvPr id="388" name="Google Shape;388;p29"/>
          <p:cNvSpPr txBox="1"/>
          <p:nvPr/>
        </p:nvSpPr>
        <p:spPr>
          <a:xfrm>
            <a:off x="750150" y="3255264"/>
            <a:ext cx="31968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 u="sng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02</a:t>
            </a:r>
          </a:p>
        </p:txBody>
      </p:sp>
      <p:grpSp>
        <p:nvGrpSpPr>
          <p:cNvPr id="389" name="Google Shape;380;p29"/>
          <p:cNvGrpSpPr/>
          <p:nvPr/>
        </p:nvGrpSpPr>
        <p:grpSpPr>
          <a:xfrm>
            <a:off x="514350" y="4023360"/>
            <a:ext cx="8115300" cy="914400"/>
            <a:chOff x="0" y="-28575"/>
            <a:chExt cx="4274726" cy="625196"/>
          </a:xfrm>
        </p:grpSpPr>
        <p:sp>
          <p:nvSpPr>
            <p:cNvPr id="390" name="Google Shape;381;p29"/>
            <p:cNvSpPr/>
            <p:nvPr/>
          </p:nvSpPr>
          <p:spPr>
            <a:xfrm>
              <a:off x="0" y="0"/>
              <a:ext cx="4274726" cy="596621"/>
            </a:xfrm>
            <a:custGeom>
              <a:avLst/>
              <a:gdLst/>
              <a:ahLst/>
              <a:cxnLst/>
              <a:rect l="l" t="t" r="r" b="b"/>
              <a:pathLst>
                <a:path w="4274726" h="596621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596621"/>
                  </a:lnTo>
                  <a:lnTo>
                    <a:pt x="0" y="5966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391" name="Google Shape;382;p29"/>
            <p:cNvSpPr txBox="1"/>
            <p:nvPr/>
          </p:nvSpPr>
          <p:spPr>
            <a:xfrm>
              <a:off x="0" y="-28575"/>
              <a:ext cx="4274726" cy="625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392" name="Google Shape;388;p29"/>
          <p:cNvSpPr txBox="1"/>
          <p:nvPr/>
        </p:nvSpPr>
        <p:spPr>
          <a:xfrm>
            <a:off x="750150" y="4224528"/>
            <a:ext cx="31968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 u="sng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03</a:t>
            </a:r>
          </a:p>
        </p:txBody>
      </p:sp>
      <p:sp>
        <p:nvSpPr>
          <p:cNvPr id="393" name="Google Shape;387;p29"/>
          <p:cNvSpPr txBox="1"/>
          <p:nvPr/>
        </p:nvSpPr>
        <p:spPr>
          <a:xfrm>
            <a:off x="1112975" y="4261104"/>
            <a:ext cx="1860156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Task 2 적재 완성</a:t>
            </a:r>
          </a:p>
        </p:txBody>
      </p:sp>
      <p:sp>
        <p:nvSpPr>
          <p:cNvPr id="394" name="Google Shape;386;p29"/>
          <p:cNvSpPr txBox="1"/>
          <p:nvPr/>
        </p:nvSpPr>
        <p:spPr>
          <a:xfrm>
            <a:off x="1112975" y="4517136"/>
            <a:ext cx="6226135" cy="19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타워 접근 · 하강 자세 등록, 접촉 기반 하강과 5초 유지 판정 검증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 txBox="1"/>
          <p:nvPr/>
        </p:nvSpPr>
        <p:spPr>
          <a:xfrm>
            <a:off x="736450" y="1980491"/>
            <a:ext cx="4173600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4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감사합니다</a:t>
            </a:r>
            <a:endParaRPr sz="700" dirty="0"/>
          </a:p>
        </p:txBody>
      </p:sp>
      <p:sp>
        <p:nvSpPr>
          <p:cNvPr id="394" name="Google Shape;394;p30"/>
          <p:cNvSpPr txBox="1"/>
          <p:nvPr/>
        </p:nvSpPr>
        <p:spPr>
          <a:xfrm>
            <a:off x="784075" y="1593488"/>
            <a:ext cx="3243834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SIM2REAL · Q&amp;A</a:t>
            </a:r>
            <a:endParaRPr sz="700" dirty="0"/>
          </a:p>
        </p:txBody>
      </p:sp>
      <p:sp>
        <p:nvSpPr>
          <p:cNvPr id="395" name="Google Shape;395;p30"/>
          <p:cNvSpPr txBox="1"/>
          <p:nvPr/>
        </p:nvSpPr>
        <p:spPr>
          <a:xfrm>
            <a:off x="736450" y="2835879"/>
            <a:ext cx="32439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grpSp>
        <p:nvGrpSpPr>
          <p:cNvPr id="396" name="Google Shape;396;p30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397" name="Google Shape;397;p30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8" name="Google Shape;398;p30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9" name="Google Shape;399;p30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80" name="Google Shape;180;p19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81" name="Google Shape;181;p19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2" name="Google Shape;182;p19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3" name="Google Shape;183;p19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4" name="Google Shape;184;p19"/>
          <p:cNvGrpSpPr/>
          <p:nvPr/>
        </p:nvGrpSpPr>
        <p:grpSpPr>
          <a:xfrm>
            <a:off x="514350" y="2181391"/>
            <a:ext cx="8115300" cy="2438607"/>
            <a:chOff x="0" y="-28575"/>
            <a:chExt cx="4274726" cy="1284534"/>
          </a:xfrm>
        </p:grpSpPr>
        <p:sp>
          <p:nvSpPr>
            <p:cNvPr id="185" name="Google Shape;185;p19"/>
            <p:cNvSpPr/>
            <p:nvPr/>
          </p:nvSpPr>
          <p:spPr>
            <a:xfrm>
              <a:off x="0" y="0"/>
              <a:ext cx="4274726" cy="1255959"/>
            </a:xfrm>
            <a:custGeom>
              <a:avLst/>
              <a:gdLst/>
              <a:ahLst/>
              <a:cxnLst/>
              <a:rect l="l" t="t" r="r" b="b"/>
              <a:pathLst>
                <a:path w="4274726" h="1255959" extrusionOk="0">
                  <a:moveTo>
                    <a:pt x="0" y="0"/>
                  </a:moveTo>
                  <a:lnTo>
                    <a:pt x="4274726" y="0"/>
                  </a:lnTo>
                  <a:lnTo>
                    <a:pt x="4274726" y="1255959"/>
                  </a:lnTo>
                  <a:lnTo>
                    <a:pt x="0" y="12559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  <p:sp>
          <p:nvSpPr>
            <p:cNvPr id="186" name="Google Shape;186;p19"/>
            <p:cNvSpPr txBox="1"/>
            <p:nvPr/>
          </p:nvSpPr>
          <p:spPr>
            <a:xfrm>
              <a:off x="0" y="-28575"/>
              <a:ext cx="4274726" cy="1284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0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dirty="0">
                <a:solidFill>
                  <a:schemeClr val="dk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endParaRPr>
            </a:p>
          </p:txBody>
        </p:sp>
      </p:grpSp>
      <p:sp>
        <p:nvSpPr>
          <p:cNvPr id="187" name="Google Shape;187;p19"/>
          <p:cNvSpPr/>
          <p:nvPr/>
        </p:nvSpPr>
        <p:spPr>
          <a:xfrm>
            <a:off x="3553346" y="2235638"/>
            <a:ext cx="5076305" cy="2384359"/>
          </a:xfrm>
          <a:custGeom>
            <a:avLst/>
            <a:gdLst/>
            <a:ahLst/>
            <a:cxnLst/>
            <a:rect l="l" t="t" r="r" b="b"/>
            <a:pathLst>
              <a:path w="1572905" h="738799" extrusionOk="0">
                <a:moveTo>
                  <a:pt x="0" y="0"/>
                </a:moveTo>
                <a:lnTo>
                  <a:pt x="1572905" y="0"/>
                </a:lnTo>
                <a:lnTo>
                  <a:pt x="1572905" y="738799"/>
                </a:lnTo>
                <a:lnTo>
                  <a:pt x="0" y="738799"/>
                </a:lnTo>
                <a:close/>
              </a:path>
            </a:pathLst>
          </a:custGeom>
          <a:solidFill>
            <a:srgbClr val="E3E7ED"/>
          </a:solid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>
              <a:solidFill>
                <a:schemeClr val="dk1"/>
              </a:solidFill>
              <a:latin typeface="프리젠테이션 5 Medium" pitchFamily="2" charset="-127"/>
              <a:ea typeface="프리젠테이션 5 Medium" pitchFamily="2" charset="-127"/>
              <a:cs typeface="Asta Sans"/>
              <a:sym typeface="Asta Sans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3553346" y="2235639"/>
            <a:ext cx="5076305" cy="238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ctr" anchorCtr="0">
            <a:noAutofit/>
          </a:bodyPr>
          <a:lstStyle/>
          <a:p>
            <a:pPr marL="0" marR="0" lvl="0" indent="0" algn="ctr" rtl="0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영상 삽입</a:t>
            </a:r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1차 미션 실제 동작 시연</a:t>
            </a:r>
          </a:p>
          <a:p>
            <a:pPr marL="0" marR="0" lvl="0" indent="0" algn="ctr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8C93A0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(9월 2일 촬영, 약 100초)</a:t>
            </a:r>
          </a:p>
        </p:txBody>
      </p:sp>
      <p:cxnSp>
        <p:nvCxnSpPr>
          <p:cNvPr id="189" name="Google Shape;189;p19"/>
          <p:cNvCxnSpPr/>
          <p:nvPr/>
        </p:nvCxnSpPr>
        <p:spPr>
          <a:xfrm>
            <a:off x="705757" y="3711630"/>
            <a:ext cx="2499635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19"/>
          <p:cNvSpPr txBox="1"/>
          <p:nvPr/>
        </p:nvSpPr>
        <p:spPr>
          <a:xfrm>
            <a:off x="586321" y="1289341"/>
            <a:ext cx="6144516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②-1 현재 구현 결과</a:t>
            </a:r>
          </a:p>
        </p:txBody>
      </p:sp>
      <p:sp>
        <p:nvSpPr>
          <p:cNvPr id="191" name="Google Shape;191;p19"/>
          <p:cNvSpPr txBox="1"/>
          <p:nvPr/>
        </p:nvSpPr>
        <p:spPr>
          <a:xfrm>
            <a:off x="614897" y="1057566"/>
            <a:ext cx="3243834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1차 미션 실제 로봇 동작</a:t>
            </a:r>
          </a:p>
        </p:txBody>
      </p:sp>
      <p:sp>
        <p:nvSpPr>
          <p:cNvPr id="192" name="Google Shape;192;p19"/>
          <p:cNvSpPr txBox="1"/>
          <p:nvPr/>
        </p:nvSpPr>
        <p:spPr>
          <a:xfrm>
            <a:off x="759631" y="2422958"/>
            <a:ext cx="2408891" cy="2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1차 미션 시연 영상</a:t>
            </a:r>
          </a:p>
        </p:txBody>
      </p:sp>
      <p:sp>
        <p:nvSpPr>
          <p:cNvPr id="193" name="Google Shape;193;p19"/>
          <p:cNvSpPr txBox="1"/>
          <p:nvPr/>
        </p:nvSpPr>
        <p:spPr>
          <a:xfrm>
            <a:off x="751129" y="2782120"/>
            <a:ext cx="2408891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검출부터 배치까지 한 사이클을 실제 장비에서 끊김 없이 수행합니다.</a:t>
            </a:r>
          </a:p>
        </p:txBody>
      </p:sp>
      <p:sp>
        <p:nvSpPr>
          <p:cNvPr id="194" name="Google Shape;194;p19"/>
          <p:cNvSpPr txBox="1"/>
          <p:nvPr/>
        </p:nvSpPr>
        <p:spPr>
          <a:xfrm>
            <a:off x="751129" y="3886581"/>
            <a:ext cx="2408891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접근 → 파지 → 운반 → 지정 영역 배치</a:t>
            </a:r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한 개 놓을 때마다 HOME 복귀 후 재검출</a:t>
            </a:r>
          </a:p>
          <a:p>
            <a:pPr marL="177800" marR="0" lvl="1" indent="-88900" algn="l" rtl="0">
              <a:lnSpc>
                <a:spcPct val="180047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800"/>
              <a:buFont typeface="Arial"/>
              <a:buChar char="•"/>
            </a:pPr>
            <a:r>
              <a:rPr lang="ko" sz="800" b="0" i="0" u="none" strike="noStrike" cap="none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영역 밖 블록이 5초간 없으면 종료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38" name="Google Shape;138;p17"/>
          <p:cNvGrpSpPr/>
          <p:nvPr/>
        </p:nvGrpSpPr>
        <p:grpSpPr>
          <a:xfrm>
            <a:off x="586322" y="519906"/>
            <a:ext cx="7971358" cy="135285"/>
            <a:chOff x="0" y="6350"/>
            <a:chExt cx="21256953" cy="360759"/>
          </a:xfrm>
        </p:grpSpPr>
        <p:cxnSp>
          <p:nvCxnSpPr>
            <p:cNvPr id="139" name="Google Shape;139;p17"/>
            <p:cNvCxnSpPr/>
            <p:nvPr/>
          </p:nvCxnSpPr>
          <p:spPr>
            <a:xfrm>
              <a:off x="1757178" y="6350"/>
              <a:ext cx="19499775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0" name="Google Shape;140;p17"/>
            <p:cNvCxnSpPr/>
            <p:nvPr/>
          </p:nvCxnSpPr>
          <p:spPr>
            <a:xfrm flipH="1">
              <a:off x="1416834" y="6350"/>
              <a:ext cx="340343" cy="360759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1" name="Google Shape;141;p17"/>
            <p:cNvCxnSpPr/>
            <p:nvPr/>
          </p:nvCxnSpPr>
          <p:spPr>
            <a:xfrm rot="10800000">
              <a:off x="0" y="367109"/>
              <a:ext cx="1416834" cy="0"/>
            </a:xfrm>
            <a:prstGeom prst="straightConnector1">
              <a:avLst/>
            </a:prstGeom>
            <a:noFill/>
            <a:ln w="12700" cap="rnd" cmpd="sng">
              <a:solidFill>
                <a:srgbClr val="212121">
                  <a:alpha val="49804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42" name="Google Shape;142;p17"/>
          <p:cNvSpPr txBox="1"/>
          <p:nvPr/>
        </p:nvSpPr>
        <p:spPr>
          <a:xfrm>
            <a:off x="614897" y="1057566"/>
            <a:ext cx="450000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문제 → 해결</a:t>
            </a:r>
          </a:p>
        </p:txBody>
      </p:sp>
      <p:sp>
        <p:nvSpPr>
          <p:cNvPr id="143" name="Google Shape;143;p17"/>
          <p:cNvSpPr txBox="1"/>
          <p:nvPr/>
        </p:nvSpPr>
        <p:spPr>
          <a:xfrm>
            <a:off x="586321" y="1289341"/>
            <a:ext cx="7000000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4478FB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⑥ 구현 과정의 문제점 &amp; 해결</a:t>
            </a:r>
          </a:p>
        </p:txBody>
      </p:sp>
      <p:cxnSp>
        <p:nvCxnSpPr>
          <p:cNvPr id="144" name="Google Shape;144;p17"/>
          <p:cNvCxnSpPr/>
          <p:nvPr/>
        </p:nvCxnSpPr>
        <p:spPr>
          <a:xfrm>
            <a:off x="987500" y="2267712"/>
            <a:ext cx="0" cy="1920240"/>
          </a:xfrm>
          <a:prstGeom prst="straightConnector1">
            <a:avLst/>
          </a:prstGeom>
          <a:noFill/>
          <a:ln w="19050" cap="rnd" cmpd="sng">
            <a:solidFill>
              <a:srgbClr val="212121">
                <a:alpha val="23922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17"/>
          <p:cNvSpPr/>
          <p:nvPr/>
        </p:nvSpPr>
        <p:spPr>
          <a:xfrm>
            <a:off x="800000" y="2084831"/>
            <a:ext cx="375000" cy="375000"/>
          </a:xfrm>
          <a:prstGeom prst="ellipse">
            <a:avLst/>
          </a:prstGeom>
          <a:solidFill>
            <a:srgbClr val="4478F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01</a:t>
            </a:r>
          </a:p>
        </p:txBody>
      </p:sp>
      <p:sp>
        <p:nvSpPr>
          <p:cNvPr id="146" name="Google Shape;146;p17"/>
          <p:cNvSpPr txBox="1"/>
          <p:nvPr/>
        </p:nvSpPr>
        <p:spPr>
          <a:xfrm>
            <a:off x="1325000" y="205740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빨간 테이프와 빨간 블록이 색만으로는 구분되지 않음</a:t>
            </a:r>
          </a:p>
        </p:txBody>
      </p:sp>
      <p:sp>
        <p:nvSpPr>
          <p:cNvPr id="147" name="Google Shape;147;p17"/>
          <p:cNvSpPr txBox="1"/>
          <p:nvPr/>
        </p:nvSpPr>
        <p:spPr>
          <a:xfrm>
            <a:off x="1325000" y="2322576"/>
            <a:ext cx="70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해결 — 색은 후보 생성까지만, 면적 · 종횡비 · 채움 형상 게이트로 확정</a:t>
            </a:r>
          </a:p>
        </p:txBody>
      </p:sp>
      <p:sp>
        <p:nvSpPr>
          <p:cNvPr id="148" name="Google Shape;148;p17"/>
          <p:cNvSpPr/>
          <p:nvPr/>
        </p:nvSpPr>
        <p:spPr>
          <a:xfrm>
            <a:off x="800000" y="2724911"/>
            <a:ext cx="375000" cy="375000"/>
          </a:xfrm>
          <a:prstGeom prst="ellipse">
            <a:avLst/>
          </a:prstGeom>
          <a:solidFill>
            <a:srgbClr val="4478F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02</a:t>
            </a:r>
          </a:p>
        </p:txBody>
      </p:sp>
      <p:sp>
        <p:nvSpPr>
          <p:cNvPr id="149" name="Google Shape;149;p17"/>
          <p:cNvSpPr txBox="1"/>
          <p:nvPr/>
        </p:nvSpPr>
        <p:spPr>
          <a:xfrm>
            <a:off x="1325000" y="2697479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그리퍼 방향을 고정해 두어 손목이 비틀리며 서보 과열 정지</a:t>
            </a:r>
          </a:p>
        </p:txBody>
      </p:sp>
      <p:sp>
        <p:nvSpPr>
          <p:cNvPr id="150" name="Google Shape;150;p17"/>
          <p:cNvSpPr txBox="1"/>
          <p:nvPr/>
        </p:nvSpPr>
        <p:spPr>
          <a:xfrm>
            <a:off x="1325000" y="2962655"/>
            <a:ext cx="70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해결 — 위치마다 손목이 중립이 되는 방향 선택 (편차 125° → 3.7°)</a:t>
            </a:r>
          </a:p>
        </p:txBody>
      </p:sp>
      <p:sp>
        <p:nvSpPr>
          <p:cNvPr id="151" name="Google Shape;151;p17"/>
          <p:cNvSpPr/>
          <p:nvPr/>
        </p:nvSpPr>
        <p:spPr>
          <a:xfrm>
            <a:off x="800000" y="3364991"/>
            <a:ext cx="375000" cy="375000"/>
          </a:xfrm>
          <a:prstGeom prst="ellipse">
            <a:avLst/>
          </a:prstGeom>
          <a:solidFill>
            <a:srgbClr val="4478F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03</a:t>
            </a:r>
          </a:p>
        </p:txBody>
      </p:sp>
      <p:sp>
        <p:nvSpPr>
          <p:cNvPr id="152" name="Google Shape;152;p17"/>
          <p:cNvSpPr txBox="1"/>
          <p:nvPr/>
        </p:nvSpPr>
        <p:spPr>
          <a:xfrm>
            <a:off x="1325000" y="333756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역기구학이 초기값에 민감해 엉뚱한 자세로 수렴</a:t>
            </a:r>
          </a:p>
        </p:txBody>
      </p:sp>
      <p:sp>
        <p:nvSpPr>
          <p:cNvPr id="153" name="Google Shape;153;p17"/>
          <p:cNvSpPr txBox="1"/>
          <p:nvPr/>
        </p:nvSpPr>
        <p:spPr>
          <a:xfrm>
            <a:off x="1325000" y="3602735"/>
            <a:ext cx="70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해결 — 탑다운 시드 테이블을 미리 계산, 도달 불가는 실행 전 차단</a:t>
            </a:r>
          </a:p>
        </p:txBody>
      </p:sp>
      <p:sp>
        <p:nvSpPr>
          <p:cNvPr id="154" name="Google Shape;151;p17"/>
          <p:cNvSpPr/>
          <p:nvPr/>
        </p:nvSpPr>
        <p:spPr>
          <a:xfrm>
            <a:off x="800000" y="4005071"/>
            <a:ext cx="375000" cy="375000"/>
          </a:xfrm>
          <a:prstGeom prst="ellipse">
            <a:avLst/>
          </a:prstGeom>
          <a:solidFill>
            <a:srgbClr val="4478F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solidFill>
                  <a:srgbClr val="FFFFFF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04</a:t>
            </a:r>
          </a:p>
        </p:txBody>
      </p:sp>
      <p:sp>
        <p:nvSpPr>
          <p:cNvPr id="155" name="Google Shape;152;p17"/>
          <p:cNvSpPr txBox="1"/>
          <p:nvPr/>
        </p:nvSpPr>
        <p:spPr>
          <a:xfrm>
            <a:off x="1325000" y="3977639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 dirty="0">
                <a:solidFill>
                  <a:srgbClr val="212121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IK 목표에 도달해도 파지 성공이 보장되지 않음</a:t>
            </a:r>
          </a:p>
        </p:txBody>
      </p:sp>
      <p:sp>
        <p:nvSpPr>
          <p:cNvPr id="156" name="Google Shape;153;p17"/>
          <p:cNvSpPr txBox="1"/>
          <p:nvPr/>
        </p:nvSpPr>
        <p:spPr>
          <a:xfrm>
            <a:off x="1325000" y="4242815"/>
            <a:ext cx="70000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dirty="0">
                <a:solidFill>
                  <a:srgbClr val="969696"/>
                </a:solidFill>
                <a:latin typeface="프리젠테이션 5 Medium" pitchFamily="2" charset="-127"/>
                <a:ea typeface="프리젠테이션 5 Medium" pitchFamily="2" charset="-127"/>
                <a:cs typeface="Asta Sans"/>
                <a:sym typeface="Asta Sans"/>
              </a:rPr>
              <a:t>해결 — 위치 · 부하 센서로 파지 확인, ±15mm 네 방향 재시도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1223</Words>
  <Application>Microsoft Office PowerPoint</Application>
  <PresentationFormat>화면 슬라이드 쇼(16:9)</PresentationFormat>
  <Paragraphs>209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Arial</vt:lpstr>
      <vt:lpstr>Calibri</vt:lpstr>
      <vt:lpstr>프리젠테이션 5 Medium</vt:lpstr>
      <vt:lpstr>Asta Sans</vt:lpstr>
      <vt:lpstr>Simple Dark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김주환</cp:lastModifiedBy>
  <cp:revision>12</cp:revision>
  <dcterms:modified xsi:type="dcterms:W3CDTF">2026-09-10T17:41:56Z</dcterms:modified>
</cp:coreProperties>
</file>