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5149850"/>
  <p:notesSz cx="9144000" cy="5149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4377FA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4377FA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4377FA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4377FA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244879" y="519482"/>
            <a:ext cx="7312659" cy="1270"/>
          </a:xfrm>
          <a:custGeom>
            <a:avLst/>
            <a:gdLst/>
            <a:ahLst/>
            <a:cxnLst/>
            <a:rect l="l" t="t" r="r" b="b"/>
            <a:pathLst>
              <a:path w="7312659" h="1270">
                <a:moveTo>
                  <a:pt x="0" y="0"/>
                </a:moveTo>
                <a:lnTo>
                  <a:pt x="7312317" y="723"/>
                </a:lnTo>
              </a:path>
            </a:pathLst>
          </a:custGeom>
          <a:ln w="12599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17434" y="519482"/>
            <a:ext cx="128270" cy="135890"/>
          </a:xfrm>
          <a:custGeom>
            <a:avLst/>
            <a:gdLst/>
            <a:ahLst/>
            <a:cxnLst/>
            <a:rect l="l" t="t" r="r" b="b"/>
            <a:pathLst>
              <a:path w="128269" h="135890">
                <a:moveTo>
                  <a:pt x="127800" y="0"/>
                </a:moveTo>
                <a:lnTo>
                  <a:pt x="0" y="135356"/>
                </a:lnTo>
              </a:path>
            </a:pathLst>
          </a:custGeom>
          <a:ln w="12599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586435" y="654483"/>
            <a:ext cx="531495" cy="1270"/>
          </a:xfrm>
          <a:custGeom>
            <a:avLst/>
            <a:gdLst/>
            <a:ahLst/>
            <a:cxnLst/>
            <a:rect l="l" t="t" r="r" b="b"/>
            <a:pathLst>
              <a:path w="531494" h="1270">
                <a:moveTo>
                  <a:pt x="531368" y="723"/>
                </a:moveTo>
                <a:lnTo>
                  <a:pt x="0" y="0"/>
                </a:lnTo>
              </a:path>
            </a:pathLst>
          </a:custGeom>
          <a:ln w="12599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2655" y="1390575"/>
            <a:ext cx="2756535" cy="407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4377FA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6338" y="2235595"/>
            <a:ext cx="8191500" cy="2381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8815" y="1898893"/>
            <a:ext cx="3284854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35">
                <a:latin typeface="Yu Gothic"/>
                <a:cs typeface="Yu Gothic"/>
              </a:rPr>
              <a:t>Team</a:t>
            </a:r>
            <a:r>
              <a:rPr dirty="0" sz="3000" spc="190">
                <a:latin typeface="Yu Gothic"/>
                <a:cs typeface="Yu Gothic"/>
              </a:rPr>
              <a:t> </a:t>
            </a:r>
            <a:r>
              <a:rPr dirty="0" sz="3000" spc="235">
                <a:latin typeface="Yu Gothic"/>
                <a:cs typeface="Yu Gothic"/>
              </a:rPr>
              <a:t>Sim2Real</a:t>
            </a:r>
            <a:endParaRPr sz="3000">
              <a:latin typeface="Yu Gothic"/>
              <a:cs typeface="Yu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417" y="1553300"/>
            <a:ext cx="288861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959595"/>
                </a:solidFill>
                <a:latin typeface="Microsoft Sans Serif"/>
                <a:cs typeface="Microsoft Sans Serif"/>
              </a:rPr>
              <a:t>PUSAN</a:t>
            </a:r>
            <a:r>
              <a:rPr dirty="0" sz="1500" spc="4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959595"/>
                </a:solidFill>
                <a:latin typeface="Microsoft Sans Serif"/>
                <a:cs typeface="Microsoft Sans Serif"/>
              </a:rPr>
              <a:t>NATIONAL</a:t>
            </a:r>
            <a:r>
              <a:rPr dirty="0" sz="1500" spc="45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959595"/>
                </a:solidFill>
                <a:latin typeface="Microsoft Sans Serif"/>
                <a:cs typeface="Microsoft Sans Serif"/>
              </a:rPr>
              <a:t>UNIVERSITY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8815" y="2357391"/>
            <a:ext cx="7273925" cy="146558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3000" spc="-240" b="1">
                <a:solidFill>
                  <a:srgbClr val="202020"/>
                </a:solidFill>
                <a:latin typeface="Malgun Gothic"/>
                <a:cs typeface="Malgun Gothic"/>
              </a:rPr>
              <a:t>컴퓨터</a:t>
            </a:r>
            <a:r>
              <a:rPr dirty="0" sz="3000" spc="-21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3000" spc="-240" b="1">
                <a:solidFill>
                  <a:srgbClr val="202020"/>
                </a:solidFill>
                <a:latin typeface="Malgun Gothic"/>
                <a:cs typeface="Malgun Gothic"/>
              </a:rPr>
              <a:t>비전과</a:t>
            </a:r>
            <a:r>
              <a:rPr dirty="0" sz="3000" spc="-21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3000" spc="-240" b="1">
                <a:solidFill>
                  <a:srgbClr val="202020"/>
                </a:solidFill>
                <a:latin typeface="Malgun Gothic"/>
                <a:cs typeface="Malgun Gothic"/>
              </a:rPr>
              <a:t>역기구학</a:t>
            </a:r>
            <a:r>
              <a:rPr dirty="0" sz="3000" spc="-21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3000" b="1">
                <a:solidFill>
                  <a:srgbClr val="202020"/>
                </a:solidFill>
                <a:latin typeface="Malgun Gothic"/>
                <a:cs typeface="Malgun Gothic"/>
              </a:rPr>
              <a:t>기반</a:t>
            </a:r>
            <a:r>
              <a:rPr dirty="0" sz="3000" spc="3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3000" spc="135" b="1">
                <a:solidFill>
                  <a:srgbClr val="202020"/>
                </a:solidFill>
                <a:latin typeface="Yu Gothic"/>
                <a:cs typeface="Yu Gothic"/>
              </a:rPr>
              <a:t>SO-</a:t>
            </a:r>
            <a:r>
              <a:rPr dirty="0" sz="3000" spc="260" b="1">
                <a:solidFill>
                  <a:srgbClr val="202020"/>
                </a:solidFill>
                <a:latin typeface="Yu Gothic"/>
                <a:cs typeface="Yu Gothic"/>
              </a:rPr>
              <a:t>ARM101</a:t>
            </a:r>
            <a:endParaRPr sz="30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3000" spc="-240" b="1">
                <a:solidFill>
                  <a:srgbClr val="202020"/>
                </a:solidFill>
                <a:latin typeface="Malgun Gothic"/>
                <a:cs typeface="Malgun Gothic"/>
              </a:rPr>
              <a:t>로봇팔의</a:t>
            </a:r>
            <a:r>
              <a:rPr dirty="0" sz="3000" spc="-21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3000" spc="-240" b="1">
                <a:solidFill>
                  <a:srgbClr val="202020"/>
                </a:solidFill>
                <a:latin typeface="Malgun Gothic"/>
                <a:cs typeface="Malgun Gothic"/>
              </a:rPr>
              <a:t>블록</a:t>
            </a:r>
            <a:r>
              <a:rPr dirty="0" sz="3000" spc="-21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3000" spc="-240" b="1">
                <a:solidFill>
                  <a:srgbClr val="202020"/>
                </a:solidFill>
                <a:latin typeface="Malgun Gothic"/>
                <a:cs typeface="Malgun Gothic"/>
              </a:rPr>
              <a:t>이동</a:t>
            </a:r>
            <a:r>
              <a:rPr dirty="0" sz="3000" spc="-21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3000" spc="-240" b="1">
                <a:solidFill>
                  <a:srgbClr val="202020"/>
                </a:solidFill>
                <a:latin typeface="Malgun Gothic"/>
                <a:cs typeface="Malgun Gothic"/>
              </a:rPr>
              <a:t>및</a:t>
            </a:r>
            <a:r>
              <a:rPr dirty="0" sz="3000" spc="-21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3000" spc="-240" b="1">
                <a:solidFill>
                  <a:srgbClr val="202020"/>
                </a:solidFill>
                <a:latin typeface="Malgun Gothic"/>
                <a:cs typeface="Malgun Gothic"/>
              </a:rPr>
              <a:t>적재</a:t>
            </a:r>
            <a:r>
              <a:rPr dirty="0" sz="3000" spc="-21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3000" spc="-25" b="1">
                <a:solidFill>
                  <a:srgbClr val="202020"/>
                </a:solidFill>
                <a:latin typeface="Malgun Gothic"/>
                <a:cs typeface="Malgun Gothic"/>
              </a:rPr>
              <a:t>시스템</a:t>
            </a:r>
            <a:endParaRPr sz="3000">
              <a:latin typeface="Malgun Gothic"/>
              <a:cs typeface="Malgun Gothic"/>
            </a:endParaRPr>
          </a:p>
          <a:p>
            <a:pPr marL="107314">
              <a:lnSpc>
                <a:spcPct val="100000"/>
              </a:lnSpc>
              <a:spcBef>
                <a:spcPts val="440"/>
              </a:spcBef>
            </a:pPr>
            <a:r>
              <a:rPr dirty="0" sz="1300" spc="150">
                <a:solidFill>
                  <a:srgbClr val="959595"/>
                </a:solidFill>
                <a:latin typeface="Microsoft Sans Serif"/>
                <a:cs typeface="Microsoft Sans Serif"/>
              </a:rPr>
              <a:t>*</a:t>
            </a:r>
            <a:r>
              <a:rPr dirty="0" sz="1300" spc="-3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20">
                <a:solidFill>
                  <a:srgbClr val="959595"/>
                </a:solidFill>
                <a:latin typeface="Malgun Gothic"/>
                <a:cs typeface="Malgun Gothic"/>
              </a:rPr>
              <a:t>윤민석</a:t>
            </a:r>
            <a:r>
              <a:rPr dirty="0" sz="1300" spc="-9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1300" spc="-114">
                <a:solidFill>
                  <a:srgbClr val="959595"/>
                </a:solidFill>
                <a:latin typeface="Malgun Gothic"/>
                <a:cs typeface="Malgun Gothic"/>
              </a:rPr>
              <a:t>김주환</a:t>
            </a:r>
            <a:r>
              <a:rPr dirty="0" sz="1300" spc="-9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1300" spc="-25">
                <a:solidFill>
                  <a:srgbClr val="959595"/>
                </a:solidFill>
                <a:latin typeface="Malgun Gothic"/>
                <a:cs typeface="Malgun Gothic"/>
              </a:rPr>
              <a:t>이동근</a:t>
            </a:r>
            <a:endParaRPr sz="1300">
              <a:latin typeface="Malgun Gothic"/>
              <a:cs typeface="Malgun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0135" y="513182"/>
            <a:ext cx="7983855" cy="148590"/>
            <a:chOff x="580135" y="513182"/>
            <a:chExt cx="7983855" cy="148590"/>
          </a:xfrm>
        </p:grpSpPr>
        <p:sp>
          <p:nvSpPr>
            <p:cNvPr id="7" name="object 7"/>
            <p:cNvSpPr/>
            <p:nvPr/>
          </p:nvSpPr>
          <p:spPr>
            <a:xfrm>
              <a:off x="1244879" y="519482"/>
              <a:ext cx="7312659" cy="1270"/>
            </a:xfrm>
            <a:custGeom>
              <a:avLst/>
              <a:gdLst/>
              <a:ahLst/>
              <a:cxnLst/>
              <a:rect l="l" t="t" r="r" b="b"/>
              <a:pathLst>
                <a:path w="7312659" h="1270">
                  <a:moveTo>
                    <a:pt x="0" y="0"/>
                  </a:moveTo>
                  <a:lnTo>
                    <a:pt x="7312317" y="723"/>
                  </a:lnTo>
                </a:path>
              </a:pathLst>
            </a:custGeom>
            <a:ln w="12599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17434" y="519482"/>
              <a:ext cx="128270" cy="135890"/>
            </a:xfrm>
            <a:custGeom>
              <a:avLst/>
              <a:gdLst/>
              <a:ahLst/>
              <a:cxnLst/>
              <a:rect l="l" t="t" r="r" b="b"/>
              <a:pathLst>
                <a:path w="128269" h="135890">
                  <a:moveTo>
                    <a:pt x="127800" y="0"/>
                  </a:moveTo>
                  <a:lnTo>
                    <a:pt x="0" y="135356"/>
                  </a:lnTo>
                </a:path>
              </a:pathLst>
            </a:custGeom>
            <a:ln w="12599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86435" y="654483"/>
              <a:ext cx="531495" cy="1270"/>
            </a:xfrm>
            <a:custGeom>
              <a:avLst/>
              <a:gdLst/>
              <a:ahLst/>
              <a:cxnLst/>
              <a:rect l="l" t="t" r="r" b="b"/>
              <a:pathLst>
                <a:path w="531494" h="1270">
                  <a:moveTo>
                    <a:pt x="531368" y="723"/>
                  </a:moveTo>
                  <a:lnTo>
                    <a:pt x="0" y="0"/>
                  </a:lnTo>
                </a:path>
              </a:pathLst>
            </a:custGeom>
            <a:ln w="12599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2923" y="713881"/>
            <a:ext cx="1545475" cy="1545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6321" y="1683958"/>
            <a:ext cx="8172450" cy="3188970"/>
            <a:chOff x="436321" y="1683958"/>
            <a:chExt cx="8172450" cy="3188970"/>
          </a:xfrm>
        </p:grpSpPr>
        <p:sp>
          <p:nvSpPr>
            <p:cNvPr id="3" name="object 3"/>
            <p:cNvSpPr/>
            <p:nvPr/>
          </p:nvSpPr>
          <p:spPr>
            <a:xfrm>
              <a:off x="436321" y="1734123"/>
              <a:ext cx="8172450" cy="3128645"/>
            </a:xfrm>
            <a:custGeom>
              <a:avLst/>
              <a:gdLst/>
              <a:ahLst/>
              <a:cxnLst/>
              <a:rect l="l" t="t" r="r" b="b"/>
              <a:pathLst>
                <a:path w="8172450" h="3128645">
                  <a:moveTo>
                    <a:pt x="8172361" y="0"/>
                  </a:moveTo>
                  <a:lnTo>
                    <a:pt x="0" y="0"/>
                  </a:lnTo>
                  <a:lnTo>
                    <a:pt x="0" y="3128403"/>
                  </a:lnTo>
                  <a:lnTo>
                    <a:pt x="8172361" y="3128403"/>
                  </a:lnTo>
                  <a:lnTo>
                    <a:pt x="81723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563645" y="1693800"/>
              <a:ext cx="1270" cy="3169285"/>
            </a:xfrm>
            <a:custGeom>
              <a:avLst/>
              <a:gdLst/>
              <a:ahLst/>
              <a:cxnLst/>
              <a:rect l="l" t="t" r="r" b="b"/>
              <a:pathLst>
                <a:path w="1270" h="3169285">
                  <a:moveTo>
                    <a:pt x="0" y="0"/>
                  </a:moveTo>
                  <a:lnTo>
                    <a:pt x="711" y="3169081"/>
                  </a:lnTo>
                </a:path>
              </a:pathLst>
            </a:custGeom>
            <a:ln w="19079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01738" y="690238"/>
            <a:ext cx="3538220" cy="758825"/>
          </a:xfrm>
          <a:prstGeom prst="rect"/>
        </p:spPr>
        <p:txBody>
          <a:bodyPr wrap="square" lIns="0" tIns="15494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220"/>
              </a:spcBef>
            </a:pPr>
            <a:r>
              <a:rPr dirty="0"/>
              <a:t>①</a:t>
            </a:r>
            <a:r>
              <a:rPr dirty="0" spc="120"/>
              <a:t> </a:t>
            </a:r>
            <a:r>
              <a:rPr dirty="0" spc="-210"/>
              <a:t>프로젝트</a:t>
            </a:r>
            <a:r>
              <a:rPr dirty="0" spc="-200"/>
              <a:t> </a:t>
            </a:r>
            <a:r>
              <a:rPr dirty="0"/>
              <a:t>개요</a:t>
            </a:r>
            <a:r>
              <a:rPr dirty="0" spc="300"/>
              <a:t> </a:t>
            </a:r>
            <a:r>
              <a:rPr dirty="0" spc="265">
                <a:latin typeface="Yu Gothic"/>
                <a:cs typeface="Yu Gothic"/>
              </a:rPr>
              <a:t>&amp;</a:t>
            </a:r>
            <a:r>
              <a:rPr dirty="0" spc="610">
                <a:latin typeface="Yu Gothic"/>
                <a:cs typeface="Yu Gothic"/>
              </a:rPr>
              <a:t> </a:t>
            </a:r>
            <a:r>
              <a:rPr dirty="0" spc="-165"/>
              <a:t>목표</a:t>
            </a: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000" spc="-90" b="0">
                <a:solidFill>
                  <a:srgbClr val="202020"/>
                </a:solidFill>
                <a:latin typeface="Malgun Gothic"/>
                <a:cs typeface="Malgun Gothic"/>
              </a:rPr>
              <a:t>고정</a:t>
            </a:r>
            <a:r>
              <a:rPr dirty="0" sz="1000" spc="-85" b="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95" b="0">
                <a:solidFill>
                  <a:srgbClr val="202020"/>
                </a:solidFill>
                <a:latin typeface="Malgun Gothic"/>
                <a:cs typeface="Malgun Gothic"/>
              </a:rPr>
              <a:t>탑다운</a:t>
            </a:r>
            <a:r>
              <a:rPr dirty="0" sz="1000" spc="-85" b="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35" b="0">
                <a:solidFill>
                  <a:srgbClr val="202020"/>
                </a:solidFill>
                <a:latin typeface="Malgun Gothic"/>
                <a:cs typeface="Malgun Gothic"/>
              </a:rPr>
              <a:t>카메라</a:t>
            </a:r>
            <a:r>
              <a:rPr dirty="0" sz="1000" spc="70" b="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80" b="0">
                <a:solidFill>
                  <a:srgbClr val="202020"/>
                </a:solidFill>
                <a:latin typeface="Microsoft Sans Serif"/>
                <a:cs typeface="Microsoft Sans Serif"/>
              </a:rPr>
              <a:t>1</a:t>
            </a:r>
            <a:r>
              <a:rPr dirty="0" sz="1000" spc="-40" b="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202020"/>
                </a:solidFill>
                <a:latin typeface="Malgun Gothic"/>
                <a:cs typeface="Malgun Gothic"/>
              </a:rPr>
              <a:t>대</a:t>
            </a:r>
            <a:r>
              <a:rPr dirty="0" sz="1000" spc="120" b="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245" b="0">
                <a:solidFill>
                  <a:srgbClr val="202020"/>
                </a:solidFill>
                <a:latin typeface="Microsoft Sans Serif"/>
                <a:cs typeface="Microsoft Sans Serif"/>
              </a:rPr>
              <a:t>+</a:t>
            </a:r>
            <a:r>
              <a:rPr dirty="0" sz="1000" spc="30" b="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b="0">
                <a:solidFill>
                  <a:srgbClr val="202020"/>
                </a:solidFill>
                <a:latin typeface="Microsoft Sans Serif"/>
                <a:cs typeface="Microsoft Sans Serif"/>
              </a:rPr>
              <a:t>CV·IK</a:t>
            </a:r>
            <a:r>
              <a:rPr dirty="0" sz="1000" spc="245" b="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90" b="0">
                <a:solidFill>
                  <a:srgbClr val="202020"/>
                </a:solidFill>
                <a:latin typeface="Malgun Gothic"/>
                <a:cs typeface="Malgun Gothic"/>
              </a:rPr>
              <a:t>규칙</a:t>
            </a:r>
            <a:r>
              <a:rPr dirty="0" sz="1000" spc="-85" b="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90" b="0">
                <a:solidFill>
                  <a:srgbClr val="202020"/>
                </a:solidFill>
                <a:latin typeface="Malgun Gothic"/>
                <a:cs typeface="Malgun Gothic"/>
              </a:rPr>
              <a:t>기반</a:t>
            </a:r>
            <a:r>
              <a:rPr dirty="0" sz="1000" spc="-85" b="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10" b="0">
                <a:solidFill>
                  <a:srgbClr val="202020"/>
                </a:solidFill>
                <a:latin typeface="Malgun Gothic"/>
                <a:cs typeface="Malgun Gothic"/>
              </a:rPr>
              <a:t>파이프라인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0740" y="1902500"/>
            <a:ext cx="147637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20" b="1">
                <a:solidFill>
                  <a:srgbClr val="4377FA"/>
                </a:solidFill>
                <a:latin typeface="Malgun Gothic"/>
                <a:cs typeface="Malgun Gothic"/>
              </a:rPr>
              <a:t>프로젝트</a:t>
            </a:r>
            <a:r>
              <a:rPr dirty="0" sz="1300" spc="-80" b="1">
                <a:solidFill>
                  <a:srgbClr val="4377FA"/>
                </a:solidFill>
                <a:latin typeface="Malgun Gothic"/>
                <a:cs typeface="Malgun Gothic"/>
              </a:rPr>
              <a:t> </a:t>
            </a:r>
            <a:r>
              <a:rPr dirty="0" sz="1300" spc="-120" b="1">
                <a:solidFill>
                  <a:srgbClr val="4377FA"/>
                </a:solidFill>
                <a:latin typeface="Malgun Gothic"/>
                <a:cs typeface="Malgun Gothic"/>
              </a:rPr>
              <a:t>시스템</a:t>
            </a:r>
            <a:r>
              <a:rPr dirty="0" sz="1300" spc="-90" b="1">
                <a:solidFill>
                  <a:srgbClr val="4377FA"/>
                </a:solidFill>
                <a:latin typeface="Malgun Gothic"/>
                <a:cs typeface="Malgun Gothic"/>
              </a:rPr>
              <a:t> </a:t>
            </a:r>
            <a:r>
              <a:rPr dirty="0" sz="1300" spc="-80" b="1">
                <a:solidFill>
                  <a:srgbClr val="4377FA"/>
                </a:solidFill>
                <a:latin typeface="Malgun Gothic"/>
                <a:cs typeface="Malgun Gothic"/>
              </a:rPr>
              <a:t>개요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00111" y="1902500"/>
            <a:ext cx="132524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20" b="1">
                <a:solidFill>
                  <a:srgbClr val="4377FA"/>
                </a:solidFill>
                <a:latin typeface="Malgun Gothic"/>
                <a:cs typeface="Malgun Gothic"/>
              </a:rPr>
              <a:t>프로젝트</a:t>
            </a:r>
            <a:r>
              <a:rPr dirty="0" sz="1300" spc="-95" b="1">
                <a:solidFill>
                  <a:srgbClr val="4377FA"/>
                </a:solidFill>
                <a:latin typeface="Malgun Gothic"/>
                <a:cs typeface="Malgun Gothic"/>
              </a:rPr>
              <a:t> </a:t>
            </a:r>
            <a:r>
              <a:rPr dirty="0" sz="1300" spc="-110" b="1">
                <a:solidFill>
                  <a:srgbClr val="4377FA"/>
                </a:solidFill>
                <a:latin typeface="Malgun Gothic"/>
                <a:cs typeface="Malgun Gothic"/>
              </a:rPr>
              <a:t>구현</a:t>
            </a:r>
            <a:r>
              <a:rPr dirty="0" sz="1300" spc="-90" b="1">
                <a:solidFill>
                  <a:srgbClr val="4377FA"/>
                </a:solidFill>
                <a:latin typeface="Malgun Gothic"/>
                <a:cs typeface="Malgun Gothic"/>
              </a:rPr>
              <a:t> </a:t>
            </a:r>
            <a:r>
              <a:rPr dirty="0" sz="1300" spc="-85" b="1">
                <a:solidFill>
                  <a:srgbClr val="4377FA"/>
                </a:solidFill>
                <a:latin typeface="Malgun Gothic"/>
                <a:cs typeface="Malgun Gothic"/>
              </a:rPr>
              <a:t>목표</a:t>
            </a:r>
            <a:endParaRPr sz="1300">
              <a:latin typeface="Malgun Gothic"/>
              <a:cs typeface="Malgun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076" y="2192047"/>
            <a:ext cx="2223363" cy="249695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929303" y="2294904"/>
            <a:ext cx="2622550" cy="2277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202020"/>
                </a:solidFill>
                <a:latin typeface="Microsoft Sans Serif"/>
                <a:cs typeface="Microsoft Sans Serif"/>
              </a:rPr>
              <a:t>Task</a:t>
            </a:r>
            <a:r>
              <a:rPr dirty="0" sz="1100" spc="-2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85">
                <a:solidFill>
                  <a:srgbClr val="202020"/>
                </a:solidFill>
                <a:latin typeface="Microsoft Sans Serif"/>
                <a:cs typeface="Microsoft Sans Serif"/>
              </a:rPr>
              <a:t>1</a:t>
            </a:r>
            <a:r>
              <a:rPr dirty="0" sz="1100" spc="5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445">
                <a:solidFill>
                  <a:srgbClr val="202020"/>
                </a:solidFill>
                <a:latin typeface="Microsoft Sans Serif"/>
                <a:cs typeface="Microsoft Sans Serif"/>
              </a:rPr>
              <a:t>—</a:t>
            </a:r>
            <a:r>
              <a:rPr dirty="0" sz="1100" spc="28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202020"/>
                </a:solidFill>
                <a:latin typeface="Malgun Gothic"/>
                <a:cs typeface="Malgun Gothic"/>
              </a:rPr>
              <a:t>블록</a:t>
            </a:r>
            <a:r>
              <a:rPr dirty="0" sz="1100" spc="17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85">
                <a:solidFill>
                  <a:srgbClr val="202020"/>
                </a:solidFill>
                <a:latin typeface="Microsoft Sans Serif"/>
                <a:cs typeface="Microsoft Sans Serif"/>
              </a:rPr>
              <a:t>5</a:t>
            </a:r>
            <a:r>
              <a:rPr dirty="0" sz="1100" spc="-4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95">
                <a:solidFill>
                  <a:srgbClr val="202020"/>
                </a:solidFill>
                <a:latin typeface="Malgun Gothic"/>
                <a:cs typeface="Malgun Gothic"/>
              </a:rPr>
              <a:t>개를</a:t>
            </a:r>
            <a:r>
              <a:rPr dirty="0" sz="11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95">
                <a:solidFill>
                  <a:srgbClr val="202020"/>
                </a:solidFill>
                <a:latin typeface="Malgun Gothic"/>
                <a:cs typeface="Malgun Gothic"/>
              </a:rPr>
              <a:t>지정</a:t>
            </a:r>
            <a:r>
              <a:rPr dirty="0" sz="11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85">
                <a:solidFill>
                  <a:srgbClr val="202020"/>
                </a:solidFill>
                <a:latin typeface="Malgun Gothic"/>
                <a:cs typeface="Malgun Gothic"/>
              </a:rPr>
              <a:t>영역으로</a:t>
            </a:r>
            <a:r>
              <a:rPr dirty="0" sz="1100" spc="-6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25">
                <a:solidFill>
                  <a:srgbClr val="202020"/>
                </a:solidFill>
                <a:latin typeface="Malgun Gothic"/>
                <a:cs typeface="Malgun Gothic"/>
              </a:rPr>
              <a:t>운반</a:t>
            </a:r>
            <a:endParaRPr sz="11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100">
                <a:solidFill>
                  <a:srgbClr val="202020"/>
                </a:solidFill>
                <a:latin typeface="Microsoft Sans Serif"/>
                <a:cs typeface="Microsoft Sans Serif"/>
              </a:rPr>
              <a:t>Task</a:t>
            </a:r>
            <a:r>
              <a:rPr dirty="0" sz="1100" spc="-3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85">
                <a:solidFill>
                  <a:srgbClr val="202020"/>
                </a:solidFill>
                <a:latin typeface="Microsoft Sans Serif"/>
                <a:cs typeface="Microsoft Sans Serif"/>
              </a:rPr>
              <a:t>2</a:t>
            </a:r>
            <a:r>
              <a:rPr dirty="0" sz="1100" spc="4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445">
                <a:solidFill>
                  <a:srgbClr val="202020"/>
                </a:solidFill>
                <a:latin typeface="Microsoft Sans Serif"/>
                <a:cs typeface="Microsoft Sans Serif"/>
              </a:rPr>
              <a:t>—</a:t>
            </a:r>
            <a:r>
              <a:rPr dirty="0" sz="1100" spc="3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202020"/>
                </a:solidFill>
                <a:latin typeface="Microsoft Sans Serif"/>
                <a:cs typeface="Microsoft Sans Serif"/>
              </a:rPr>
              <a:t>PLACE</a:t>
            </a:r>
            <a:r>
              <a:rPr dirty="0" sz="1100" spc="28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85">
                <a:solidFill>
                  <a:srgbClr val="202020"/>
                </a:solidFill>
                <a:latin typeface="Malgun Gothic"/>
                <a:cs typeface="Malgun Gothic"/>
              </a:rPr>
              <a:t>전략만</a:t>
            </a:r>
            <a:r>
              <a:rPr dirty="0" sz="11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85">
                <a:solidFill>
                  <a:srgbClr val="202020"/>
                </a:solidFill>
                <a:latin typeface="Malgun Gothic"/>
                <a:cs typeface="Malgun Gothic"/>
              </a:rPr>
              <a:t>교체해</a:t>
            </a:r>
            <a:r>
              <a:rPr dirty="0" sz="11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95">
                <a:solidFill>
                  <a:srgbClr val="202020"/>
                </a:solidFill>
                <a:latin typeface="Malgun Gothic"/>
                <a:cs typeface="Malgun Gothic"/>
              </a:rPr>
              <a:t>블록</a:t>
            </a:r>
            <a:r>
              <a:rPr dirty="0" sz="11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100" spc="-25">
                <a:solidFill>
                  <a:srgbClr val="202020"/>
                </a:solidFill>
                <a:latin typeface="Malgun Gothic"/>
                <a:cs typeface="Malgun Gothic"/>
              </a:rPr>
              <a:t>적재</a:t>
            </a:r>
            <a:endParaRPr sz="11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100">
              <a:latin typeface="Malgun Gothic"/>
              <a:cs typeface="Malgun Gothic"/>
            </a:endParaRPr>
          </a:p>
          <a:p>
            <a:pPr marL="119380">
              <a:lnSpc>
                <a:spcPct val="100000"/>
              </a:lnSpc>
            </a:pP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사용</a:t>
            </a:r>
            <a:r>
              <a:rPr dirty="0" sz="10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기술</a:t>
            </a:r>
            <a:r>
              <a:rPr dirty="0" sz="10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25">
                <a:solidFill>
                  <a:srgbClr val="202020"/>
                </a:solidFill>
                <a:latin typeface="Malgun Gothic"/>
                <a:cs typeface="Malgun Gothic"/>
              </a:rPr>
              <a:t>스택</a:t>
            </a:r>
            <a:endParaRPr sz="1000">
              <a:latin typeface="Malgun Gothic"/>
              <a:cs typeface="Malgun Gothic"/>
            </a:endParaRPr>
          </a:p>
          <a:p>
            <a:pPr marL="290830" indent="-171450">
              <a:lnSpc>
                <a:spcPct val="100000"/>
              </a:lnSpc>
              <a:spcBef>
                <a:spcPts val="1305"/>
              </a:spcBef>
              <a:buClr>
                <a:srgbClr val="000000"/>
              </a:buClr>
              <a:buFont typeface="Arial MT"/>
              <a:buChar char="-"/>
              <a:tabLst>
                <a:tab pos="290830" algn="l"/>
              </a:tabLst>
            </a:pPr>
            <a:r>
              <a:rPr dirty="0" sz="1000">
                <a:solidFill>
                  <a:srgbClr val="202020"/>
                </a:solidFill>
                <a:latin typeface="Microsoft Sans Serif"/>
                <a:cs typeface="Microsoft Sans Serif"/>
              </a:rPr>
              <a:t>CV</a:t>
            </a:r>
            <a:r>
              <a:rPr dirty="0" sz="1000" spc="5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60">
                <a:solidFill>
                  <a:srgbClr val="202020"/>
                </a:solidFill>
                <a:latin typeface="Microsoft Sans Serif"/>
                <a:cs typeface="Microsoft Sans Serif"/>
              </a:rPr>
              <a:t>:</a:t>
            </a:r>
            <a:r>
              <a:rPr dirty="0" sz="1000" spc="30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85">
                <a:solidFill>
                  <a:srgbClr val="202020"/>
                </a:solidFill>
                <a:latin typeface="Malgun Gothic"/>
                <a:cs typeface="Malgun Gothic"/>
              </a:rPr>
              <a:t>색</a:t>
            </a:r>
            <a:r>
              <a:rPr dirty="0" sz="1000" spc="-7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후보</a:t>
            </a:r>
            <a:r>
              <a:rPr dirty="0" sz="10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202020"/>
                </a:solidFill>
                <a:latin typeface="Malgun Gothic"/>
                <a:cs typeface="Malgun Gothic"/>
              </a:rPr>
              <a:t>→</a:t>
            </a:r>
            <a:r>
              <a:rPr dirty="0" sz="10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형상</a:t>
            </a:r>
            <a:r>
              <a:rPr dirty="0" sz="10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95">
                <a:solidFill>
                  <a:srgbClr val="202020"/>
                </a:solidFill>
                <a:latin typeface="Malgun Gothic"/>
                <a:cs typeface="Malgun Gothic"/>
              </a:rPr>
              <a:t>필터로</a:t>
            </a:r>
            <a:r>
              <a:rPr dirty="0" sz="10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블록</a:t>
            </a:r>
            <a:r>
              <a:rPr dirty="0" sz="10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25">
                <a:solidFill>
                  <a:srgbClr val="202020"/>
                </a:solidFill>
                <a:latin typeface="Malgun Gothic"/>
                <a:cs typeface="Malgun Gothic"/>
              </a:rPr>
              <a:t>확정</a:t>
            </a:r>
            <a:endParaRPr sz="1000">
              <a:latin typeface="Malgun Gothic"/>
              <a:cs typeface="Malgun Gothic"/>
            </a:endParaRPr>
          </a:p>
          <a:p>
            <a:pPr marL="290830" indent="-171450">
              <a:lnSpc>
                <a:spcPct val="100000"/>
              </a:lnSpc>
              <a:spcBef>
                <a:spcPts val="1300"/>
              </a:spcBef>
              <a:buClr>
                <a:srgbClr val="000000"/>
              </a:buClr>
              <a:buFont typeface="Arial MT"/>
              <a:buChar char="-"/>
              <a:tabLst>
                <a:tab pos="290830" algn="l"/>
              </a:tabLst>
            </a:pPr>
            <a:r>
              <a:rPr dirty="0" sz="1000">
                <a:solidFill>
                  <a:srgbClr val="202020"/>
                </a:solidFill>
                <a:latin typeface="Malgun Gothic"/>
                <a:cs typeface="Malgun Gothic"/>
              </a:rPr>
              <a:t>좌표</a:t>
            </a:r>
            <a:r>
              <a:rPr dirty="0" sz="1000" spc="4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60">
                <a:solidFill>
                  <a:srgbClr val="202020"/>
                </a:solidFill>
                <a:latin typeface="Microsoft Sans Serif"/>
                <a:cs typeface="Microsoft Sans Serif"/>
              </a:rPr>
              <a:t>:</a:t>
            </a:r>
            <a:r>
              <a:rPr dirty="0" sz="1000" spc="204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평면</a:t>
            </a:r>
            <a:r>
              <a:rPr dirty="0" sz="1000" spc="-8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60">
                <a:solidFill>
                  <a:srgbClr val="202020"/>
                </a:solidFill>
                <a:latin typeface="Malgun Gothic"/>
                <a:cs typeface="Malgun Gothic"/>
              </a:rPr>
              <a:t>호모그래피</a:t>
            </a:r>
            <a:r>
              <a:rPr dirty="0" sz="1000" spc="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202020"/>
                </a:solidFill>
                <a:latin typeface="Microsoft Sans Serif"/>
                <a:cs typeface="Microsoft Sans Serif"/>
              </a:rPr>
              <a:t>(RMS </a:t>
            </a:r>
            <a:r>
              <a:rPr dirty="0" sz="1000" spc="70">
                <a:solidFill>
                  <a:srgbClr val="202020"/>
                </a:solidFill>
                <a:latin typeface="Microsoft Sans Serif"/>
                <a:cs typeface="Microsoft Sans Serif"/>
              </a:rPr>
              <a:t>8.18mm)</a:t>
            </a:r>
            <a:endParaRPr sz="1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Font typeface="Arial MT"/>
              <a:buChar char="-"/>
            </a:pPr>
            <a:endParaRPr sz="1000">
              <a:latin typeface="Microsoft Sans Serif"/>
              <a:cs typeface="Microsoft Sans Serif"/>
            </a:endParaRPr>
          </a:p>
          <a:p>
            <a:pPr marL="290830" indent="-171450">
              <a:lnSpc>
                <a:spcPct val="100000"/>
              </a:lnSpc>
              <a:buClr>
                <a:srgbClr val="000000"/>
              </a:buClr>
              <a:buFont typeface="Arial MT"/>
              <a:buChar char="-"/>
              <a:tabLst>
                <a:tab pos="290830" algn="l"/>
              </a:tabLst>
            </a:pPr>
            <a:r>
              <a:rPr dirty="0" sz="1000">
                <a:solidFill>
                  <a:srgbClr val="202020"/>
                </a:solidFill>
                <a:latin typeface="Microsoft Sans Serif"/>
                <a:cs typeface="Microsoft Sans Serif"/>
              </a:rPr>
              <a:t>IK</a:t>
            </a:r>
            <a:r>
              <a:rPr dirty="0" sz="1000" spc="4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60">
                <a:solidFill>
                  <a:srgbClr val="202020"/>
                </a:solidFill>
                <a:latin typeface="Microsoft Sans Serif"/>
                <a:cs typeface="Microsoft Sans Serif"/>
              </a:rPr>
              <a:t>:</a:t>
            </a:r>
            <a:r>
              <a:rPr dirty="0" sz="1000" spc="30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95">
                <a:solidFill>
                  <a:srgbClr val="202020"/>
                </a:solidFill>
                <a:latin typeface="Malgun Gothic"/>
                <a:cs typeface="Malgun Gothic"/>
              </a:rPr>
              <a:t>탑다운</a:t>
            </a:r>
            <a:r>
              <a:rPr dirty="0" sz="10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시드</a:t>
            </a:r>
            <a:r>
              <a:rPr dirty="0" sz="10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95">
                <a:solidFill>
                  <a:srgbClr val="202020"/>
                </a:solidFill>
                <a:latin typeface="Malgun Gothic"/>
                <a:cs typeface="Malgun Gothic"/>
              </a:rPr>
              <a:t>테이블</a:t>
            </a:r>
            <a:r>
              <a:rPr dirty="0" sz="10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기반</a:t>
            </a:r>
            <a:r>
              <a:rPr dirty="0" sz="10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20">
                <a:solidFill>
                  <a:srgbClr val="202020"/>
                </a:solidFill>
                <a:latin typeface="Malgun Gothic"/>
                <a:cs typeface="Malgun Gothic"/>
              </a:rPr>
              <a:t>역기구학</a:t>
            </a:r>
            <a:endParaRPr sz="1000">
              <a:latin typeface="Malgun Gothic"/>
              <a:cs typeface="Malgun Gothic"/>
            </a:endParaRPr>
          </a:p>
          <a:p>
            <a:pPr marL="290830" indent="-171450">
              <a:lnSpc>
                <a:spcPct val="100000"/>
              </a:lnSpc>
              <a:spcBef>
                <a:spcPts val="1300"/>
              </a:spcBef>
              <a:buClr>
                <a:srgbClr val="000000"/>
              </a:buClr>
              <a:buFont typeface="Arial MT"/>
              <a:buChar char="-"/>
              <a:tabLst>
                <a:tab pos="290830" algn="l"/>
              </a:tabLst>
            </a:pPr>
            <a:r>
              <a:rPr dirty="0" sz="1000">
                <a:solidFill>
                  <a:srgbClr val="202020"/>
                </a:solidFill>
                <a:latin typeface="Malgun Gothic"/>
                <a:cs typeface="Malgun Gothic"/>
              </a:rPr>
              <a:t>제어</a:t>
            </a:r>
            <a:r>
              <a:rPr dirty="0" sz="1000" spc="4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60">
                <a:solidFill>
                  <a:srgbClr val="202020"/>
                </a:solidFill>
                <a:latin typeface="Microsoft Sans Serif"/>
                <a:cs typeface="Microsoft Sans Serif"/>
              </a:rPr>
              <a:t>:</a:t>
            </a:r>
            <a:r>
              <a:rPr dirty="0" sz="1000">
                <a:solidFill>
                  <a:srgbClr val="202020"/>
                </a:solidFill>
                <a:latin typeface="Microsoft Sans Serif"/>
                <a:cs typeface="Microsoft Sans Serif"/>
              </a:rPr>
              <a:t> FSM</a:t>
            </a:r>
            <a:r>
              <a:rPr dirty="0" sz="1000" spc="21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파지</a:t>
            </a:r>
            <a:r>
              <a:rPr dirty="0" sz="1000" spc="-8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202020"/>
                </a:solidFill>
                <a:latin typeface="Malgun Gothic"/>
                <a:cs typeface="Malgun Gothic"/>
              </a:rPr>
              <a:t>검증</a:t>
            </a:r>
            <a:r>
              <a:rPr dirty="0" sz="1000" spc="8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202020"/>
                </a:solidFill>
                <a:latin typeface="Microsoft Sans Serif"/>
                <a:cs typeface="Microsoft Sans Serif"/>
              </a:rPr>
              <a:t>·</a:t>
            </a:r>
            <a:r>
              <a:rPr dirty="0" sz="1000" spc="19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202020"/>
                </a:solidFill>
                <a:latin typeface="Malgun Gothic"/>
                <a:cs typeface="Malgun Gothic"/>
              </a:rPr>
              <a:t>재시도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5599" y="3711246"/>
            <a:ext cx="2499995" cy="1270"/>
          </a:xfrm>
          <a:custGeom>
            <a:avLst/>
            <a:gdLst/>
            <a:ahLst/>
            <a:cxnLst/>
            <a:rect l="l" t="t" r="r" b="b"/>
            <a:pathLst>
              <a:path w="2499995" h="1270">
                <a:moveTo>
                  <a:pt x="0" y="0"/>
                </a:moveTo>
                <a:lnTo>
                  <a:pt x="2499487" y="711"/>
                </a:lnTo>
              </a:path>
            </a:pathLst>
          </a:custGeom>
          <a:ln w="19079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35">
                <a:latin typeface="Yu Gothic"/>
                <a:cs typeface="Yu Gothic"/>
              </a:rPr>
              <a:t>➁-</a:t>
            </a:r>
            <a:r>
              <a:rPr dirty="0" spc="300">
                <a:latin typeface="Yu Gothic"/>
                <a:cs typeface="Yu Gothic"/>
              </a:rPr>
              <a:t>1</a:t>
            </a:r>
            <a:r>
              <a:rPr dirty="0" spc="15">
                <a:latin typeface="Yu Gothic"/>
                <a:cs typeface="Yu Gothic"/>
              </a:rPr>
              <a:t>  </a:t>
            </a:r>
            <a:r>
              <a:rPr dirty="0" spc="-204"/>
              <a:t>현재</a:t>
            </a:r>
            <a:r>
              <a:rPr dirty="0" spc="-180"/>
              <a:t> </a:t>
            </a:r>
            <a:r>
              <a:rPr dirty="0" spc="-204"/>
              <a:t>구현</a:t>
            </a:r>
            <a:r>
              <a:rPr dirty="0" spc="-185"/>
              <a:t> </a:t>
            </a:r>
            <a:r>
              <a:rPr dirty="0" spc="-160"/>
              <a:t>결과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1814" y="1090703"/>
            <a:ext cx="13208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80">
                <a:solidFill>
                  <a:srgbClr val="202020"/>
                </a:solidFill>
                <a:latin typeface="Microsoft Sans Serif"/>
                <a:cs typeface="Microsoft Sans Serif"/>
              </a:rPr>
              <a:t>1</a:t>
            </a:r>
            <a:r>
              <a:rPr dirty="0" sz="1000" spc="-3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80">
                <a:solidFill>
                  <a:srgbClr val="202020"/>
                </a:solidFill>
                <a:latin typeface="Malgun Gothic"/>
                <a:cs typeface="Malgun Gothic"/>
              </a:rPr>
              <a:t>차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85">
                <a:solidFill>
                  <a:srgbClr val="202020"/>
                </a:solidFill>
                <a:latin typeface="Malgun Gothic"/>
                <a:cs typeface="Malgun Gothic"/>
              </a:rPr>
              <a:t>미션</a:t>
            </a:r>
            <a:r>
              <a:rPr dirty="0" sz="1000" spc="-8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실제</a:t>
            </a:r>
            <a:r>
              <a:rPr dirty="0" sz="10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로봇</a:t>
            </a:r>
            <a:r>
              <a:rPr dirty="0" sz="1000" spc="-8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40">
                <a:solidFill>
                  <a:srgbClr val="202020"/>
                </a:solidFill>
                <a:latin typeface="Malgun Gothic"/>
                <a:cs typeface="Malgun Gothic"/>
              </a:rPr>
              <a:t>동작</a:t>
            </a:r>
            <a:endParaRPr sz="1000">
              <a:latin typeface="Malgun Gothic"/>
              <a:cs typeface="Malgun Gothic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14438" y="2235595"/>
          <a:ext cx="8191500" cy="238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8475"/>
                <a:gridCol w="5076190"/>
              </a:tblGrid>
              <a:tr h="541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45110">
                        <a:lnSpc>
                          <a:spcPct val="100000"/>
                        </a:lnSpc>
                      </a:pPr>
                      <a:r>
                        <a:rPr dirty="0" sz="1300" spc="150" b="1">
                          <a:solidFill>
                            <a:srgbClr val="4377FA"/>
                          </a:solidFill>
                          <a:latin typeface="Yu Gothic"/>
                          <a:cs typeface="Yu Gothic"/>
                        </a:rPr>
                        <a:t>1</a:t>
                      </a:r>
                      <a:r>
                        <a:rPr dirty="0" sz="1300" spc="-70" b="1">
                          <a:solidFill>
                            <a:srgbClr val="4377FA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dirty="0" sz="1300" spc="-110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차</a:t>
                      </a:r>
                      <a:r>
                        <a:rPr dirty="0" sz="1300" spc="-114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300" spc="-110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미션</a:t>
                      </a:r>
                      <a:r>
                        <a:rPr dirty="0" sz="1300" spc="-100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300" spc="-110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시연</a:t>
                      </a:r>
                      <a:r>
                        <a:rPr dirty="0" sz="1300" spc="-100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영상</a:t>
                      </a:r>
                      <a:endParaRPr sz="1300">
                        <a:latin typeface="Malgun Gothic"/>
                        <a:cs typeface="Malgun Gothic"/>
                      </a:endParaRPr>
                    </a:p>
                  </a:txBody>
                  <a:tcPr marL="0" marR="0" marB="0" marT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800" spc="-6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검출부터</a:t>
                      </a:r>
                      <a:r>
                        <a:rPr dirty="0" sz="800" spc="-4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6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배치까지</a:t>
                      </a:r>
                      <a:r>
                        <a:rPr dirty="0" sz="800" spc="-4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한</a:t>
                      </a:r>
                      <a:r>
                        <a:rPr dirty="0" sz="800" spc="-2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6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사이클을</a:t>
                      </a:r>
                      <a:r>
                        <a:rPr dirty="0" sz="800" spc="-4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실제</a:t>
                      </a:r>
                      <a:r>
                        <a:rPr dirty="0" sz="800" spc="-2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6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장비에서</a:t>
                      </a:r>
                      <a:r>
                        <a:rPr dirty="0" sz="800" spc="-4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끊김</a:t>
                      </a:r>
                      <a:r>
                        <a:rPr dirty="0" sz="800" spc="-2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없이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B="0" marT="7810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수행합니다</a:t>
                      </a:r>
                      <a:r>
                        <a:rPr dirty="0" sz="800" spc="-3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50">
                          <a:solidFill>
                            <a:srgbClr val="959595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238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25"/>
                        </a:lnSpc>
                      </a:pPr>
                      <a:r>
                        <a:rPr dirty="0" sz="1200" spc="-100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영상</a:t>
                      </a:r>
                      <a:r>
                        <a:rPr dirty="0" sz="1200" spc="-90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200" spc="-25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삽입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70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dirty="0" sz="900" spc="-25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8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차</a:t>
                      </a:r>
                      <a:r>
                        <a:rPr dirty="0" sz="900" spc="-6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8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미션</a:t>
                      </a:r>
                      <a:r>
                        <a:rPr dirty="0" sz="900" spc="-5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7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실제</a:t>
                      </a:r>
                      <a:r>
                        <a:rPr dirty="0" sz="900" spc="-6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7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동작</a:t>
                      </a:r>
                      <a:r>
                        <a:rPr dirty="0" sz="900" spc="-6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2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시연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1397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900" spc="55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(9</a:t>
                      </a:r>
                      <a:r>
                        <a:rPr dirty="0" sz="900" spc="-60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월</a:t>
                      </a:r>
                      <a:r>
                        <a:rPr dirty="0" sz="900" spc="14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70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dirty="0" sz="900" spc="-35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8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일</a:t>
                      </a:r>
                      <a:r>
                        <a:rPr dirty="0" sz="900" spc="-6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8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촬영</a:t>
                      </a:r>
                      <a:r>
                        <a:rPr dirty="0" sz="900" spc="-11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dirty="0" sz="900" spc="250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약</a:t>
                      </a:r>
                      <a:r>
                        <a:rPr dirty="0" sz="900" spc="14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70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100</a:t>
                      </a:r>
                      <a:r>
                        <a:rPr dirty="0" sz="900" spc="-30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8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초</a:t>
                      </a:r>
                      <a:r>
                        <a:rPr dirty="0" sz="900" spc="-10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)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065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14020" indent="-8953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414020" algn="l"/>
                        </a:tabLst>
                      </a:pP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접근</a:t>
                      </a:r>
                      <a:r>
                        <a:rPr dirty="0" sz="800" spc="-3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→</a:t>
                      </a:r>
                      <a:r>
                        <a:rPr dirty="0" sz="800" spc="-3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6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파지</a:t>
                      </a:r>
                      <a:r>
                        <a:rPr dirty="0" sz="800" spc="-3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→</a:t>
                      </a:r>
                      <a:r>
                        <a:rPr dirty="0" sz="800" spc="-4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운반</a:t>
                      </a:r>
                      <a:r>
                        <a:rPr dirty="0" sz="800" spc="-2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→</a:t>
                      </a:r>
                      <a:r>
                        <a:rPr dirty="0" sz="800" spc="-3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지정</a:t>
                      </a:r>
                      <a:r>
                        <a:rPr dirty="0" sz="800" spc="-2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영역</a:t>
                      </a:r>
                      <a:r>
                        <a:rPr dirty="0" sz="800" spc="-3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2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배치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B="0" marT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marL="414020" indent="-89535">
                        <a:lnSpc>
                          <a:spcPct val="100000"/>
                        </a:lnSpc>
                        <a:spcBef>
                          <a:spcPts val="365"/>
                        </a:spcBef>
                        <a:buFont typeface="Arial MT"/>
                        <a:buChar char="•"/>
                        <a:tabLst>
                          <a:tab pos="414020" algn="l"/>
                        </a:tabLst>
                      </a:pP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한</a:t>
                      </a:r>
                      <a:r>
                        <a:rPr dirty="0" sz="800" spc="-5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개</a:t>
                      </a:r>
                      <a:r>
                        <a:rPr dirty="0" sz="800" spc="-5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놓을</a:t>
                      </a:r>
                      <a:r>
                        <a:rPr dirty="0" sz="800" spc="-4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2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때마다</a:t>
                      </a:r>
                      <a:r>
                        <a:rPr dirty="0" sz="800" spc="10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HOME</a:t>
                      </a:r>
                      <a:r>
                        <a:rPr dirty="0" sz="800" spc="215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복귀</a:t>
                      </a:r>
                      <a:r>
                        <a:rPr dirty="0" sz="800" spc="-5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후</a:t>
                      </a:r>
                      <a:r>
                        <a:rPr dirty="0" sz="800" spc="-4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2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재검출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B="0" marT="4635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marL="414020" indent="-89535">
                        <a:lnSpc>
                          <a:spcPct val="100000"/>
                        </a:lnSpc>
                        <a:spcBef>
                          <a:spcPts val="345"/>
                        </a:spcBef>
                        <a:buFont typeface="Arial MT"/>
                        <a:buChar char="•"/>
                        <a:tabLst>
                          <a:tab pos="414020" algn="l"/>
                        </a:tabLst>
                      </a:pP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영역</a:t>
                      </a:r>
                      <a:r>
                        <a:rPr dirty="0" sz="800" spc="-5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밖</a:t>
                      </a:r>
                      <a:r>
                        <a:rPr dirty="0" sz="800" spc="-5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1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블록이</a:t>
                      </a:r>
                      <a:r>
                        <a:rPr dirty="0" sz="800" spc="8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55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5</a:t>
                      </a:r>
                      <a:r>
                        <a:rPr dirty="0" sz="800" spc="-30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초간</a:t>
                      </a:r>
                      <a:r>
                        <a:rPr dirty="0" sz="800" spc="-5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없으면</a:t>
                      </a:r>
                      <a:r>
                        <a:rPr dirty="0" sz="800" spc="-5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2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종료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B="0" marT="438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5599" y="3711246"/>
            <a:ext cx="2499995" cy="1270"/>
          </a:xfrm>
          <a:custGeom>
            <a:avLst/>
            <a:gdLst/>
            <a:ahLst/>
            <a:cxnLst/>
            <a:rect l="l" t="t" r="r" b="b"/>
            <a:pathLst>
              <a:path w="2499995" h="1270">
                <a:moveTo>
                  <a:pt x="0" y="0"/>
                </a:moveTo>
                <a:lnTo>
                  <a:pt x="2499487" y="711"/>
                </a:lnTo>
              </a:path>
            </a:pathLst>
          </a:custGeom>
          <a:ln w="19079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35">
                <a:latin typeface="Yu Gothic"/>
                <a:cs typeface="Yu Gothic"/>
              </a:rPr>
              <a:t>➁-</a:t>
            </a:r>
            <a:r>
              <a:rPr dirty="0" spc="300">
                <a:latin typeface="Yu Gothic"/>
                <a:cs typeface="Yu Gothic"/>
              </a:rPr>
              <a:t>2</a:t>
            </a:r>
            <a:r>
              <a:rPr dirty="0" spc="15">
                <a:latin typeface="Yu Gothic"/>
                <a:cs typeface="Yu Gothic"/>
              </a:rPr>
              <a:t>  </a:t>
            </a:r>
            <a:r>
              <a:rPr dirty="0" spc="-204"/>
              <a:t>인식</a:t>
            </a:r>
            <a:r>
              <a:rPr dirty="0" spc="-180"/>
              <a:t> </a:t>
            </a:r>
            <a:r>
              <a:rPr dirty="0" spc="-204"/>
              <a:t>과정</a:t>
            </a:r>
            <a:r>
              <a:rPr dirty="0" spc="-185"/>
              <a:t> </a:t>
            </a:r>
            <a:r>
              <a:rPr dirty="0" spc="-160"/>
              <a:t>상세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1814" y="1090703"/>
            <a:ext cx="114046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95">
                <a:solidFill>
                  <a:srgbClr val="202020"/>
                </a:solidFill>
                <a:latin typeface="Malgun Gothic"/>
                <a:cs typeface="Malgun Gothic"/>
              </a:rPr>
              <a:t>카메라</a:t>
            </a:r>
            <a:r>
              <a:rPr dirty="0" sz="1000" spc="-7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비전</a:t>
            </a:r>
            <a:r>
              <a:rPr dirty="0" sz="1000" spc="-6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75">
                <a:solidFill>
                  <a:srgbClr val="202020"/>
                </a:solidFill>
                <a:latin typeface="Malgun Gothic"/>
                <a:cs typeface="Malgun Gothic"/>
              </a:rPr>
              <a:t>오버레이</a:t>
            </a:r>
            <a:endParaRPr sz="1000">
              <a:latin typeface="Malgun Gothic"/>
              <a:cs typeface="Malgun Gothic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14438" y="2235595"/>
          <a:ext cx="8191500" cy="238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8475"/>
                <a:gridCol w="5076190"/>
              </a:tblGrid>
              <a:tr h="538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45110">
                        <a:lnSpc>
                          <a:spcPct val="100000"/>
                        </a:lnSpc>
                      </a:pPr>
                      <a:r>
                        <a:rPr dirty="0" sz="1300" spc="-114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검출 </a:t>
                      </a:r>
                      <a:r>
                        <a:rPr dirty="0" sz="1300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후보</a:t>
                      </a:r>
                      <a:r>
                        <a:rPr dirty="0" sz="1300" spc="20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300" spc="130" b="1">
                          <a:solidFill>
                            <a:srgbClr val="4377FA"/>
                          </a:solidFill>
                          <a:latin typeface="Yu Gothic"/>
                          <a:cs typeface="Yu Gothic"/>
                        </a:rPr>
                        <a:t>·</a:t>
                      </a:r>
                      <a:r>
                        <a:rPr dirty="0" sz="1300" spc="315" b="1">
                          <a:solidFill>
                            <a:srgbClr val="4377FA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dirty="0" sz="1300" spc="-110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색</a:t>
                      </a:r>
                      <a:r>
                        <a:rPr dirty="0" sz="1300" spc="-105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300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할당</a:t>
                      </a:r>
                      <a:r>
                        <a:rPr dirty="0" sz="1300" spc="135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300" spc="130" b="1">
                          <a:solidFill>
                            <a:srgbClr val="4377FA"/>
                          </a:solidFill>
                          <a:latin typeface="Yu Gothic"/>
                          <a:cs typeface="Yu Gothic"/>
                        </a:rPr>
                        <a:t>·</a:t>
                      </a:r>
                      <a:r>
                        <a:rPr dirty="0" sz="1300" spc="320" b="1">
                          <a:solidFill>
                            <a:srgbClr val="4377FA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dirty="0" sz="1300" spc="-114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영역 </a:t>
                      </a:r>
                      <a:r>
                        <a:rPr dirty="0" sz="1300" spc="-25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필터</a:t>
                      </a:r>
                      <a:endParaRPr sz="1300">
                        <a:latin typeface="Malgun Gothic"/>
                        <a:cs typeface="Malgun Gothic"/>
                      </a:endParaRPr>
                    </a:p>
                  </a:txBody>
                  <a:tcPr marL="0" marR="0" marB="0" marT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관제</a:t>
                      </a:r>
                      <a:r>
                        <a:rPr dirty="0" sz="800" spc="-5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화면은</a:t>
                      </a:r>
                      <a:r>
                        <a:rPr dirty="0" sz="800" spc="-5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6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표시</a:t>
                      </a:r>
                      <a:r>
                        <a:rPr dirty="0" sz="800" spc="-5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6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전용입니다</a:t>
                      </a:r>
                      <a:r>
                        <a:rPr dirty="0" sz="800" spc="-5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>
                          <a:solidFill>
                            <a:srgbClr val="959595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800" spc="190">
                          <a:solidFill>
                            <a:srgbClr val="959595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최신</a:t>
                      </a:r>
                      <a:r>
                        <a:rPr dirty="0" sz="800" spc="-5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1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800" spc="15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55">
                          <a:solidFill>
                            <a:srgbClr val="959595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dirty="0" sz="800" spc="-25">
                          <a:solidFill>
                            <a:srgbClr val="959595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장만</a:t>
                      </a:r>
                      <a:r>
                        <a:rPr dirty="0" sz="800" spc="-5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2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따로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B="0" marT="8001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분석해</a:t>
                      </a:r>
                      <a:r>
                        <a:rPr dirty="0" sz="800" spc="-2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실행</a:t>
                      </a:r>
                      <a:r>
                        <a:rPr dirty="0" sz="800" spc="-3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속도에</a:t>
                      </a:r>
                      <a:r>
                        <a:rPr dirty="0" sz="800" spc="-3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영향을</a:t>
                      </a:r>
                      <a:r>
                        <a:rPr dirty="0" sz="800" spc="-3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주지</a:t>
                      </a:r>
                      <a:r>
                        <a:rPr dirty="0" sz="800" spc="-2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6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않습니다</a:t>
                      </a:r>
                      <a:r>
                        <a:rPr dirty="0" sz="800" spc="-3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50">
                          <a:solidFill>
                            <a:srgbClr val="959595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04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25"/>
                        </a:lnSpc>
                      </a:pPr>
                      <a:r>
                        <a:rPr dirty="0" sz="1200" spc="-100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영상</a:t>
                      </a:r>
                      <a:r>
                        <a:rPr dirty="0" sz="1200" spc="-90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200" spc="-25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삽입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170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900" spc="-8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관제</a:t>
                      </a:r>
                      <a:r>
                        <a:rPr dirty="0" sz="900" spc="-6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7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화면</a:t>
                      </a:r>
                      <a:r>
                        <a:rPr dirty="0" sz="900" spc="-6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7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인식</a:t>
                      </a:r>
                      <a:r>
                        <a:rPr dirty="0" sz="900" spc="-6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7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과정</a:t>
                      </a:r>
                      <a:r>
                        <a:rPr dirty="0" sz="900" spc="-6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2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녹화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1143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87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50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dirty="0" sz="900" spc="-60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8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검출</a:t>
                      </a:r>
                      <a:r>
                        <a:rPr dirty="0" sz="900" spc="-6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후보</a:t>
                      </a:r>
                      <a:r>
                        <a:rPr dirty="0" sz="900" spc="8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·</a:t>
                      </a:r>
                      <a:r>
                        <a:rPr dirty="0" sz="900" spc="225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7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형상</a:t>
                      </a:r>
                      <a:r>
                        <a:rPr dirty="0" sz="900" spc="-6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필터</a:t>
                      </a:r>
                      <a:r>
                        <a:rPr dirty="0" sz="900" spc="12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·</a:t>
                      </a:r>
                      <a:r>
                        <a:rPr dirty="0" sz="900" spc="229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8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색</a:t>
                      </a:r>
                      <a:r>
                        <a:rPr dirty="0" sz="900" spc="-6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8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할당</a:t>
                      </a:r>
                      <a:r>
                        <a:rPr dirty="0" sz="900" spc="-10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)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397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14020" indent="-8953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414020" algn="l"/>
                        </a:tabLst>
                      </a:pP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색</a:t>
                      </a:r>
                      <a:r>
                        <a:rPr dirty="0" sz="800" spc="-3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후보</a:t>
                      </a:r>
                      <a:r>
                        <a:rPr dirty="0" sz="800" spc="-3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→</a:t>
                      </a:r>
                      <a:r>
                        <a:rPr dirty="0" sz="800" spc="-4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6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형상</a:t>
                      </a:r>
                      <a:r>
                        <a:rPr dirty="0" sz="800" spc="-3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게이트</a:t>
                      </a:r>
                      <a:r>
                        <a:rPr dirty="0" sz="800" spc="-3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→</a:t>
                      </a:r>
                      <a:r>
                        <a:rPr dirty="0" sz="800" spc="-2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색</a:t>
                      </a:r>
                      <a:r>
                        <a:rPr dirty="0" sz="800" spc="-3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2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할당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B="0" marT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 marL="414020" indent="-89535">
                        <a:lnSpc>
                          <a:spcPct val="100000"/>
                        </a:lnSpc>
                        <a:spcBef>
                          <a:spcPts val="365"/>
                        </a:spcBef>
                        <a:buFont typeface="Arial MT"/>
                        <a:buChar char="•"/>
                        <a:tabLst>
                          <a:tab pos="414020" algn="l"/>
                        </a:tabLst>
                      </a:pP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탈락한</a:t>
                      </a:r>
                      <a:r>
                        <a:rPr dirty="0" sz="800" spc="-2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후보도</a:t>
                      </a:r>
                      <a:r>
                        <a:rPr dirty="0" sz="800" spc="-2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사유와</a:t>
                      </a:r>
                      <a:r>
                        <a:rPr dirty="0" sz="800" spc="-3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함께</a:t>
                      </a:r>
                      <a:r>
                        <a:rPr dirty="0" sz="800" spc="-3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2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표시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B="0" marT="4635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414020" indent="-89535">
                        <a:lnSpc>
                          <a:spcPct val="100000"/>
                        </a:lnSpc>
                        <a:spcBef>
                          <a:spcPts val="360"/>
                        </a:spcBef>
                        <a:buFont typeface="Arial MT"/>
                        <a:buChar char="•"/>
                        <a:tabLst>
                          <a:tab pos="414020" algn="l"/>
                        </a:tabLst>
                      </a:pPr>
                      <a:r>
                        <a:rPr dirty="0" sz="80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영역</a:t>
                      </a:r>
                      <a:r>
                        <a:rPr dirty="0" sz="800" spc="12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·</a:t>
                      </a:r>
                      <a:r>
                        <a:rPr dirty="0" sz="800" spc="204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도달</a:t>
                      </a:r>
                      <a:r>
                        <a:rPr dirty="0" sz="800" spc="-5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6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범위</a:t>
                      </a:r>
                      <a:r>
                        <a:rPr dirty="0" sz="800" spc="-5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밖</a:t>
                      </a:r>
                      <a:r>
                        <a:rPr dirty="0" sz="800" spc="-5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후보는</a:t>
                      </a:r>
                      <a:r>
                        <a:rPr dirty="0" sz="800" spc="-5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2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제외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B="0" marT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1814" y="1090703"/>
            <a:ext cx="22174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95">
                <a:solidFill>
                  <a:srgbClr val="202020"/>
                </a:solidFill>
                <a:latin typeface="Malgun Gothic"/>
                <a:cs typeface="Malgun Gothic"/>
              </a:rPr>
              <a:t>모방학습</a:t>
            </a:r>
            <a:r>
              <a:rPr dirty="0" sz="1000" spc="-7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202020"/>
                </a:solidFill>
                <a:latin typeface="Microsoft Sans Serif"/>
                <a:cs typeface="Microsoft Sans Serif"/>
              </a:rPr>
              <a:t>(ACT</a:t>
            </a:r>
            <a:r>
              <a:rPr dirty="0" sz="1000" spc="9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202020"/>
                </a:solidFill>
                <a:latin typeface="Microsoft Sans Serif"/>
                <a:cs typeface="Microsoft Sans Serif"/>
              </a:rPr>
              <a:t>·</a:t>
            </a:r>
            <a:r>
              <a:rPr dirty="0" sz="1000" spc="10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202020"/>
                </a:solidFill>
                <a:latin typeface="Microsoft Sans Serif"/>
                <a:cs typeface="Microsoft Sans Serif"/>
              </a:rPr>
              <a:t>SmolVLA)</a:t>
            </a:r>
            <a:r>
              <a:rPr dirty="0" sz="1000" spc="9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170">
                <a:solidFill>
                  <a:srgbClr val="202020"/>
                </a:solidFill>
                <a:latin typeface="Microsoft Sans Serif"/>
                <a:cs typeface="Microsoft Sans Serif"/>
              </a:rPr>
              <a:t>→</a:t>
            </a:r>
            <a:r>
              <a:rPr dirty="0" sz="1000" spc="10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202020"/>
                </a:solidFill>
                <a:latin typeface="Microsoft Sans Serif"/>
                <a:cs typeface="Microsoft Sans Serif"/>
              </a:rPr>
              <a:t>CV</a:t>
            </a:r>
            <a:r>
              <a:rPr dirty="0" sz="1000" spc="10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245">
                <a:solidFill>
                  <a:srgbClr val="202020"/>
                </a:solidFill>
                <a:latin typeface="Microsoft Sans Serif"/>
                <a:cs typeface="Microsoft Sans Serif"/>
              </a:rPr>
              <a:t>+</a:t>
            </a:r>
            <a:r>
              <a:rPr dirty="0" sz="1000" spc="9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25">
                <a:solidFill>
                  <a:srgbClr val="202020"/>
                </a:solidFill>
                <a:latin typeface="Microsoft Sans Serif"/>
                <a:cs typeface="Microsoft Sans Serif"/>
              </a:rPr>
              <a:t>IK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72655" y="1390575"/>
            <a:ext cx="3465195" cy="4070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③</a:t>
            </a:r>
            <a:r>
              <a:rPr dirty="0" spc="280"/>
              <a:t> </a:t>
            </a:r>
            <a:r>
              <a:rPr dirty="0" spc="-204"/>
              <a:t>기존</a:t>
            </a:r>
            <a:r>
              <a:rPr dirty="0" spc="-190"/>
              <a:t> </a:t>
            </a:r>
            <a:r>
              <a:rPr dirty="0" spc="-204"/>
              <a:t>접근</a:t>
            </a:r>
            <a:r>
              <a:rPr dirty="0" spc="-190"/>
              <a:t> </a:t>
            </a:r>
            <a:r>
              <a:rPr dirty="0" spc="-200"/>
              <a:t>및 변경 </a:t>
            </a:r>
            <a:r>
              <a:rPr dirty="0" spc="-160"/>
              <a:t>배경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99553" y="2099527"/>
            <a:ext cx="375285" cy="1847850"/>
            <a:chOff x="799553" y="2099527"/>
            <a:chExt cx="375285" cy="1847850"/>
          </a:xfrm>
        </p:grpSpPr>
        <p:sp>
          <p:nvSpPr>
            <p:cNvPr id="5" name="object 5"/>
            <p:cNvSpPr/>
            <p:nvPr/>
          </p:nvSpPr>
          <p:spPr>
            <a:xfrm>
              <a:off x="987120" y="2287437"/>
              <a:ext cx="1270" cy="1650364"/>
            </a:xfrm>
            <a:custGeom>
              <a:avLst/>
              <a:gdLst/>
              <a:ahLst/>
              <a:cxnLst/>
              <a:rect l="l" t="t" r="r" b="b"/>
              <a:pathLst>
                <a:path w="1269" h="1650364">
                  <a:moveTo>
                    <a:pt x="0" y="0"/>
                  </a:moveTo>
                  <a:lnTo>
                    <a:pt x="723" y="1649882"/>
                  </a:lnTo>
                </a:path>
              </a:pathLst>
            </a:custGeom>
            <a:ln w="19079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99553" y="2099527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4" h="375285">
                  <a:moveTo>
                    <a:pt x="187566" y="0"/>
                  </a:moveTo>
                  <a:lnTo>
                    <a:pt x="139142" y="6388"/>
                  </a:lnTo>
                  <a:lnTo>
                    <a:pt x="93967" y="25196"/>
                  </a:lnTo>
                  <a:lnTo>
                    <a:pt x="54997" y="54984"/>
                  </a:lnTo>
                  <a:lnTo>
                    <a:pt x="25209" y="93954"/>
                  </a:lnTo>
                  <a:lnTo>
                    <a:pt x="6394" y="139134"/>
                  </a:lnTo>
                  <a:lnTo>
                    <a:pt x="0" y="187553"/>
                  </a:lnTo>
                  <a:lnTo>
                    <a:pt x="1610" y="212008"/>
                  </a:lnTo>
                  <a:lnTo>
                    <a:pt x="14283" y="259289"/>
                  </a:lnTo>
                  <a:lnTo>
                    <a:pt x="38888" y="301868"/>
                  </a:lnTo>
                  <a:lnTo>
                    <a:pt x="73401" y="336236"/>
                  </a:lnTo>
                  <a:lnTo>
                    <a:pt x="115980" y="360835"/>
                  </a:lnTo>
                  <a:lnTo>
                    <a:pt x="163117" y="373509"/>
                  </a:lnTo>
                  <a:lnTo>
                    <a:pt x="187566" y="375119"/>
                  </a:lnTo>
                  <a:lnTo>
                    <a:pt x="212021" y="373509"/>
                  </a:lnTo>
                  <a:lnTo>
                    <a:pt x="259302" y="360835"/>
                  </a:lnTo>
                  <a:lnTo>
                    <a:pt x="301881" y="336236"/>
                  </a:lnTo>
                  <a:lnTo>
                    <a:pt x="336249" y="301868"/>
                  </a:lnTo>
                  <a:lnTo>
                    <a:pt x="360846" y="259289"/>
                  </a:lnTo>
                  <a:lnTo>
                    <a:pt x="373511" y="212008"/>
                  </a:lnTo>
                  <a:lnTo>
                    <a:pt x="375119" y="187553"/>
                  </a:lnTo>
                  <a:lnTo>
                    <a:pt x="373511" y="163109"/>
                  </a:lnTo>
                  <a:lnTo>
                    <a:pt x="360846" y="115969"/>
                  </a:lnTo>
                  <a:lnTo>
                    <a:pt x="336243" y="73388"/>
                  </a:lnTo>
                  <a:lnTo>
                    <a:pt x="301731" y="38876"/>
                  </a:lnTo>
                  <a:lnTo>
                    <a:pt x="259152" y="14273"/>
                  </a:lnTo>
                  <a:lnTo>
                    <a:pt x="212015" y="1608"/>
                  </a:lnTo>
                  <a:lnTo>
                    <a:pt x="187566" y="0"/>
                  </a:lnTo>
                  <a:close/>
                </a:path>
              </a:pathLst>
            </a:custGeom>
            <a:solidFill>
              <a:srgbClr val="4377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59942" y="2175385"/>
            <a:ext cx="25527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20" b="1">
                <a:solidFill>
                  <a:srgbClr val="FFFFFF"/>
                </a:solidFill>
                <a:latin typeface="Yu Gothic"/>
                <a:cs typeface="Yu Gothic"/>
              </a:rPr>
              <a:t>01</a:t>
            </a:r>
            <a:endParaRPr sz="1300">
              <a:latin typeface="Yu Gothic"/>
              <a:cs typeface="Yu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1744" y="2084009"/>
            <a:ext cx="4666615" cy="43751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400" spc="-120" b="1">
                <a:solidFill>
                  <a:srgbClr val="202020"/>
                </a:solidFill>
                <a:latin typeface="Malgun Gothic"/>
                <a:cs typeface="Malgun Gothic"/>
              </a:rPr>
              <a:t>초기</a:t>
            </a:r>
            <a:r>
              <a:rPr dirty="0" sz="1400" spc="-7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설계는</a:t>
            </a:r>
            <a:r>
              <a:rPr dirty="0" sz="14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0" b="1">
                <a:solidFill>
                  <a:srgbClr val="202020"/>
                </a:solidFill>
                <a:latin typeface="Malgun Gothic"/>
                <a:cs typeface="Malgun Gothic"/>
              </a:rPr>
              <a:t>모방학습</a:t>
            </a:r>
            <a:r>
              <a:rPr dirty="0" sz="14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25" b="1">
                <a:solidFill>
                  <a:srgbClr val="202020"/>
                </a:solidFill>
                <a:latin typeface="Malgun Gothic"/>
                <a:cs typeface="Malgun Gothic"/>
              </a:rPr>
              <a:t>기반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900">
                <a:solidFill>
                  <a:srgbClr val="959595"/>
                </a:solidFill>
                <a:latin typeface="Malgun Gothic"/>
                <a:cs typeface="Malgun Gothic"/>
              </a:rPr>
              <a:t>시연</a:t>
            </a:r>
            <a:r>
              <a:rPr dirty="0" sz="900" spc="1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70">
                <a:solidFill>
                  <a:srgbClr val="959595"/>
                </a:solidFill>
                <a:latin typeface="Microsoft Sans Serif"/>
                <a:cs typeface="Microsoft Sans Serif"/>
              </a:rPr>
              <a:t>112</a:t>
            </a:r>
            <a:r>
              <a:rPr dirty="0" sz="900" spc="-5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개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에피소드</a:t>
            </a:r>
            <a:r>
              <a:rPr dirty="0" sz="900" spc="-6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수집</a:t>
            </a:r>
            <a:r>
              <a:rPr dirty="0" sz="900" spc="-9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959595"/>
                </a:solidFill>
                <a:latin typeface="Microsoft Sans Serif"/>
                <a:cs typeface="Microsoft Sans Serif"/>
              </a:rPr>
              <a:t>,</a:t>
            </a:r>
            <a:r>
              <a:rPr dirty="0" sz="900" spc="5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959595"/>
                </a:solidFill>
                <a:latin typeface="Microsoft Sans Serif"/>
                <a:cs typeface="Microsoft Sans Serif"/>
              </a:rPr>
              <a:t>SmolVLA</a:t>
            </a:r>
            <a:r>
              <a:rPr dirty="0" sz="900" spc="-2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959595"/>
                </a:solidFill>
                <a:latin typeface="Malgun Gothic"/>
                <a:cs typeface="Malgun Gothic"/>
              </a:rPr>
              <a:t>는</a:t>
            </a:r>
            <a:r>
              <a:rPr dirty="0" sz="900" spc="1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65">
                <a:solidFill>
                  <a:srgbClr val="959595"/>
                </a:solidFill>
                <a:latin typeface="Microsoft Sans Serif"/>
                <a:cs typeface="Microsoft Sans Serif"/>
              </a:rPr>
              <a:t>51</a:t>
            </a:r>
            <a:r>
              <a:rPr dirty="0" sz="900" spc="-1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개</a:t>
            </a:r>
            <a:r>
              <a:rPr dirty="0" sz="900" spc="-10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55">
                <a:solidFill>
                  <a:srgbClr val="959595"/>
                </a:solidFill>
                <a:latin typeface="Microsoft Sans Serif"/>
                <a:cs typeface="Microsoft Sans Serif"/>
              </a:rPr>
              <a:t>·8,000</a:t>
            </a:r>
            <a:r>
              <a:rPr dirty="0" sz="900" spc="-5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스텝</a:t>
            </a:r>
            <a:r>
              <a:rPr dirty="0" sz="900" spc="-6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파인튜닝</a:t>
            </a:r>
            <a:r>
              <a:rPr dirty="0" sz="900" spc="-10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959595"/>
                </a:solidFill>
                <a:latin typeface="Microsoft Sans Serif"/>
                <a:cs typeface="Microsoft Sans Serif"/>
              </a:rPr>
              <a:t>,</a:t>
            </a:r>
            <a:r>
              <a:rPr dirty="0" sz="900" spc="6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959595"/>
                </a:solidFill>
                <a:latin typeface="Microsoft Sans Serif"/>
                <a:cs typeface="Microsoft Sans Serif"/>
              </a:rPr>
              <a:t>gRPC</a:t>
            </a:r>
            <a:r>
              <a:rPr dirty="0" sz="900" spc="27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원격</a:t>
            </a:r>
            <a:r>
              <a:rPr dirty="0" sz="900" spc="-6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추론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959595"/>
                </a:solidFill>
                <a:latin typeface="Malgun Gothic"/>
                <a:cs typeface="Malgun Gothic"/>
              </a:rPr>
              <a:t>구성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9553" y="2924646"/>
            <a:ext cx="375285" cy="375285"/>
          </a:xfrm>
          <a:custGeom>
            <a:avLst/>
            <a:gdLst/>
            <a:ahLst/>
            <a:cxnLst/>
            <a:rect l="l" t="t" r="r" b="b"/>
            <a:pathLst>
              <a:path w="375284" h="375285">
                <a:moveTo>
                  <a:pt x="187566" y="0"/>
                </a:moveTo>
                <a:lnTo>
                  <a:pt x="139142" y="6388"/>
                </a:lnTo>
                <a:lnTo>
                  <a:pt x="93967" y="25196"/>
                </a:lnTo>
                <a:lnTo>
                  <a:pt x="54997" y="54984"/>
                </a:lnTo>
                <a:lnTo>
                  <a:pt x="25209" y="93954"/>
                </a:lnTo>
                <a:lnTo>
                  <a:pt x="6394" y="139134"/>
                </a:lnTo>
                <a:lnTo>
                  <a:pt x="0" y="187553"/>
                </a:lnTo>
                <a:lnTo>
                  <a:pt x="1610" y="212008"/>
                </a:lnTo>
                <a:lnTo>
                  <a:pt x="14283" y="259294"/>
                </a:lnTo>
                <a:lnTo>
                  <a:pt x="38888" y="301874"/>
                </a:lnTo>
                <a:lnTo>
                  <a:pt x="73401" y="336236"/>
                </a:lnTo>
                <a:lnTo>
                  <a:pt x="115980" y="360835"/>
                </a:lnTo>
                <a:lnTo>
                  <a:pt x="163117" y="373509"/>
                </a:lnTo>
                <a:lnTo>
                  <a:pt x="187566" y="375119"/>
                </a:lnTo>
                <a:lnTo>
                  <a:pt x="212021" y="373509"/>
                </a:lnTo>
                <a:lnTo>
                  <a:pt x="259302" y="360835"/>
                </a:lnTo>
                <a:lnTo>
                  <a:pt x="301881" y="336236"/>
                </a:lnTo>
                <a:lnTo>
                  <a:pt x="336249" y="301874"/>
                </a:lnTo>
                <a:lnTo>
                  <a:pt x="360846" y="259294"/>
                </a:lnTo>
                <a:lnTo>
                  <a:pt x="373511" y="212008"/>
                </a:lnTo>
                <a:lnTo>
                  <a:pt x="375119" y="187553"/>
                </a:lnTo>
                <a:lnTo>
                  <a:pt x="373511" y="163109"/>
                </a:lnTo>
                <a:lnTo>
                  <a:pt x="360846" y="115969"/>
                </a:lnTo>
                <a:lnTo>
                  <a:pt x="336243" y="73388"/>
                </a:lnTo>
                <a:lnTo>
                  <a:pt x="301731" y="38876"/>
                </a:lnTo>
                <a:lnTo>
                  <a:pt x="259152" y="14273"/>
                </a:lnTo>
                <a:lnTo>
                  <a:pt x="212015" y="1608"/>
                </a:lnTo>
                <a:lnTo>
                  <a:pt x="187566" y="0"/>
                </a:lnTo>
                <a:close/>
              </a:path>
            </a:pathLst>
          </a:custGeom>
          <a:solidFill>
            <a:srgbClr val="437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59942" y="3000859"/>
            <a:ext cx="25527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20" b="1">
                <a:solidFill>
                  <a:srgbClr val="FFFFFF"/>
                </a:solidFill>
                <a:latin typeface="Yu Gothic"/>
                <a:cs typeface="Yu Gothic"/>
              </a:rPr>
              <a:t>02</a:t>
            </a:r>
            <a:endParaRPr sz="13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1744" y="2905819"/>
            <a:ext cx="3693160" cy="44069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400" spc="-120" b="1">
                <a:solidFill>
                  <a:srgbClr val="202020"/>
                </a:solidFill>
                <a:latin typeface="Malgun Gothic"/>
                <a:cs typeface="Malgun Gothic"/>
              </a:rPr>
              <a:t>문제</a:t>
            </a:r>
            <a:r>
              <a:rPr dirty="0" sz="1400" spc="-7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95" b="1">
                <a:solidFill>
                  <a:srgbClr val="202020"/>
                </a:solidFill>
                <a:latin typeface="Malgun Gothic"/>
                <a:cs typeface="Malgun Gothic"/>
              </a:rPr>
              <a:t>—</a:t>
            </a:r>
            <a:r>
              <a:rPr dirty="0" sz="1400" spc="-8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파지</a:t>
            </a:r>
            <a:r>
              <a:rPr dirty="0" sz="14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성능이</a:t>
            </a:r>
            <a:r>
              <a:rPr dirty="0" sz="1400" spc="-7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20" b="1">
                <a:solidFill>
                  <a:srgbClr val="202020"/>
                </a:solidFill>
                <a:latin typeface="Malgun Gothic"/>
                <a:cs typeface="Malgun Gothic"/>
              </a:rPr>
              <a:t>미션</a:t>
            </a:r>
            <a:r>
              <a:rPr dirty="0" sz="14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요구</a:t>
            </a:r>
            <a:r>
              <a:rPr dirty="0" sz="14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수준에</a:t>
            </a:r>
            <a:r>
              <a:rPr dirty="0" sz="1400" spc="-7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35" b="1">
                <a:solidFill>
                  <a:srgbClr val="202020"/>
                </a:solidFill>
                <a:latin typeface="Malgun Gothic"/>
                <a:cs typeface="Malgun Gothic"/>
              </a:rPr>
              <a:t>미달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900">
                <a:solidFill>
                  <a:srgbClr val="959595"/>
                </a:solidFill>
                <a:latin typeface="Microsoft Sans Serif"/>
                <a:cs typeface="Microsoft Sans Serif"/>
              </a:rPr>
              <a:t>ACT</a:t>
            </a:r>
            <a:r>
              <a:rPr dirty="0" sz="900" spc="28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단일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블록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959595"/>
                </a:solidFill>
                <a:latin typeface="Malgun Gothic"/>
                <a:cs typeface="Malgun Gothic"/>
              </a:rPr>
              <a:t>이동</a:t>
            </a:r>
            <a:r>
              <a:rPr dirty="0" sz="900" spc="1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60">
                <a:solidFill>
                  <a:srgbClr val="959595"/>
                </a:solidFill>
                <a:latin typeface="Microsoft Sans Serif"/>
                <a:cs typeface="Microsoft Sans Serif"/>
              </a:rPr>
              <a:t>29/50</a:t>
            </a:r>
            <a:r>
              <a:rPr dirty="0" sz="900" spc="-5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회</a:t>
            </a:r>
            <a:r>
              <a:rPr dirty="0" sz="900" spc="-10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50">
                <a:solidFill>
                  <a:srgbClr val="959595"/>
                </a:solidFill>
                <a:latin typeface="Microsoft Sans Serif"/>
                <a:cs typeface="Microsoft Sans Serif"/>
              </a:rPr>
              <a:t>(58%), </a:t>
            </a:r>
            <a:r>
              <a:rPr dirty="0" sz="900">
                <a:solidFill>
                  <a:srgbClr val="959595"/>
                </a:solidFill>
                <a:latin typeface="Microsoft Sans Serif"/>
                <a:cs typeface="Microsoft Sans Serif"/>
              </a:rPr>
              <a:t>SmolVLA</a:t>
            </a:r>
            <a:r>
              <a:rPr dirty="0" sz="900" spc="-2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는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목표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근처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접근에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959595"/>
                </a:solidFill>
                <a:latin typeface="Malgun Gothic"/>
                <a:cs typeface="Malgun Gothic"/>
              </a:rPr>
              <a:t>그침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9553" y="3749766"/>
            <a:ext cx="375285" cy="375285"/>
          </a:xfrm>
          <a:custGeom>
            <a:avLst/>
            <a:gdLst/>
            <a:ahLst/>
            <a:cxnLst/>
            <a:rect l="l" t="t" r="r" b="b"/>
            <a:pathLst>
              <a:path w="375284" h="375285">
                <a:moveTo>
                  <a:pt x="187566" y="0"/>
                </a:moveTo>
                <a:lnTo>
                  <a:pt x="139142" y="6388"/>
                </a:lnTo>
                <a:lnTo>
                  <a:pt x="93967" y="25196"/>
                </a:lnTo>
                <a:lnTo>
                  <a:pt x="54997" y="54984"/>
                </a:lnTo>
                <a:lnTo>
                  <a:pt x="25209" y="93954"/>
                </a:lnTo>
                <a:lnTo>
                  <a:pt x="6394" y="139134"/>
                </a:lnTo>
                <a:lnTo>
                  <a:pt x="0" y="187553"/>
                </a:lnTo>
                <a:lnTo>
                  <a:pt x="1610" y="212008"/>
                </a:lnTo>
                <a:lnTo>
                  <a:pt x="14283" y="259294"/>
                </a:lnTo>
                <a:lnTo>
                  <a:pt x="38888" y="301875"/>
                </a:lnTo>
                <a:lnTo>
                  <a:pt x="73401" y="336242"/>
                </a:lnTo>
                <a:lnTo>
                  <a:pt x="115980" y="360835"/>
                </a:lnTo>
                <a:lnTo>
                  <a:pt x="163117" y="373509"/>
                </a:lnTo>
                <a:lnTo>
                  <a:pt x="187566" y="375119"/>
                </a:lnTo>
                <a:lnTo>
                  <a:pt x="212021" y="373509"/>
                </a:lnTo>
                <a:lnTo>
                  <a:pt x="259302" y="360835"/>
                </a:lnTo>
                <a:lnTo>
                  <a:pt x="301881" y="336242"/>
                </a:lnTo>
                <a:lnTo>
                  <a:pt x="336249" y="301875"/>
                </a:lnTo>
                <a:lnTo>
                  <a:pt x="360846" y="259294"/>
                </a:lnTo>
                <a:lnTo>
                  <a:pt x="373511" y="212008"/>
                </a:lnTo>
                <a:lnTo>
                  <a:pt x="375119" y="187553"/>
                </a:lnTo>
                <a:lnTo>
                  <a:pt x="373511" y="163109"/>
                </a:lnTo>
                <a:lnTo>
                  <a:pt x="360846" y="115969"/>
                </a:lnTo>
                <a:lnTo>
                  <a:pt x="336243" y="73388"/>
                </a:lnTo>
                <a:lnTo>
                  <a:pt x="301731" y="38876"/>
                </a:lnTo>
                <a:lnTo>
                  <a:pt x="259152" y="14273"/>
                </a:lnTo>
                <a:lnTo>
                  <a:pt x="212015" y="1608"/>
                </a:lnTo>
                <a:lnTo>
                  <a:pt x="187566" y="0"/>
                </a:lnTo>
                <a:close/>
              </a:path>
            </a:pathLst>
          </a:custGeom>
          <a:solidFill>
            <a:srgbClr val="437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59942" y="3825267"/>
            <a:ext cx="25527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20" b="1">
                <a:solidFill>
                  <a:srgbClr val="FFFFFF"/>
                </a:solidFill>
                <a:latin typeface="Yu Gothic"/>
                <a:cs typeface="Yu Gothic"/>
              </a:rPr>
              <a:t>03</a:t>
            </a:r>
            <a:endParaRPr sz="13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1744" y="3733523"/>
            <a:ext cx="3901440" cy="43751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dirty="0" sz="1400" spc="-120" b="1">
                <a:solidFill>
                  <a:srgbClr val="202020"/>
                </a:solidFill>
                <a:latin typeface="Malgun Gothic"/>
                <a:cs typeface="Malgun Gothic"/>
              </a:rPr>
              <a:t>해결</a:t>
            </a:r>
            <a:r>
              <a:rPr dirty="0" sz="1400" spc="-8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95" b="1">
                <a:solidFill>
                  <a:srgbClr val="202020"/>
                </a:solidFill>
                <a:latin typeface="Malgun Gothic"/>
                <a:cs typeface="Malgun Gothic"/>
              </a:rPr>
              <a:t>—</a:t>
            </a:r>
            <a:r>
              <a:rPr dirty="0" sz="1400" spc="-10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규칙</a:t>
            </a:r>
            <a:r>
              <a:rPr dirty="0" sz="1400" spc="-9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202020"/>
                </a:solidFill>
                <a:latin typeface="Malgun Gothic"/>
                <a:cs typeface="Malgun Gothic"/>
              </a:rPr>
              <a:t>기반</a:t>
            </a:r>
            <a:r>
              <a:rPr dirty="0" sz="1400" spc="14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65" b="1">
                <a:solidFill>
                  <a:srgbClr val="202020"/>
                </a:solidFill>
                <a:latin typeface="Yu Gothic"/>
                <a:cs typeface="Yu Gothic"/>
              </a:rPr>
              <a:t>CV</a:t>
            </a:r>
            <a:r>
              <a:rPr dirty="0" sz="1400" spc="85" b="1">
                <a:solidFill>
                  <a:srgbClr val="202020"/>
                </a:solidFill>
                <a:latin typeface="Yu Gothic"/>
                <a:cs typeface="Yu Gothic"/>
              </a:rPr>
              <a:t> </a:t>
            </a:r>
            <a:r>
              <a:rPr dirty="0" sz="1400" spc="130" b="1">
                <a:solidFill>
                  <a:srgbClr val="202020"/>
                </a:solidFill>
                <a:latin typeface="Yu Gothic"/>
                <a:cs typeface="Yu Gothic"/>
              </a:rPr>
              <a:t>+</a:t>
            </a:r>
            <a:r>
              <a:rPr dirty="0" sz="1400" spc="65" b="1">
                <a:solidFill>
                  <a:srgbClr val="202020"/>
                </a:solidFill>
                <a:latin typeface="Yu Gothic"/>
                <a:cs typeface="Yu Gothic"/>
              </a:rPr>
              <a:t> </a:t>
            </a:r>
            <a:r>
              <a:rPr dirty="0" sz="1400" spc="75" b="1">
                <a:solidFill>
                  <a:srgbClr val="202020"/>
                </a:solidFill>
                <a:latin typeface="Yu Gothic"/>
                <a:cs typeface="Yu Gothic"/>
              </a:rPr>
              <a:t>IK</a:t>
            </a:r>
            <a:r>
              <a:rPr dirty="0" sz="1400" spc="-70" b="1">
                <a:solidFill>
                  <a:srgbClr val="202020"/>
                </a:solidFill>
                <a:latin typeface="Yu Gothic"/>
                <a:cs typeface="Yu Gothic"/>
              </a:rPr>
              <a:t> </a:t>
            </a:r>
            <a:r>
              <a:rPr dirty="0" sz="1400" spc="-120" b="1">
                <a:solidFill>
                  <a:srgbClr val="202020"/>
                </a:solidFill>
                <a:latin typeface="Malgun Gothic"/>
                <a:cs typeface="Malgun Gothic"/>
              </a:rPr>
              <a:t>로</a:t>
            </a:r>
            <a:r>
              <a:rPr dirty="0" sz="1400" spc="-9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25" b="1">
                <a:solidFill>
                  <a:srgbClr val="202020"/>
                </a:solidFill>
                <a:latin typeface="Malgun Gothic"/>
                <a:cs typeface="Malgun Gothic"/>
              </a:rPr>
              <a:t>전환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고정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30">
                <a:solidFill>
                  <a:srgbClr val="959595"/>
                </a:solidFill>
                <a:latin typeface="Malgun Gothic"/>
                <a:cs typeface="Malgun Gothic"/>
              </a:rPr>
              <a:t>카메라</a:t>
            </a:r>
            <a:r>
              <a:rPr dirty="0" sz="900" spc="14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959595"/>
                </a:solidFill>
                <a:latin typeface="Microsoft Sans Serif"/>
                <a:cs typeface="Microsoft Sans Serif"/>
              </a:rPr>
              <a:t>·</a:t>
            </a:r>
            <a:r>
              <a:rPr dirty="0" sz="900" spc="26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평면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위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단색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블록은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기하로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규정되는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문제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130">
                <a:solidFill>
                  <a:srgbClr val="959595"/>
                </a:solidFill>
                <a:latin typeface="Malgun Gothic"/>
                <a:cs typeface="Malgun Gothic"/>
              </a:rPr>
              <a:t>—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실패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원인이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35">
                <a:solidFill>
                  <a:srgbClr val="959595"/>
                </a:solidFill>
                <a:latin typeface="Malgun Gothic"/>
                <a:cs typeface="Malgun Gothic"/>
              </a:rPr>
              <a:t>국소화됨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13180" y="4527260"/>
            <a:ext cx="417766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60">
                <a:solidFill>
                  <a:srgbClr val="959595"/>
                </a:solidFill>
                <a:latin typeface="Malgun Gothic"/>
                <a:cs typeface="Malgun Gothic"/>
              </a:rPr>
              <a:t>※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색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30">
                <a:solidFill>
                  <a:srgbClr val="959595"/>
                </a:solidFill>
                <a:latin typeface="Malgun Gothic"/>
                <a:cs typeface="Malgun Gothic"/>
              </a:rPr>
              <a:t>임계값</a:t>
            </a:r>
            <a:r>
              <a:rPr dirty="0" sz="900" spc="114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959595"/>
                </a:solidFill>
                <a:latin typeface="Microsoft Sans Serif"/>
                <a:cs typeface="Microsoft Sans Serif"/>
              </a:rPr>
              <a:t>·</a:t>
            </a:r>
            <a:r>
              <a:rPr dirty="0" sz="900" spc="22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기하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959595"/>
                </a:solidFill>
                <a:latin typeface="Malgun Gothic"/>
                <a:cs typeface="Malgun Gothic"/>
              </a:rPr>
              <a:t>계산</a:t>
            </a:r>
            <a:r>
              <a:rPr dirty="0" sz="900" spc="114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959595"/>
                </a:solidFill>
                <a:latin typeface="Microsoft Sans Serif"/>
                <a:cs typeface="Microsoft Sans Serif"/>
              </a:rPr>
              <a:t>·</a:t>
            </a:r>
            <a:r>
              <a:rPr dirty="0" sz="900" spc="2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959595"/>
                </a:solidFill>
                <a:latin typeface="Microsoft Sans Serif"/>
                <a:cs typeface="Microsoft Sans Serif"/>
              </a:rPr>
              <a:t>IK</a:t>
            </a:r>
            <a:r>
              <a:rPr dirty="0" sz="900" spc="-45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는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비학습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알고리즘이므로</a:t>
            </a:r>
            <a:r>
              <a:rPr dirty="0" sz="900" spc="-10">
                <a:solidFill>
                  <a:srgbClr val="959595"/>
                </a:solidFill>
                <a:latin typeface="Malgun Gothic"/>
                <a:cs typeface="Malgun Gothic"/>
              </a:rPr>
              <a:t> 「 </a:t>
            </a:r>
            <a:r>
              <a:rPr dirty="0" sz="900" spc="-25">
                <a:solidFill>
                  <a:srgbClr val="959595"/>
                </a:solidFill>
                <a:latin typeface="Malgun Gothic"/>
                <a:cs typeface="Malgun Gothic"/>
              </a:rPr>
              <a:t>신경망</a:t>
            </a:r>
            <a:r>
              <a:rPr dirty="0" sz="900" spc="11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70">
                <a:solidFill>
                  <a:srgbClr val="959595"/>
                </a:solidFill>
                <a:latin typeface="Microsoft Sans Serif"/>
                <a:cs typeface="Microsoft Sans Serif"/>
              </a:rPr>
              <a:t>1</a:t>
            </a:r>
            <a:r>
              <a:rPr dirty="0" sz="900" spc="-4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90">
                <a:solidFill>
                  <a:srgbClr val="959595"/>
                </a:solidFill>
                <a:latin typeface="Malgun Gothic"/>
                <a:cs typeface="Malgun Gothic"/>
              </a:rPr>
              <a:t>개</a:t>
            </a:r>
            <a:r>
              <a:rPr dirty="0" sz="900" spc="215">
                <a:solidFill>
                  <a:srgbClr val="959595"/>
                </a:solidFill>
                <a:latin typeface="Malgun Gothic"/>
                <a:cs typeface="Malgun Gothic"/>
              </a:rPr>
              <a:t>」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규정과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959595"/>
                </a:solidFill>
                <a:latin typeface="Malgun Gothic"/>
                <a:cs typeface="Malgun Gothic"/>
              </a:rPr>
              <a:t>무관</a:t>
            </a:r>
            <a:endParaRPr sz="9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5599" y="3711246"/>
            <a:ext cx="2499995" cy="1270"/>
          </a:xfrm>
          <a:custGeom>
            <a:avLst/>
            <a:gdLst/>
            <a:ahLst/>
            <a:cxnLst/>
            <a:rect l="l" t="t" r="r" b="b"/>
            <a:pathLst>
              <a:path w="2499995" h="1270">
                <a:moveTo>
                  <a:pt x="0" y="0"/>
                </a:moveTo>
                <a:lnTo>
                  <a:pt x="2499487" y="711"/>
                </a:lnTo>
              </a:path>
            </a:pathLst>
          </a:custGeom>
          <a:ln w="19079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72655" y="1390575"/>
            <a:ext cx="2705735" cy="4070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➃</a:t>
            </a:r>
            <a:r>
              <a:rPr dirty="0" spc="290"/>
              <a:t> </a:t>
            </a:r>
            <a:r>
              <a:rPr dirty="0" spc="-204"/>
              <a:t>전체</a:t>
            </a:r>
            <a:r>
              <a:rPr dirty="0" spc="-185"/>
              <a:t> </a:t>
            </a:r>
            <a:r>
              <a:rPr dirty="0" spc="-215"/>
              <a:t>시스템</a:t>
            </a:r>
            <a:r>
              <a:rPr dirty="0" spc="-180"/>
              <a:t> </a:t>
            </a:r>
            <a:r>
              <a:rPr dirty="0" spc="-170"/>
              <a:t>구조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1814" y="1090703"/>
            <a:ext cx="186372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95">
                <a:solidFill>
                  <a:srgbClr val="202020"/>
                </a:solidFill>
                <a:latin typeface="Malgun Gothic"/>
                <a:cs typeface="Malgun Gothic"/>
              </a:rPr>
              <a:t>카메라</a:t>
            </a:r>
            <a:r>
              <a:rPr dirty="0" sz="1000" spc="-8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202020"/>
                </a:solidFill>
                <a:latin typeface="Malgun Gothic"/>
                <a:cs typeface="Malgun Gothic"/>
              </a:rPr>
              <a:t>→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 인식</a:t>
            </a:r>
            <a:r>
              <a:rPr dirty="0" sz="1000" spc="-8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202020"/>
                </a:solidFill>
                <a:latin typeface="Malgun Gothic"/>
                <a:cs typeface="Malgun Gothic"/>
              </a:rPr>
              <a:t>→</a:t>
            </a:r>
            <a:r>
              <a:rPr dirty="0" sz="1000" spc="14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202020"/>
                </a:solidFill>
                <a:latin typeface="Microsoft Sans Serif"/>
                <a:cs typeface="Microsoft Sans Serif"/>
              </a:rPr>
              <a:t>IK</a:t>
            </a:r>
            <a:r>
              <a:rPr dirty="0" sz="1000" spc="3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202020"/>
                </a:solidFill>
                <a:latin typeface="Microsoft Sans Serif"/>
                <a:cs typeface="Microsoft Sans Serif"/>
              </a:rPr>
              <a:t>→</a:t>
            </a:r>
            <a:r>
              <a:rPr dirty="0" sz="1000" spc="27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상태</a:t>
            </a:r>
            <a:r>
              <a:rPr dirty="0" sz="1000" spc="-8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25">
                <a:solidFill>
                  <a:srgbClr val="202020"/>
                </a:solidFill>
                <a:latin typeface="Malgun Gothic"/>
                <a:cs typeface="Malgun Gothic"/>
              </a:rPr>
              <a:t>제어</a:t>
            </a:r>
            <a:endParaRPr sz="1000">
              <a:latin typeface="Malgun Gothic"/>
              <a:cs typeface="Malgun Gothic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14438" y="2235595"/>
          <a:ext cx="8191500" cy="238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8475"/>
                <a:gridCol w="5076190"/>
              </a:tblGrid>
              <a:tr h="538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45110">
                        <a:lnSpc>
                          <a:spcPct val="100000"/>
                        </a:lnSpc>
                      </a:pPr>
                      <a:r>
                        <a:rPr dirty="0" sz="1300" spc="55" b="1">
                          <a:solidFill>
                            <a:srgbClr val="4377FA"/>
                          </a:solidFill>
                          <a:latin typeface="Yu Gothic"/>
                          <a:cs typeface="Yu Gothic"/>
                        </a:rPr>
                        <a:t>CV</a:t>
                      </a:r>
                      <a:r>
                        <a:rPr dirty="0" sz="1300" spc="85" b="1">
                          <a:solidFill>
                            <a:srgbClr val="4377FA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dirty="0" sz="1300" spc="125" b="1">
                          <a:solidFill>
                            <a:srgbClr val="4377FA"/>
                          </a:solidFill>
                          <a:latin typeface="Yu Gothic"/>
                          <a:cs typeface="Yu Gothic"/>
                        </a:rPr>
                        <a:t>+</a:t>
                      </a:r>
                      <a:r>
                        <a:rPr dirty="0" sz="1300" spc="80" b="1">
                          <a:solidFill>
                            <a:srgbClr val="4377FA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dirty="0" sz="1300" spc="65" b="1">
                          <a:solidFill>
                            <a:srgbClr val="4377FA"/>
                          </a:solidFill>
                          <a:latin typeface="Yu Gothic"/>
                          <a:cs typeface="Yu Gothic"/>
                        </a:rPr>
                        <a:t>IK</a:t>
                      </a:r>
                      <a:r>
                        <a:rPr dirty="0" sz="1300" spc="405" b="1">
                          <a:solidFill>
                            <a:srgbClr val="4377FA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dirty="0" sz="1300" spc="-20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파이프라인</a:t>
                      </a:r>
                      <a:endParaRPr sz="1300">
                        <a:latin typeface="Malgun Gothic"/>
                        <a:cs typeface="Malgun Gothic"/>
                      </a:endParaRPr>
                    </a:p>
                  </a:txBody>
                  <a:tcPr marL="0" marR="0" marB="0" marT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카메라</a:t>
                      </a:r>
                      <a:r>
                        <a:rPr dirty="0" sz="800" spc="-2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서버가</a:t>
                      </a:r>
                      <a:r>
                        <a:rPr dirty="0" sz="800" spc="-2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장치를</a:t>
                      </a:r>
                      <a:r>
                        <a:rPr dirty="0" sz="800" spc="-2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6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단독으로</a:t>
                      </a:r>
                      <a:r>
                        <a:rPr dirty="0" sz="800" spc="-3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6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소유하고</a:t>
                      </a:r>
                      <a:r>
                        <a:rPr dirty="0" sz="800" spc="-4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>
                          <a:solidFill>
                            <a:srgbClr val="959595"/>
                          </a:solidFill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dirty="0" sz="800" spc="260">
                          <a:solidFill>
                            <a:srgbClr val="959595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실행</a:t>
                      </a:r>
                      <a:r>
                        <a:rPr dirty="0" sz="800" spc="-3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2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경로와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B="0" marT="8001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표시</a:t>
                      </a:r>
                      <a:r>
                        <a:rPr dirty="0" sz="800" spc="-3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경로가</a:t>
                      </a:r>
                      <a:r>
                        <a:rPr dirty="0" sz="800" spc="-3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800" spc="-1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나눠</a:t>
                      </a:r>
                      <a:r>
                        <a:rPr dirty="0" sz="800" spc="-30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6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씁니다</a:t>
                      </a:r>
                      <a:r>
                        <a:rPr dirty="0" sz="800" spc="-45">
                          <a:solidFill>
                            <a:srgbClr val="959595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50">
                          <a:solidFill>
                            <a:srgbClr val="959595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04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25"/>
                        </a:lnSpc>
                      </a:pPr>
                      <a:r>
                        <a:rPr dirty="0" sz="1200" spc="-100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사진</a:t>
                      </a:r>
                      <a:r>
                        <a:rPr dirty="0" sz="1200" spc="-90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200" spc="-25" b="1">
                          <a:solidFill>
                            <a:srgbClr val="4377FA"/>
                          </a:solidFill>
                          <a:latin typeface="Malgun Gothic"/>
                          <a:cs typeface="Malgun Gothic"/>
                        </a:rPr>
                        <a:t>삽입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170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900" spc="-8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시스템</a:t>
                      </a:r>
                      <a:r>
                        <a:rPr dirty="0" sz="900" spc="-5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7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아키텍처</a:t>
                      </a:r>
                      <a:r>
                        <a:rPr dirty="0" sz="900" spc="-5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-1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다이어그램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B="0" marT="1143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87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900" spc="50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dirty="0" sz="900" spc="-60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900" spc="-8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보고서</a:t>
                      </a:r>
                      <a:r>
                        <a:rPr dirty="0" sz="900" spc="-65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그림</a:t>
                      </a:r>
                      <a:r>
                        <a:rPr dirty="0" sz="900" spc="50">
                          <a:solidFill>
                            <a:srgbClr val="8B929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35">
                          <a:solidFill>
                            <a:srgbClr val="8B929F"/>
                          </a:solidFill>
                          <a:latin typeface="Microsoft Sans Serif"/>
                          <a:cs typeface="Microsoft Sans Serif"/>
                        </a:rPr>
                        <a:t>3.1)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397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14020" indent="-8953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414020" algn="l"/>
                        </a:tabLst>
                      </a:pP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스냅샷</a:t>
                      </a:r>
                      <a:r>
                        <a:rPr dirty="0" sz="800" spc="-3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→</a:t>
                      </a:r>
                      <a:r>
                        <a:rPr dirty="0" sz="800" spc="-5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정면화</a:t>
                      </a:r>
                      <a:r>
                        <a:rPr dirty="0" sz="800" spc="-4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→</a:t>
                      </a:r>
                      <a:r>
                        <a:rPr dirty="0" sz="800" spc="-4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색</a:t>
                      </a:r>
                      <a:r>
                        <a:rPr dirty="0" sz="800" spc="18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·</a:t>
                      </a:r>
                      <a:r>
                        <a:rPr dirty="0" sz="800" spc="229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형상</a:t>
                      </a:r>
                      <a:r>
                        <a:rPr dirty="0" sz="800" spc="-4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2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검출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B="0" marT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 marL="414020" indent="-89535">
                        <a:lnSpc>
                          <a:spcPct val="100000"/>
                        </a:lnSpc>
                        <a:spcBef>
                          <a:spcPts val="350"/>
                        </a:spcBef>
                        <a:buFont typeface="Arial MT"/>
                        <a:buChar char="•"/>
                        <a:tabLst>
                          <a:tab pos="414020" algn="l"/>
                        </a:tabLst>
                      </a:pPr>
                      <a:r>
                        <a:rPr dirty="0" sz="800" spc="-10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PICK</a:t>
                      </a:r>
                      <a:r>
                        <a:rPr dirty="0" sz="800" spc="-25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800" spc="-145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dirty="0" sz="800" spc="35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800" spc="-10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VERIFY</a:t>
                      </a:r>
                      <a:r>
                        <a:rPr dirty="0" sz="800" spc="30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800" spc="-145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dirty="0" sz="800" spc="35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800" spc="-20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TRANSPORT</a:t>
                      </a:r>
                      <a:r>
                        <a:rPr dirty="0" sz="800" spc="20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800" spc="-145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dirty="0" sz="800" spc="45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800" spc="-20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PLACE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4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marL="414020" indent="-89535">
                        <a:lnSpc>
                          <a:spcPct val="100000"/>
                        </a:lnSpc>
                        <a:spcBef>
                          <a:spcPts val="345"/>
                        </a:spcBef>
                        <a:buFont typeface="Arial MT"/>
                        <a:buChar char="•"/>
                        <a:tabLst>
                          <a:tab pos="414020" algn="l"/>
                        </a:tabLst>
                      </a:pPr>
                      <a:r>
                        <a:rPr dirty="0" sz="800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Task</a:t>
                      </a:r>
                      <a:r>
                        <a:rPr dirty="0" sz="800" spc="-15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800" spc="55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dirty="0" sz="800" spc="-30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80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는</a:t>
                      </a:r>
                      <a:r>
                        <a:rPr dirty="0" sz="800" spc="9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PLACE</a:t>
                      </a:r>
                      <a:r>
                        <a:rPr dirty="0" sz="800" spc="185">
                          <a:solidFill>
                            <a:srgbClr val="202020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800" spc="-7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전략만</a:t>
                      </a:r>
                      <a:r>
                        <a:rPr dirty="0" sz="800" spc="-40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-25">
                          <a:solidFill>
                            <a:srgbClr val="202020"/>
                          </a:solidFill>
                          <a:latin typeface="Malgun Gothic"/>
                          <a:cs typeface="Malgun Gothic"/>
                        </a:rPr>
                        <a:t>교체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B="0" marT="438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FFFFFF"/>
                      </a:solidFill>
                      <a:prstDash val="solid"/>
                    </a:lnR>
                    <a:solidFill>
                      <a:srgbClr val="E2E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65537" y="1390575"/>
            <a:ext cx="2414905" cy="4070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⑤</a:t>
            </a:r>
            <a:r>
              <a:rPr dirty="0" spc="280"/>
              <a:t> </a:t>
            </a:r>
            <a:r>
              <a:rPr dirty="0" spc="-204"/>
              <a:t>핵심</a:t>
            </a:r>
            <a:r>
              <a:rPr dirty="0" spc="-190"/>
              <a:t> </a:t>
            </a:r>
            <a:r>
              <a:rPr dirty="0" spc="-204"/>
              <a:t>구현</a:t>
            </a:r>
            <a:r>
              <a:rPr dirty="0" spc="-190"/>
              <a:t> </a:t>
            </a:r>
            <a:r>
              <a:rPr dirty="0" spc="-170"/>
              <a:t>방법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51377" y="1090703"/>
            <a:ext cx="18434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02020"/>
                </a:solidFill>
                <a:latin typeface="Malgun Gothic"/>
                <a:cs typeface="Malgun Gothic"/>
              </a:rPr>
              <a:t>검출</a:t>
            </a:r>
            <a:r>
              <a:rPr dirty="0" sz="1000" spc="9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202020"/>
                </a:solidFill>
                <a:latin typeface="Microsoft Sans Serif"/>
                <a:cs typeface="Microsoft Sans Serif"/>
              </a:rPr>
              <a:t>·</a:t>
            </a:r>
            <a:r>
              <a:rPr dirty="0" sz="1000" spc="23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좌표</a:t>
            </a:r>
            <a:r>
              <a:rPr dirty="0" sz="1000" spc="-8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202020"/>
                </a:solidFill>
                <a:latin typeface="Malgun Gothic"/>
                <a:cs typeface="Malgun Gothic"/>
              </a:rPr>
              <a:t>변환</a:t>
            </a:r>
            <a:r>
              <a:rPr dirty="0" sz="1000" spc="12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202020"/>
                </a:solidFill>
                <a:latin typeface="Microsoft Sans Serif"/>
                <a:cs typeface="Microsoft Sans Serif"/>
              </a:rPr>
              <a:t>·</a:t>
            </a:r>
            <a:r>
              <a:rPr dirty="0" sz="1000" spc="2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202020"/>
                </a:solidFill>
                <a:latin typeface="Microsoft Sans Serif"/>
                <a:cs typeface="Microsoft Sans Serif"/>
              </a:rPr>
              <a:t>IK</a:t>
            </a:r>
            <a:r>
              <a:rPr dirty="0" sz="1000" spc="1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202020"/>
                </a:solidFill>
                <a:latin typeface="Microsoft Sans Serif"/>
                <a:cs typeface="Microsoft Sans Serif"/>
              </a:rPr>
              <a:t>·</a:t>
            </a:r>
            <a:r>
              <a:rPr dirty="0" sz="1000" spc="24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상태</a:t>
            </a:r>
            <a:r>
              <a:rPr dirty="0" sz="1000" spc="-8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25">
                <a:solidFill>
                  <a:srgbClr val="202020"/>
                </a:solidFill>
                <a:latin typeface="Malgun Gothic"/>
                <a:cs typeface="Malgun Gothic"/>
              </a:rPr>
              <a:t>제어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9764" y="2334236"/>
            <a:ext cx="1371600" cy="386715"/>
          </a:xfrm>
          <a:prstGeom prst="rect">
            <a:avLst/>
          </a:prstGeom>
          <a:solidFill>
            <a:srgbClr val="4377FA"/>
          </a:solidFill>
        </p:spPr>
        <p:txBody>
          <a:bodyPr wrap="square" lIns="0" tIns="144780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1140"/>
              </a:spcBef>
            </a:pPr>
            <a:r>
              <a:rPr dirty="0" sz="1300" b="1">
                <a:solidFill>
                  <a:srgbClr val="FFFFFF"/>
                </a:solidFill>
                <a:latin typeface="Malgun Gothic"/>
                <a:cs typeface="Malgun Gothic"/>
              </a:rPr>
              <a:t>색</a:t>
            </a:r>
            <a:r>
              <a:rPr dirty="0" sz="1300" spc="15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300" spc="125" b="1">
                <a:solidFill>
                  <a:srgbClr val="FFFFFF"/>
                </a:solidFill>
                <a:latin typeface="Yu Gothic"/>
                <a:cs typeface="Yu Gothic"/>
              </a:rPr>
              <a:t>+</a:t>
            </a:r>
            <a:r>
              <a:rPr dirty="0" sz="1300" spc="350" b="1">
                <a:solidFill>
                  <a:srgbClr val="FFFFFF"/>
                </a:solidFill>
                <a:latin typeface="Yu Gothic"/>
                <a:cs typeface="Yu Gothic"/>
              </a:rPr>
              <a:t> </a:t>
            </a:r>
            <a:r>
              <a:rPr dirty="0" sz="1300" spc="-114" b="1">
                <a:solidFill>
                  <a:srgbClr val="FFFFFF"/>
                </a:solidFill>
                <a:latin typeface="Malgun Gothic"/>
                <a:cs typeface="Malgun Gothic"/>
              </a:rPr>
              <a:t>형상 </a:t>
            </a:r>
            <a:r>
              <a:rPr dirty="0" sz="1300" spc="-25" b="1">
                <a:solidFill>
                  <a:srgbClr val="FFFFFF"/>
                </a:solidFill>
                <a:latin typeface="Malgun Gothic"/>
                <a:cs typeface="Malgun Gothic"/>
              </a:rPr>
              <a:t>검출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3005" y="2093038"/>
            <a:ext cx="1720214" cy="19697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800">
              <a:latin typeface="Times New Roman"/>
              <a:cs typeface="Times New Roman"/>
            </a:endParaRPr>
          </a:p>
          <a:p>
            <a:pPr algn="just" marL="148590" marR="135890">
              <a:lnSpc>
                <a:spcPct val="159400"/>
              </a:lnSpc>
              <a:spcBef>
                <a:spcPts val="5"/>
              </a:spcBef>
            </a:pPr>
            <a:r>
              <a:rPr dirty="0" sz="800">
                <a:solidFill>
                  <a:srgbClr val="959595"/>
                </a:solidFill>
                <a:latin typeface="Microsoft Sans Serif"/>
                <a:cs typeface="Microsoft Sans Serif"/>
              </a:rPr>
              <a:t>HSV</a:t>
            </a:r>
            <a:r>
              <a:rPr dirty="0" sz="800" spc="-1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959595"/>
                </a:solidFill>
                <a:latin typeface="Malgun Gothic"/>
                <a:cs typeface="Malgun Gothic"/>
              </a:rPr>
              <a:t>로</a:t>
            </a:r>
            <a:r>
              <a:rPr dirty="0" sz="800" spc="1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959595"/>
                </a:solidFill>
                <a:latin typeface="Malgun Gothic"/>
                <a:cs typeface="Malgun Gothic"/>
              </a:rPr>
              <a:t>후보를</a:t>
            </a:r>
            <a:r>
              <a:rPr dirty="0" sz="800" spc="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30">
                <a:solidFill>
                  <a:srgbClr val="959595"/>
                </a:solidFill>
                <a:latin typeface="Malgun Gothic"/>
                <a:cs typeface="Malgun Gothic"/>
              </a:rPr>
              <a:t>만들고</a:t>
            </a:r>
            <a:r>
              <a:rPr dirty="0" sz="800" spc="-4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959595"/>
                </a:solidFill>
                <a:latin typeface="Microsoft Sans Serif"/>
                <a:cs typeface="Microsoft Sans Serif"/>
              </a:rPr>
              <a:t>,</a:t>
            </a:r>
            <a:r>
              <a:rPr dirty="0" sz="800" spc="26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959595"/>
                </a:solidFill>
                <a:latin typeface="Malgun Gothic"/>
                <a:cs typeface="Malgun Gothic"/>
              </a:rPr>
              <a:t>면적</a:t>
            </a:r>
            <a:r>
              <a:rPr dirty="0" sz="800" spc="18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50">
                <a:solidFill>
                  <a:srgbClr val="959595"/>
                </a:solidFill>
                <a:latin typeface="Microsoft Sans Serif"/>
                <a:cs typeface="Microsoft Sans Serif"/>
              </a:rPr>
              <a:t>·</a:t>
            </a:r>
            <a:r>
              <a:rPr dirty="0" sz="80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959595"/>
                </a:solidFill>
                <a:latin typeface="Malgun Gothic"/>
                <a:cs typeface="Malgun Gothic"/>
              </a:rPr>
              <a:t>종횡비</a:t>
            </a:r>
            <a:r>
              <a:rPr dirty="0" sz="800" spc="1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959595"/>
                </a:solidFill>
                <a:latin typeface="Microsoft Sans Serif"/>
                <a:cs typeface="Microsoft Sans Serif"/>
              </a:rPr>
              <a:t>·</a:t>
            </a:r>
            <a:r>
              <a:rPr dirty="0" sz="800" spc="245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959595"/>
                </a:solidFill>
                <a:latin typeface="Malgun Gothic"/>
                <a:cs typeface="Malgun Gothic"/>
              </a:rPr>
              <a:t>채움</a:t>
            </a:r>
            <a:r>
              <a:rPr dirty="0" sz="800" spc="-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959595"/>
                </a:solidFill>
                <a:latin typeface="Malgun Gothic"/>
                <a:cs typeface="Malgun Gothic"/>
              </a:rPr>
              <a:t>게이트를</a:t>
            </a:r>
            <a:r>
              <a:rPr dirty="0" sz="800" spc="-1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40">
                <a:solidFill>
                  <a:srgbClr val="959595"/>
                </a:solidFill>
                <a:latin typeface="Malgun Gothic"/>
                <a:cs typeface="Malgun Gothic"/>
              </a:rPr>
              <a:t>통과한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정사각형만</a:t>
            </a:r>
            <a:r>
              <a:rPr dirty="0" sz="800" spc="-25">
                <a:solidFill>
                  <a:srgbClr val="959595"/>
                </a:solidFill>
                <a:latin typeface="Malgun Gothic"/>
                <a:cs typeface="Malgun Gothic"/>
              </a:rPr>
              <a:t> 확정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7360" y="2334236"/>
            <a:ext cx="1371600" cy="386715"/>
          </a:xfrm>
          <a:prstGeom prst="rect">
            <a:avLst/>
          </a:prstGeom>
          <a:solidFill>
            <a:srgbClr val="4377FA"/>
          </a:solidFill>
        </p:spPr>
        <p:txBody>
          <a:bodyPr wrap="square" lIns="0" tIns="144780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140"/>
              </a:spcBef>
            </a:pPr>
            <a:r>
              <a:rPr dirty="0" sz="1300" spc="-114" b="1">
                <a:solidFill>
                  <a:srgbClr val="FFFFFF"/>
                </a:solidFill>
                <a:latin typeface="Malgun Gothic"/>
                <a:cs typeface="Malgun Gothic"/>
              </a:rPr>
              <a:t>평면</a:t>
            </a:r>
            <a:r>
              <a:rPr dirty="0" sz="1300" spc="-10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Malgun Gothic"/>
                <a:cs typeface="Malgun Gothic"/>
              </a:rPr>
              <a:t>호모그래피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35643" y="2093038"/>
            <a:ext cx="1720214" cy="19697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800">
              <a:latin typeface="Times New Roman"/>
              <a:cs typeface="Times New Roman"/>
            </a:endParaRPr>
          </a:p>
          <a:p>
            <a:pPr algn="just" marL="144145" marR="143510">
              <a:lnSpc>
                <a:spcPct val="159400"/>
              </a:lnSpc>
              <a:spcBef>
                <a:spcPts val="5"/>
              </a:spcBef>
            </a:pPr>
            <a:r>
              <a:rPr dirty="0" sz="800" spc="-55">
                <a:solidFill>
                  <a:srgbClr val="959595"/>
                </a:solidFill>
                <a:latin typeface="Malgun Gothic"/>
                <a:cs typeface="Malgun Gothic"/>
              </a:rPr>
              <a:t>체스보드로</a:t>
            </a:r>
            <a:r>
              <a:rPr dirty="0" sz="800" spc="18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110">
                <a:solidFill>
                  <a:srgbClr val="959595"/>
                </a:solidFill>
                <a:latin typeface="Microsoft Sans Serif"/>
                <a:cs typeface="Microsoft Sans Serif"/>
              </a:rPr>
              <a:t>mm</a:t>
            </a:r>
            <a:r>
              <a:rPr dirty="0" sz="800" spc="245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60">
                <a:solidFill>
                  <a:srgbClr val="959595"/>
                </a:solidFill>
                <a:latin typeface="Malgun Gothic"/>
                <a:cs typeface="Malgun Gothic"/>
              </a:rPr>
              <a:t>단위</a:t>
            </a:r>
            <a:r>
              <a:rPr dirty="0" sz="800" spc="-2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0">
                <a:solidFill>
                  <a:srgbClr val="959595"/>
                </a:solidFill>
                <a:latin typeface="Malgun Gothic"/>
                <a:cs typeface="Malgun Gothic"/>
              </a:rPr>
              <a:t>정면</a:t>
            </a:r>
            <a:r>
              <a:rPr dirty="0" sz="800" spc="-2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0">
                <a:solidFill>
                  <a:srgbClr val="959595"/>
                </a:solidFill>
                <a:latin typeface="Malgun Gothic"/>
                <a:cs typeface="Malgun Gothic"/>
              </a:rPr>
              <a:t>뷰를</a:t>
            </a:r>
            <a:r>
              <a:rPr dirty="0" sz="800" spc="-2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만</a:t>
            </a:r>
            <a:r>
              <a:rPr dirty="0" sz="800" spc="-1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들</a:t>
            </a:r>
            <a:r>
              <a:rPr dirty="0" sz="800" spc="-16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고</a:t>
            </a:r>
            <a:r>
              <a:rPr dirty="0" sz="800" spc="4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959595"/>
                </a:solidFill>
                <a:latin typeface="Microsoft Sans Serif"/>
                <a:cs typeface="Microsoft Sans Serif"/>
              </a:rPr>
              <a:t>,</a:t>
            </a:r>
            <a:r>
              <a:rPr dirty="0" sz="800" spc="459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픽</a:t>
            </a:r>
            <a:r>
              <a:rPr dirty="0" sz="800" spc="-16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셀</a:t>
            </a:r>
            <a:r>
              <a:rPr dirty="0" sz="800" spc="-1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을</a:t>
            </a:r>
            <a:r>
              <a:rPr dirty="0" sz="800" spc="20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로</a:t>
            </a:r>
            <a:r>
              <a:rPr dirty="0" sz="800" spc="-16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봇</a:t>
            </a:r>
            <a:r>
              <a:rPr dirty="0" sz="800" spc="204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좌</a:t>
            </a:r>
            <a:r>
              <a:rPr dirty="0" sz="800" spc="-16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표</a:t>
            </a:r>
            <a:r>
              <a:rPr dirty="0" sz="800" spc="-1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155">
                <a:solidFill>
                  <a:srgbClr val="959595"/>
                </a:solidFill>
                <a:latin typeface="Malgun Gothic"/>
                <a:cs typeface="Malgun Gothic"/>
              </a:rPr>
              <a:t>로</a:t>
            </a:r>
            <a:r>
              <a:rPr dirty="0" sz="800" spc="-2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변환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64315" y="2334236"/>
            <a:ext cx="1371600" cy="386715"/>
          </a:xfrm>
          <a:prstGeom prst="rect">
            <a:avLst/>
          </a:prstGeom>
          <a:solidFill>
            <a:srgbClr val="4377FA"/>
          </a:solidFill>
        </p:spPr>
        <p:txBody>
          <a:bodyPr wrap="square" lIns="0" tIns="144780" rIns="0" bIns="0" rtlCol="0" vert="horz">
            <a:spAutoFit/>
          </a:bodyPr>
          <a:lstStyle/>
          <a:p>
            <a:pPr marL="321945">
              <a:lnSpc>
                <a:spcPct val="100000"/>
              </a:lnSpc>
              <a:spcBef>
                <a:spcPts val="1140"/>
              </a:spcBef>
            </a:pPr>
            <a:r>
              <a:rPr dirty="0" sz="1300" spc="-45" b="1">
                <a:solidFill>
                  <a:srgbClr val="FFFFFF"/>
                </a:solidFill>
                <a:latin typeface="Malgun Gothic"/>
                <a:cs typeface="Malgun Gothic"/>
              </a:rPr>
              <a:t>탑다운</a:t>
            </a:r>
            <a:r>
              <a:rPr dirty="0" sz="130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300" spc="40" b="1">
                <a:solidFill>
                  <a:srgbClr val="FFFFFF"/>
                </a:solidFill>
                <a:latin typeface="Yu Gothic"/>
                <a:cs typeface="Yu Gothic"/>
              </a:rPr>
              <a:t>IK</a:t>
            </a:r>
            <a:endParaRPr sz="1300">
              <a:latin typeface="Yu Gothic"/>
              <a:cs typeface="Yu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8281" y="2093038"/>
            <a:ext cx="1720214" cy="19697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800">
              <a:latin typeface="Times New Roman"/>
              <a:cs typeface="Times New Roman"/>
            </a:endParaRPr>
          </a:p>
          <a:p>
            <a:pPr algn="just" marL="148590" marR="139700">
              <a:lnSpc>
                <a:spcPct val="159400"/>
              </a:lnSpc>
              <a:spcBef>
                <a:spcPts val="5"/>
              </a:spcBef>
            </a:pPr>
            <a:r>
              <a:rPr dirty="0" sz="800">
                <a:solidFill>
                  <a:srgbClr val="959595"/>
                </a:solidFill>
                <a:latin typeface="Malgun Gothic"/>
                <a:cs typeface="Malgun Gothic"/>
              </a:rPr>
              <a:t>시드 테이블에서 초기값을</a:t>
            </a:r>
            <a:r>
              <a:rPr dirty="0" sz="800" spc="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55">
                <a:solidFill>
                  <a:srgbClr val="959595"/>
                </a:solidFill>
                <a:latin typeface="Malgun Gothic"/>
                <a:cs typeface="Malgun Gothic"/>
              </a:rPr>
              <a:t>골라 </a:t>
            </a:r>
            <a:r>
              <a:rPr dirty="0" sz="800" spc="-20">
                <a:solidFill>
                  <a:srgbClr val="959595"/>
                </a:solidFill>
                <a:latin typeface="Malgun Gothic"/>
                <a:cs typeface="Malgun Gothic"/>
              </a:rPr>
              <a:t>수렴하고</a:t>
            </a:r>
            <a:r>
              <a:rPr dirty="0" sz="8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959595"/>
                </a:solidFill>
                <a:latin typeface="Microsoft Sans Serif"/>
                <a:cs typeface="Microsoft Sans Serif"/>
              </a:rPr>
              <a:t>,</a:t>
            </a:r>
            <a:r>
              <a:rPr dirty="0" sz="800" spc="229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959595"/>
                </a:solidFill>
                <a:latin typeface="Malgun Gothic"/>
                <a:cs typeface="Malgun Gothic"/>
              </a:rPr>
              <a:t>도달</a:t>
            </a:r>
            <a:r>
              <a:rPr dirty="0" sz="800" spc="-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959595"/>
                </a:solidFill>
                <a:latin typeface="Malgun Gothic"/>
                <a:cs typeface="Malgun Gothic"/>
              </a:rPr>
              <a:t>불가는</a:t>
            </a:r>
            <a:r>
              <a:rPr dirty="0" sz="800" spc="-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959595"/>
                </a:solidFill>
                <a:latin typeface="Malgun Gothic"/>
                <a:cs typeface="Malgun Gothic"/>
              </a:rPr>
              <a:t>실행</a:t>
            </a:r>
            <a:r>
              <a:rPr dirty="0" sz="800" spc="-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100">
                <a:solidFill>
                  <a:srgbClr val="959595"/>
                </a:solidFill>
                <a:latin typeface="Malgun Gothic"/>
                <a:cs typeface="Malgun Gothic"/>
              </a:rPr>
              <a:t>전</a:t>
            </a:r>
            <a:r>
              <a:rPr dirty="0" sz="800" spc="-25">
                <a:solidFill>
                  <a:srgbClr val="959595"/>
                </a:solidFill>
                <a:latin typeface="Malgun Gothic"/>
                <a:cs typeface="Malgun Gothic"/>
              </a:rPr>
              <a:t> 차단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11924" y="2334236"/>
            <a:ext cx="1371600" cy="386715"/>
          </a:xfrm>
          <a:prstGeom prst="rect">
            <a:avLst/>
          </a:prstGeom>
          <a:solidFill>
            <a:srgbClr val="4377FA"/>
          </a:solidFill>
        </p:spPr>
        <p:txBody>
          <a:bodyPr wrap="square" lIns="0" tIns="14478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1140"/>
              </a:spcBef>
            </a:pPr>
            <a:r>
              <a:rPr dirty="0" sz="1300" spc="55" b="1">
                <a:solidFill>
                  <a:srgbClr val="FFFFFF"/>
                </a:solidFill>
                <a:latin typeface="Yu Gothic"/>
                <a:cs typeface="Yu Gothic"/>
              </a:rPr>
              <a:t>FSM</a:t>
            </a:r>
            <a:r>
              <a:rPr dirty="0" sz="1300" spc="390" b="1">
                <a:solidFill>
                  <a:srgbClr val="FFFFFF"/>
                </a:solidFill>
                <a:latin typeface="Yu Gothic"/>
                <a:cs typeface="Yu Gothic"/>
              </a:rPr>
              <a:t> </a:t>
            </a:r>
            <a:r>
              <a:rPr dirty="0" sz="1300" spc="-114" b="1">
                <a:solidFill>
                  <a:srgbClr val="FFFFFF"/>
                </a:solidFill>
                <a:latin typeface="Malgun Gothic"/>
                <a:cs typeface="Malgun Gothic"/>
              </a:rPr>
              <a:t>상태</a:t>
            </a:r>
            <a:r>
              <a:rPr dirty="0" sz="1300" spc="-11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Malgun Gothic"/>
                <a:cs typeface="Malgun Gothic"/>
              </a:rPr>
              <a:t>제어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40918" y="2093038"/>
            <a:ext cx="1720214" cy="19697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800">
              <a:latin typeface="Times New Roman"/>
              <a:cs typeface="Times New Roman"/>
            </a:endParaRPr>
          </a:p>
          <a:p>
            <a:pPr algn="just" marL="142875" marR="144145">
              <a:lnSpc>
                <a:spcPct val="159400"/>
              </a:lnSpc>
              <a:spcBef>
                <a:spcPts val="5"/>
              </a:spcBef>
            </a:pPr>
            <a:r>
              <a:rPr dirty="0" sz="800" spc="-60">
                <a:solidFill>
                  <a:srgbClr val="959595"/>
                </a:solidFill>
                <a:latin typeface="Malgun Gothic"/>
                <a:cs typeface="Malgun Gothic"/>
              </a:rPr>
              <a:t>파지가</a:t>
            </a:r>
            <a:r>
              <a:rPr dirty="0" sz="800" spc="-3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55">
                <a:solidFill>
                  <a:srgbClr val="959595"/>
                </a:solidFill>
                <a:latin typeface="Malgun Gothic"/>
                <a:cs typeface="Malgun Gothic"/>
              </a:rPr>
              <a:t>확인되기</a:t>
            </a:r>
            <a:r>
              <a:rPr dirty="0" sz="800" spc="-3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0">
                <a:solidFill>
                  <a:srgbClr val="959595"/>
                </a:solidFill>
                <a:latin typeface="Malgun Gothic"/>
                <a:cs typeface="Malgun Gothic"/>
              </a:rPr>
              <a:t>전에는</a:t>
            </a:r>
            <a:r>
              <a:rPr dirty="0" sz="800" spc="-3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55">
                <a:solidFill>
                  <a:srgbClr val="959595"/>
                </a:solidFill>
                <a:latin typeface="Malgun Gothic"/>
                <a:cs typeface="Malgun Gothic"/>
              </a:rPr>
              <a:t>운반하지</a:t>
            </a:r>
            <a:r>
              <a:rPr dirty="0" sz="800" spc="-2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않</a:t>
            </a:r>
            <a:r>
              <a:rPr dirty="0" sz="800" spc="-18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고</a:t>
            </a:r>
            <a:r>
              <a:rPr dirty="0" sz="800" spc="2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959595"/>
                </a:solidFill>
                <a:latin typeface="Microsoft Sans Serif"/>
                <a:cs typeface="Microsoft Sans Serif"/>
              </a:rPr>
              <a:t>,</a:t>
            </a:r>
            <a:r>
              <a:rPr dirty="0" sz="800" spc="42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실</a:t>
            </a:r>
            <a:r>
              <a:rPr dirty="0" sz="800" spc="-18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패</a:t>
            </a:r>
            <a:r>
              <a:rPr dirty="0" sz="800" spc="-17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는</a:t>
            </a:r>
            <a:r>
              <a:rPr dirty="0" sz="800" spc="1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재</a:t>
            </a:r>
            <a:r>
              <a:rPr dirty="0" sz="800" spc="-18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시</a:t>
            </a:r>
            <a:r>
              <a:rPr dirty="0" sz="800" spc="-18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도</a:t>
            </a:r>
            <a:r>
              <a:rPr dirty="0" sz="800" spc="1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후</a:t>
            </a:r>
            <a:r>
              <a:rPr dirty="0" sz="800" spc="1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다</a:t>
            </a:r>
            <a:r>
              <a:rPr dirty="0" sz="800" spc="-18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170">
                <a:solidFill>
                  <a:srgbClr val="959595"/>
                </a:solidFill>
                <a:latin typeface="Malgun Gothic"/>
                <a:cs typeface="Malgun Gothic"/>
              </a:rPr>
              <a:t>음</a:t>
            </a:r>
            <a:r>
              <a:rPr dirty="0" sz="800" spc="-2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순회로</a:t>
            </a:r>
            <a:endParaRPr sz="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1814" y="1090703"/>
            <a:ext cx="6864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문제</a:t>
            </a:r>
            <a:r>
              <a:rPr dirty="0" sz="1000" spc="-6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202020"/>
                </a:solidFill>
                <a:latin typeface="Malgun Gothic"/>
                <a:cs typeface="Malgun Gothic"/>
              </a:rPr>
              <a:t>→</a:t>
            </a:r>
            <a:r>
              <a:rPr dirty="0" sz="1000" spc="-5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60">
                <a:solidFill>
                  <a:srgbClr val="202020"/>
                </a:solidFill>
                <a:latin typeface="Malgun Gothic"/>
                <a:cs typeface="Malgun Gothic"/>
              </a:rPr>
              <a:t>해결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72655" y="1390575"/>
            <a:ext cx="4205605" cy="4070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⑥</a:t>
            </a:r>
            <a:r>
              <a:rPr dirty="0" spc="85"/>
              <a:t> </a:t>
            </a:r>
            <a:r>
              <a:rPr dirty="0" spc="-204"/>
              <a:t>구현</a:t>
            </a:r>
            <a:r>
              <a:rPr dirty="0" spc="-190"/>
              <a:t> </a:t>
            </a:r>
            <a:r>
              <a:rPr dirty="0" spc="-215"/>
              <a:t>과정의</a:t>
            </a:r>
            <a:r>
              <a:rPr dirty="0" spc="-190"/>
              <a:t> </a:t>
            </a:r>
            <a:r>
              <a:rPr dirty="0" spc="-65"/>
              <a:t>문제점</a:t>
            </a:r>
            <a:r>
              <a:rPr dirty="0" spc="320"/>
              <a:t> </a:t>
            </a:r>
            <a:r>
              <a:rPr dirty="0" spc="265">
                <a:latin typeface="Yu Gothic"/>
                <a:cs typeface="Yu Gothic"/>
              </a:rPr>
              <a:t>&amp;</a:t>
            </a:r>
            <a:r>
              <a:rPr dirty="0" spc="-45">
                <a:latin typeface="Yu Gothic"/>
                <a:cs typeface="Yu Gothic"/>
              </a:rPr>
              <a:t>  </a:t>
            </a:r>
            <a:r>
              <a:rPr dirty="0" spc="-165"/>
              <a:t>해결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99553" y="2084402"/>
            <a:ext cx="375285" cy="2113280"/>
            <a:chOff x="799553" y="2084402"/>
            <a:chExt cx="375285" cy="2113280"/>
          </a:xfrm>
        </p:grpSpPr>
        <p:sp>
          <p:nvSpPr>
            <p:cNvPr id="5" name="object 5"/>
            <p:cNvSpPr/>
            <p:nvPr/>
          </p:nvSpPr>
          <p:spPr>
            <a:xfrm>
              <a:off x="987120" y="2267282"/>
              <a:ext cx="1270" cy="1920239"/>
            </a:xfrm>
            <a:custGeom>
              <a:avLst/>
              <a:gdLst/>
              <a:ahLst/>
              <a:cxnLst/>
              <a:rect l="l" t="t" r="r" b="b"/>
              <a:pathLst>
                <a:path w="1269" h="1920239">
                  <a:moveTo>
                    <a:pt x="0" y="0"/>
                  </a:moveTo>
                  <a:lnTo>
                    <a:pt x="723" y="1920239"/>
                  </a:lnTo>
                </a:path>
              </a:pathLst>
            </a:custGeom>
            <a:ln w="19079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99553" y="2084402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4" h="375285">
                  <a:moveTo>
                    <a:pt x="187566" y="0"/>
                  </a:moveTo>
                  <a:lnTo>
                    <a:pt x="139142" y="6388"/>
                  </a:lnTo>
                  <a:lnTo>
                    <a:pt x="93967" y="25196"/>
                  </a:lnTo>
                  <a:lnTo>
                    <a:pt x="54997" y="54989"/>
                  </a:lnTo>
                  <a:lnTo>
                    <a:pt x="25209" y="93954"/>
                  </a:lnTo>
                  <a:lnTo>
                    <a:pt x="6394" y="139139"/>
                  </a:lnTo>
                  <a:lnTo>
                    <a:pt x="0" y="187553"/>
                  </a:lnTo>
                  <a:lnTo>
                    <a:pt x="1610" y="212008"/>
                  </a:lnTo>
                  <a:lnTo>
                    <a:pt x="14283" y="259294"/>
                  </a:lnTo>
                  <a:lnTo>
                    <a:pt x="38888" y="301876"/>
                  </a:lnTo>
                  <a:lnTo>
                    <a:pt x="73401" y="336247"/>
                  </a:lnTo>
                  <a:lnTo>
                    <a:pt x="115980" y="360846"/>
                  </a:lnTo>
                  <a:lnTo>
                    <a:pt x="163117" y="373511"/>
                  </a:lnTo>
                  <a:lnTo>
                    <a:pt x="187566" y="375119"/>
                  </a:lnTo>
                  <a:lnTo>
                    <a:pt x="212021" y="373511"/>
                  </a:lnTo>
                  <a:lnTo>
                    <a:pt x="259302" y="360846"/>
                  </a:lnTo>
                  <a:lnTo>
                    <a:pt x="301881" y="336247"/>
                  </a:lnTo>
                  <a:lnTo>
                    <a:pt x="336249" y="301876"/>
                  </a:lnTo>
                  <a:lnTo>
                    <a:pt x="360846" y="259294"/>
                  </a:lnTo>
                  <a:lnTo>
                    <a:pt x="373511" y="212008"/>
                  </a:lnTo>
                  <a:lnTo>
                    <a:pt x="375119" y="187553"/>
                  </a:lnTo>
                  <a:lnTo>
                    <a:pt x="373511" y="163111"/>
                  </a:lnTo>
                  <a:lnTo>
                    <a:pt x="360846" y="115975"/>
                  </a:lnTo>
                  <a:lnTo>
                    <a:pt x="336243" y="73393"/>
                  </a:lnTo>
                  <a:lnTo>
                    <a:pt x="301731" y="38878"/>
                  </a:lnTo>
                  <a:lnTo>
                    <a:pt x="259152" y="14273"/>
                  </a:lnTo>
                  <a:lnTo>
                    <a:pt x="212015" y="1608"/>
                  </a:lnTo>
                  <a:lnTo>
                    <a:pt x="187566" y="0"/>
                  </a:lnTo>
                  <a:close/>
                </a:path>
              </a:pathLst>
            </a:custGeom>
            <a:solidFill>
              <a:srgbClr val="4377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59942" y="2160259"/>
            <a:ext cx="25527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20" b="1">
                <a:solidFill>
                  <a:srgbClr val="FFFFFF"/>
                </a:solidFill>
                <a:latin typeface="Yu Gothic"/>
                <a:cs typeface="Yu Gothic"/>
              </a:rPr>
              <a:t>01</a:t>
            </a:r>
            <a:endParaRPr sz="1300">
              <a:latin typeface="Yu Gothic"/>
              <a:cs typeface="Yu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1744" y="2036889"/>
            <a:ext cx="3943985" cy="476884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400" spc="-120" b="1">
                <a:solidFill>
                  <a:srgbClr val="202020"/>
                </a:solidFill>
                <a:latin typeface="Malgun Gothic"/>
                <a:cs typeface="Malgun Gothic"/>
              </a:rPr>
              <a:t>빨간</a:t>
            </a:r>
            <a:r>
              <a:rPr dirty="0" sz="1400" spc="-7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0" b="1">
                <a:solidFill>
                  <a:srgbClr val="202020"/>
                </a:solidFill>
                <a:latin typeface="Malgun Gothic"/>
                <a:cs typeface="Malgun Gothic"/>
              </a:rPr>
              <a:t>테이프와</a:t>
            </a:r>
            <a:r>
              <a:rPr dirty="0" sz="14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20" b="1">
                <a:solidFill>
                  <a:srgbClr val="202020"/>
                </a:solidFill>
                <a:latin typeface="Malgun Gothic"/>
                <a:cs typeface="Malgun Gothic"/>
              </a:rPr>
              <a:t>빨간</a:t>
            </a:r>
            <a:r>
              <a:rPr dirty="0" sz="1400" spc="-7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블록이</a:t>
            </a:r>
            <a:r>
              <a:rPr dirty="0" sz="14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0" b="1">
                <a:solidFill>
                  <a:srgbClr val="202020"/>
                </a:solidFill>
                <a:latin typeface="Malgun Gothic"/>
                <a:cs typeface="Malgun Gothic"/>
              </a:rPr>
              <a:t>색만으로는</a:t>
            </a:r>
            <a:r>
              <a:rPr dirty="0" sz="1400" spc="-7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0" b="1">
                <a:solidFill>
                  <a:srgbClr val="202020"/>
                </a:solidFill>
                <a:latin typeface="Malgun Gothic"/>
                <a:cs typeface="Malgun Gothic"/>
              </a:rPr>
              <a:t>구분되지</a:t>
            </a:r>
            <a:r>
              <a:rPr dirty="0" sz="14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50" b="1">
                <a:solidFill>
                  <a:srgbClr val="202020"/>
                </a:solidFill>
                <a:latin typeface="Malgun Gothic"/>
                <a:cs typeface="Malgun Gothic"/>
              </a:rPr>
              <a:t>않음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해결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125">
                <a:solidFill>
                  <a:srgbClr val="959595"/>
                </a:solidFill>
                <a:latin typeface="Malgun Gothic"/>
                <a:cs typeface="Malgun Gothic"/>
              </a:rPr>
              <a:t>—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 색은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후보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생성까지만</a:t>
            </a:r>
            <a:r>
              <a:rPr dirty="0" sz="900" spc="-10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959595"/>
                </a:solidFill>
                <a:latin typeface="Microsoft Sans Serif"/>
                <a:cs typeface="Microsoft Sans Serif"/>
              </a:rPr>
              <a:t>,</a:t>
            </a:r>
            <a:r>
              <a:rPr dirty="0" sz="900" spc="204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959595"/>
                </a:solidFill>
                <a:latin typeface="Malgun Gothic"/>
                <a:cs typeface="Malgun Gothic"/>
              </a:rPr>
              <a:t>면적</a:t>
            </a:r>
            <a:r>
              <a:rPr dirty="0" sz="900" spc="12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959595"/>
                </a:solidFill>
                <a:latin typeface="Microsoft Sans Serif"/>
                <a:cs typeface="Microsoft Sans Serif"/>
              </a:rPr>
              <a:t>·</a:t>
            </a:r>
            <a:r>
              <a:rPr dirty="0" sz="900" spc="25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30">
                <a:solidFill>
                  <a:srgbClr val="959595"/>
                </a:solidFill>
                <a:latin typeface="Malgun Gothic"/>
                <a:cs typeface="Malgun Gothic"/>
              </a:rPr>
              <a:t>종횡비</a:t>
            </a:r>
            <a:r>
              <a:rPr dirty="0" sz="900" spc="14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959595"/>
                </a:solidFill>
                <a:latin typeface="Microsoft Sans Serif"/>
                <a:cs typeface="Microsoft Sans Serif"/>
              </a:rPr>
              <a:t>·</a:t>
            </a:r>
            <a:r>
              <a:rPr dirty="0" sz="900" spc="25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채움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형상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게이트로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959595"/>
                </a:solidFill>
                <a:latin typeface="Malgun Gothic"/>
                <a:cs typeface="Malgun Gothic"/>
              </a:rPr>
              <a:t>확정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9553" y="2724482"/>
            <a:ext cx="375285" cy="375285"/>
          </a:xfrm>
          <a:custGeom>
            <a:avLst/>
            <a:gdLst/>
            <a:ahLst/>
            <a:cxnLst/>
            <a:rect l="l" t="t" r="r" b="b"/>
            <a:pathLst>
              <a:path w="375284" h="375285">
                <a:moveTo>
                  <a:pt x="187566" y="0"/>
                </a:moveTo>
                <a:lnTo>
                  <a:pt x="139142" y="6388"/>
                </a:lnTo>
                <a:lnTo>
                  <a:pt x="93967" y="25196"/>
                </a:lnTo>
                <a:lnTo>
                  <a:pt x="54997" y="54989"/>
                </a:lnTo>
                <a:lnTo>
                  <a:pt x="25209" y="93954"/>
                </a:lnTo>
                <a:lnTo>
                  <a:pt x="6394" y="139139"/>
                </a:lnTo>
                <a:lnTo>
                  <a:pt x="0" y="187553"/>
                </a:lnTo>
                <a:lnTo>
                  <a:pt x="1610" y="212008"/>
                </a:lnTo>
                <a:lnTo>
                  <a:pt x="14283" y="259294"/>
                </a:lnTo>
                <a:lnTo>
                  <a:pt x="38888" y="301876"/>
                </a:lnTo>
                <a:lnTo>
                  <a:pt x="73401" y="336247"/>
                </a:lnTo>
                <a:lnTo>
                  <a:pt x="115980" y="360846"/>
                </a:lnTo>
                <a:lnTo>
                  <a:pt x="163117" y="373511"/>
                </a:lnTo>
                <a:lnTo>
                  <a:pt x="187566" y="375119"/>
                </a:lnTo>
                <a:lnTo>
                  <a:pt x="212021" y="373511"/>
                </a:lnTo>
                <a:lnTo>
                  <a:pt x="259302" y="360846"/>
                </a:lnTo>
                <a:lnTo>
                  <a:pt x="301881" y="336247"/>
                </a:lnTo>
                <a:lnTo>
                  <a:pt x="336249" y="301876"/>
                </a:lnTo>
                <a:lnTo>
                  <a:pt x="360846" y="259294"/>
                </a:lnTo>
                <a:lnTo>
                  <a:pt x="373511" y="212008"/>
                </a:lnTo>
                <a:lnTo>
                  <a:pt x="375119" y="187553"/>
                </a:lnTo>
                <a:lnTo>
                  <a:pt x="373511" y="163111"/>
                </a:lnTo>
                <a:lnTo>
                  <a:pt x="360846" y="115975"/>
                </a:lnTo>
                <a:lnTo>
                  <a:pt x="336243" y="73393"/>
                </a:lnTo>
                <a:lnTo>
                  <a:pt x="301731" y="38878"/>
                </a:lnTo>
                <a:lnTo>
                  <a:pt x="259152" y="14273"/>
                </a:lnTo>
                <a:lnTo>
                  <a:pt x="212015" y="1608"/>
                </a:lnTo>
                <a:lnTo>
                  <a:pt x="187566" y="0"/>
                </a:lnTo>
                <a:close/>
              </a:path>
            </a:pathLst>
          </a:custGeom>
          <a:solidFill>
            <a:srgbClr val="437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59942" y="2800339"/>
            <a:ext cx="25527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20" b="1">
                <a:solidFill>
                  <a:srgbClr val="FFFFFF"/>
                </a:solidFill>
                <a:latin typeface="Yu Gothic"/>
                <a:cs typeface="Yu Gothic"/>
              </a:rPr>
              <a:t>02</a:t>
            </a:r>
            <a:endParaRPr sz="1300">
              <a:latin typeface="Yu Gothic"/>
              <a:cs typeface="Yu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1744" y="2676969"/>
            <a:ext cx="4373245" cy="476884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그리퍼</a:t>
            </a:r>
            <a:r>
              <a:rPr dirty="0" sz="14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방향을</a:t>
            </a:r>
            <a:r>
              <a:rPr dirty="0" sz="1400" spc="-7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고정해</a:t>
            </a:r>
            <a:r>
              <a:rPr dirty="0" sz="14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두어</a:t>
            </a:r>
            <a:r>
              <a:rPr dirty="0" sz="1400" spc="-7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손목이</a:t>
            </a:r>
            <a:r>
              <a:rPr dirty="0" sz="1400" spc="-7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0" b="1">
                <a:solidFill>
                  <a:srgbClr val="202020"/>
                </a:solidFill>
                <a:latin typeface="Malgun Gothic"/>
                <a:cs typeface="Malgun Gothic"/>
              </a:rPr>
              <a:t>비틀리며</a:t>
            </a:r>
            <a:r>
              <a:rPr dirty="0" sz="14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서보</a:t>
            </a:r>
            <a:r>
              <a:rPr dirty="0" sz="1400" spc="-7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과열</a:t>
            </a:r>
            <a:r>
              <a:rPr dirty="0" sz="1400" spc="-7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55" b="1">
                <a:solidFill>
                  <a:srgbClr val="202020"/>
                </a:solidFill>
                <a:latin typeface="Malgun Gothic"/>
                <a:cs typeface="Malgun Gothic"/>
              </a:rPr>
              <a:t>정지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해결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125">
                <a:solidFill>
                  <a:srgbClr val="959595"/>
                </a:solidFill>
                <a:latin typeface="Malgun Gothic"/>
                <a:cs typeface="Malgun Gothic"/>
              </a:rPr>
              <a:t>—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 위치마다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손목이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중립이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되는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방향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959595"/>
                </a:solidFill>
                <a:latin typeface="Malgun Gothic"/>
                <a:cs typeface="Malgun Gothic"/>
              </a:rPr>
              <a:t>선택</a:t>
            </a:r>
            <a:r>
              <a:rPr dirty="0" sz="900" spc="-2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50">
                <a:solidFill>
                  <a:srgbClr val="959595"/>
                </a:solidFill>
                <a:latin typeface="Microsoft Sans Serif"/>
                <a:cs typeface="Microsoft Sans Serif"/>
              </a:rPr>
              <a:t>(</a:t>
            </a:r>
            <a:r>
              <a:rPr dirty="0" sz="900" spc="-5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959595"/>
                </a:solidFill>
                <a:latin typeface="Malgun Gothic"/>
                <a:cs typeface="Malgun Gothic"/>
              </a:rPr>
              <a:t>편차</a:t>
            </a:r>
            <a:r>
              <a:rPr dirty="0" sz="900" spc="11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75">
                <a:solidFill>
                  <a:srgbClr val="959595"/>
                </a:solidFill>
                <a:latin typeface="Microsoft Sans Serif"/>
                <a:cs typeface="Microsoft Sans Serif"/>
              </a:rPr>
              <a:t>125°</a:t>
            </a:r>
            <a:r>
              <a:rPr dirty="0" sz="900" spc="3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60">
                <a:solidFill>
                  <a:srgbClr val="959595"/>
                </a:solidFill>
                <a:latin typeface="Microsoft Sans Serif"/>
                <a:cs typeface="Microsoft Sans Serif"/>
              </a:rPr>
              <a:t>→</a:t>
            </a:r>
            <a:r>
              <a:rPr dirty="0" sz="900" spc="45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50">
                <a:solidFill>
                  <a:srgbClr val="959595"/>
                </a:solidFill>
                <a:latin typeface="Microsoft Sans Serif"/>
                <a:cs typeface="Microsoft Sans Serif"/>
              </a:rPr>
              <a:t>3.7°)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9553" y="3364562"/>
            <a:ext cx="375285" cy="375285"/>
          </a:xfrm>
          <a:custGeom>
            <a:avLst/>
            <a:gdLst/>
            <a:ahLst/>
            <a:cxnLst/>
            <a:rect l="l" t="t" r="r" b="b"/>
            <a:pathLst>
              <a:path w="375284" h="375285">
                <a:moveTo>
                  <a:pt x="187566" y="0"/>
                </a:moveTo>
                <a:lnTo>
                  <a:pt x="139142" y="6388"/>
                </a:lnTo>
                <a:lnTo>
                  <a:pt x="93967" y="25196"/>
                </a:lnTo>
                <a:lnTo>
                  <a:pt x="54997" y="54989"/>
                </a:lnTo>
                <a:lnTo>
                  <a:pt x="25209" y="93954"/>
                </a:lnTo>
                <a:lnTo>
                  <a:pt x="6394" y="139139"/>
                </a:lnTo>
                <a:lnTo>
                  <a:pt x="0" y="187553"/>
                </a:lnTo>
                <a:lnTo>
                  <a:pt x="1610" y="212008"/>
                </a:lnTo>
                <a:lnTo>
                  <a:pt x="14283" y="259294"/>
                </a:lnTo>
                <a:lnTo>
                  <a:pt x="38888" y="301876"/>
                </a:lnTo>
                <a:lnTo>
                  <a:pt x="73401" y="336247"/>
                </a:lnTo>
                <a:lnTo>
                  <a:pt x="115980" y="360846"/>
                </a:lnTo>
                <a:lnTo>
                  <a:pt x="163117" y="373511"/>
                </a:lnTo>
                <a:lnTo>
                  <a:pt x="187566" y="375119"/>
                </a:lnTo>
                <a:lnTo>
                  <a:pt x="212021" y="373511"/>
                </a:lnTo>
                <a:lnTo>
                  <a:pt x="259302" y="360846"/>
                </a:lnTo>
                <a:lnTo>
                  <a:pt x="301881" y="336247"/>
                </a:lnTo>
                <a:lnTo>
                  <a:pt x="336249" y="301876"/>
                </a:lnTo>
                <a:lnTo>
                  <a:pt x="360846" y="259294"/>
                </a:lnTo>
                <a:lnTo>
                  <a:pt x="373511" y="212008"/>
                </a:lnTo>
                <a:lnTo>
                  <a:pt x="375119" y="187553"/>
                </a:lnTo>
                <a:lnTo>
                  <a:pt x="373511" y="163111"/>
                </a:lnTo>
                <a:lnTo>
                  <a:pt x="360846" y="115975"/>
                </a:lnTo>
                <a:lnTo>
                  <a:pt x="336243" y="73393"/>
                </a:lnTo>
                <a:lnTo>
                  <a:pt x="301731" y="38878"/>
                </a:lnTo>
                <a:lnTo>
                  <a:pt x="259152" y="14273"/>
                </a:lnTo>
                <a:lnTo>
                  <a:pt x="212015" y="1608"/>
                </a:lnTo>
                <a:lnTo>
                  <a:pt x="187566" y="0"/>
                </a:lnTo>
                <a:close/>
              </a:path>
            </a:pathLst>
          </a:custGeom>
          <a:solidFill>
            <a:srgbClr val="437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59942" y="3440419"/>
            <a:ext cx="25527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20" b="1">
                <a:solidFill>
                  <a:srgbClr val="FFFFFF"/>
                </a:solidFill>
                <a:latin typeface="Yu Gothic"/>
                <a:cs typeface="Yu Gothic"/>
              </a:rPr>
              <a:t>03</a:t>
            </a:r>
            <a:endParaRPr sz="1300">
              <a:latin typeface="Yu Gothic"/>
              <a:cs typeface="Yu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1744" y="3317049"/>
            <a:ext cx="3564890" cy="476884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400" spc="-110" b="1">
                <a:solidFill>
                  <a:srgbClr val="202020"/>
                </a:solidFill>
                <a:latin typeface="Malgun Gothic"/>
                <a:cs typeface="Malgun Gothic"/>
              </a:rPr>
              <a:t>역기구학이</a:t>
            </a:r>
            <a:r>
              <a:rPr dirty="0" sz="1400" spc="-7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0" b="1">
                <a:solidFill>
                  <a:srgbClr val="202020"/>
                </a:solidFill>
                <a:latin typeface="Malgun Gothic"/>
                <a:cs typeface="Malgun Gothic"/>
              </a:rPr>
              <a:t>초기값에</a:t>
            </a:r>
            <a:r>
              <a:rPr dirty="0" sz="14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민감해</a:t>
            </a:r>
            <a:r>
              <a:rPr dirty="0" sz="14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엉뚱한</a:t>
            </a:r>
            <a:r>
              <a:rPr dirty="0" sz="14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자세로</a:t>
            </a:r>
            <a:r>
              <a:rPr dirty="0" sz="1400" spc="-7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65" b="1">
                <a:solidFill>
                  <a:srgbClr val="202020"/>
                </a:solidFill>
                <a:latin typeface="Malgun Gothic"/>
                <a:cs typeface="Malgun Gothic"/>
              </a:rPr>
              <a:t>수렴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해결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125">
                <a:solidFill>
                  <a:srgbClr val="959595"/>
                </a:solidFill>
                <a:latin typeface="Malgun Gothic"/>
                <a:cs typeface="Malgun Gothic"/>
              </a:rPr>
              <a:t>—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탑다운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시드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테이블을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미리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계산</a:t>
            </a:r>
            <a:r>
              <a:rPr dirty="0" sz="900" spc="-10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959595"/>
                </a:solidFill>
                <a:latin typeface="Microsoft Sans Serif"/>
                <a:cs typeface="Microsoft Sans Serif"/>
              </a:rPr>
              <a:t>,</a:t>
            </a:r>
            <a:r>
              <a:rPr dirty="0" sz="900" spc="29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도달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불가는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실행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전</a:t>
            </a:r>
            <a:r>
              <a:rPr dirty="0" sz="900" spc="-5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959595"/>
                </a:solidFill>
                <a:latin typeface="Malgun Gothic"/>
                <a:cs typeface="Malgun Gothic"/>
              </a:rPr>
              <a:t>차단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99553" y="4004642"/>
            <a:ext cx="375285" cy="375285"/>
          </a:xfrm>
          <a:custGeom>
            <a:avLst/>
            <a:gdLst/>
            <a:ahLst/>
            <a:cxnLst/>
            <a:rect l="l" t="t" r="r" b="b"/>
            <a:pathLst>
              <a:path w="375284" h="375285">
                <a:moveTo>
                  <a:pt x="187566" y="0"/>
                </a:moveTo>
                <a:lnTo>
                  <a:pt x="139142" y="6388"/>
                </a:lnTo>
                <a:lnTo>
                  <a:pt x="93967" y="25196"/>
                </a:lnTo>
                <a:lnTo>
                  <a:pt x="54997" y="54989"/>
                </a:lnTo>
                <a:lnTo>
                  <a:pt x="25209" y="93954"/>
                </a:lnTo>
                <a:lnTo>
                  <a:pt x="6394" y="139139"/>
                </a:lnTo>
                <a:lnTo>
                  <a:pt x="0" y="187553"/>
                </a:lnTo>
                <a:lnTo>
                  <a:pt x="1610" y="212008"/>
                </a:lnTo>
                <a:lnTo>
                  <a:pt x="14283" y="259294"/>
                </a:lnTo>
                <a:lnTo>
                  <a:pt x="38888" y="301876"/>
                </a:lnTo>
                <a:lnTo>
                  <a:pt x="73401" y="336247"/>
                </a:lnTo>
                <a:lnTo>
                  <a:pt x="115980" y="360846"/>
                </a:lnTo>
                <a:lnTo>
                  <a:pt x="163117" y="373511"/>
                </a:lnTo>
                <a:lnTo>
                  <a:pt x="187566" y="375119"/>
                </a:lnTo>
                <a:lnTo>
                  <a:pt x="212021" y="373511"/>
                </a:lnTo>
                <a:lnTo>
                  <a:pt x="259302" y="360846"/>
                </a:lnTo>
                <a:lnTo>
                  <a:pt x="301881" y="336247"/>
                </a:lnTo>
                <a:lnTo>
                  <a:pt x="336249" y="301876"/>
                </a:lnTo>
                <a:lnTo>
                  <a:pt x="360846" y="259294"/>
                </a:lnTo>
                <a:lnTo>
                  <a:pt x="373511" y="212008"/>
                </a:lnTo>
                <a:lnTo>
                  <a:pt x="375119" y="187553"/>
                </a:lnTo>
                <a:lnTo>
                  <a:pt x="373511" y="163111"/>
                </a:lnTo>
                <a:lnTo>
                  <a:pt x="360846" y="115975"/>
                </a:lnTo>
                <a:lnTo>
                  <a:pt x="336243" y="73393"/>
                </a:lnTo>
                <a:lnTo>
                  <a:pt x="301731" y="38878"/>
                </a:lnTo>
                <a:lnTo>
                  <a:pt x="259152" y="14273"/>
                </a:lnTo>
                <a:lnTo>
                  <a:pt x="212015" y="1608"/>
                </a:lnTo>
                <a:lnTo>
                  <a:pt x="187566" y="0"/>
                </a:lnTo>
                <a:close/>
              </a:path>
            </a:pathLst>
          </a:custGeom>
          <a:solidFill>
            <a:srgbClr val="437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59942" y="4080499"/>
            <a:ext cx="25527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20" b="1">
                <a:solidFill>
                  <a:srgbClr val="FFFFFF"/>
                </a:solidFill>
                <a:latin typeface="Yu Gothic"/>
                <a:cs typeface="Yu Gothic"/>
              </a:rPr>
              <a:t>04</a:t>
            </a:r>
            <a:endParaRPr sz="1300">
              <a:latin typeface="Yu Gothic"/>
              <a:cs typeface="Yu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11744" y="3957129"/>
            <a:ext cx="3547745" cy="476884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400" spc="75" b="1">
                <a:solidFill>
                  <a:srgbClr val="202020"/>
                </a:solidFill>
                <a:latin typeface="Yu Gothic"/>
                <a:cs typeface="Yu Gothic"/>
              </a:rPr>
              <a:t>IK</a:t>
            </a:r>
            <a:r>
              <a:rPr dirty="0" sz="1400" spc="455" b="1">
                <a:solidFill>
                  <a:srgbClr val="202020"/>
                </a:solidFill>
                <a:latin typeface="Yu Gothic"/>
                <a:cs typeface="Yu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목표에</a:t>
            </a:r>
            <a:r>
              <a:rPr dirty="0" sz="14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0" b="1">
                <a:solidFill>
                  <a:srgbClr val="202020"/>
                </a:solidFill>
                <a:latin typeface="Malgun Gothic"/>
                <a:cs typeface="Malgun Gothic"/>
              </a:rPr>
              <a:t>도달해도</a:t>
            </a:r>
            <a:r>
              <a:rPr dirty="0" sz="1400" spc="-8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파지</a:t>
            </a:r>
            <a:r>
              <a:rPr dirty="0" sz="1400" spc="-8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4" b="1">
                <a:solidFill>
                  <a:srgbClr val="202020"/>
                </a:solidFill>
                <a:latin typeface="Malgun Gothic"/>
                <a:cs typeface="Malgun Gothic"/>
              </a:rPr>
              <a:t>성공이</a:t>
            </a:r>
            <a:r>
              <a:rPr dirty="0" sz="1400" spc="-8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110" b="1">
                <a:solidFill>
                  <a:srgbClr val="202020"/>
                </a:solidFill>
                <a:latin typeface="Malgun Gothic"/>
                <a:cs typeface="Malgun Gothic"/>
              </a:rPr>
              <a:t>보장되지</a:t>
            </a:r>
            <a:r>
              <a:rPr dirty="0" sz="14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400" spc="-55" b="1">
                <a:solidFill>
                  <a:srgbClr val="202020"/>
                </a:solidFill>
                <a:latin typeface="Malgun Gothic"/>
                <a:cs typeface="Malgun Gothic"/>
              </a:rPr>
              <a:t>않음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해결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125">
                <a:solidFill>
                  <a:srgbClr val="959595"/>
                </a:solidFill>
                <a:latin typeface="Malgun Gothic"/>
                <a:cs typeface="Malgun Gothic"/>
              </a:rPr>
              <a:t>—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959595"/>
                </a:solidFill>
                <a:latin typeface="Malgun Gothic"/>
                <a:cs typeface="Malgun Gothic"/>
              </a:rPr>
              <a:t>위치</a:t>
            </a:r>
            <a:r>
              <a:rPr dirty="0" sz="900" spc="1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959595"/>
                </a:solidFill>
                <a:latin typeface="Microsoft Sans Serif"/>
                <a:cs typeface="Microsoft Sans Serif"/>
              </a:rPr>
              <a:t>·</a:t>
            </a:r>
            <a:r>
              <a:rPr dirty="0" sz="900" spc="265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부하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센서로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75">
                <a:solidFill>
                  <a:srgbClr val="959595"/>
                </a:solidFill>
                <a:latin typeface="Malgun Gothic"/>
                <a:cs typeface="Malgun Gothic"/>
              </a:rPr>
              <a:t>파지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확인</a:t>
            </a:r>
            <a:r>
              <a:rPr dirty="0" sz="900" spc="-10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959595"/>
                </a:solidFill>
                <a:latin typeface="Microsoft Sans Serif"/>
                <a:cs typeface="Microsoft Sans Serif"/>
              </a:rPr>
              <a:t>,</a:t>
            </a:r>
            <a:r>
              <a:rPr dirty="0" sz="900" spc="4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120">
                <a:solidFill>
                  <a:srgbClr val="959595"/>
                </a:solidFill>
                <a:latin typeface="Microsoft Sans Serif"/>
                <a:cs typeface="Microsoft Sans Serif"/>
              </a:rPr>
              <a:t>±15mm</a:t>
            </a:r>
            <a:r>
              <a:rPr dirty="0" sz="900" spc="25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네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80">
                <a:solidFill>
                  <a:srgbClr val="959595"/>
                </a:solidFill>
                <a:latin typeface="Malgun Gothic"/>
                <a:cs typeface="Malgun Gothic"/>
              </a:rPr>
              <a:t>방향</a:t>
            </a:r>
            <a:r>
              <a:rPr dirty="0" sz="900" spc="-6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959595"/>
                </a:solidFill>
                <a:latin typeface="Malgun Gothic"/>
                <a:cs typeface="Malgun Gothic"/>
              </a:rPr>
              <a:t>재시도</a:t>
            </a:r>
            <a:endParaRPr sz="9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96260" y="1390575"/>
            <a:ext cx="2952115" cy="4070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⑦</a:t>
            </a:r>
            <a:r>
              <a:rPr dirty="0" spc="114"/>
              <a:t> </a:t>
            </a:r>
            <a:r>
              <a:rPr dirty="0" spc="-204"/>
              <a:t>현재</a:t>
            </a:r>
            <a:r>
              <a:rPr dirty="0" spc="-190"/>
              <a:t> </a:t>
            </a:r>
            <a:r>
              <a:rPr dirty="0"/>
              <a:t>성과</a:t>
            </a:r>
            <a:r>
              <a:rPr dirty="0" spc="295"/>
              <a:t> </a:t>
            </a:r>
            <a:r>
              <a:rPr dirty="0" spc="265">
                <a:latin typeface="Yu Gothic"/>
                <a:cs typeface="Yu Gothic"/>
              </a:rPr>
              <a:t>&amp;</a:t>
            </a:r>
            <a:r>
              <a:rPr dirty="0" spc="605">
                <a:latin typeface="Yu Gothic"/>
                <a:cs typeface="Yu Gothic"/>
              </a:rPr>
              <a:t> </a:t>
            </a:r>
            <a:r>
              <a:rPr dirty="0" spc="-170"/>
              <a:t>한계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53015" y="1090703"/>
            <a:ext cx="22402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80">
                <a:solidFill>
                  <a:srgbClr val="202020"/>
                </a:solidFill>
                <a:latin typeface="Microsoft Sans Serif"/>
                <a:cs typeface="Microsoft Sans Serif"/>
              </a:rPr>
              <a:t>9</a:t>
            </a:r>
            <a:r>
              <a:rPr dirty="0" sz="1000" spc="-7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202020"/>
                </a:solidFill>
                <a:latin typeface="Malgun Gothic"/>
                <a:cs typeface="Malgun Gothic"/>
              </a:rPr>
              <a:t>월</a:t>
            </a:r>
            <a:r>
              <a:rPr dirty="0" sz="1000" spc="8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80">
                <a:solidFill>
                  <a:srgbClr val="202020"/>
                </a:solidFill>
                <a:latin typeface="Microsoft Sans Serif"/>
                <a:cs typeface="Microsoft Sans Serif"/>
              </a:rPr>
              <a:t>2</a:t>
            </a:r>
            <a:r>
              <a:rPr dirty="0" sz="1000" spc="-5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80">
                <a:solidFill>
                  <a:srgbClr val="202020"/>
                </a:solidFill>
                <a:latin typeface="Malgun Gothic"/>
                <a:cs typeface="Malgun Gothic"/>
              </a:rPr>
              <a:t>일</a:t>
            </a:r>
            <a:r>
              <a:rPr dirty="0" sz="1000" spc="-9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202020"/>
                </a:solidFill>
                <a:latin typeface="Malgun Gothic"/>
                <a:cs typeface="Malgun Gothic"/>
              </a:rPr>
              <a:t>시연</a:t>
            </a:r>
            <a:r>
              <a:rPr dirty="0" sz="1000" spc="10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>
                <a:solidFill>
                  <a:srgbClr val="202020"/>
                </a:solidFill>
                <a:latin typeface="Microsoft Sans Serif"/>
                <a:cs typeface="Microsoft Sans Serif"/>
              </a:rPr>
              <a:t>·</a:t>
            </a:r>
            <a:r>
              <a:rPr dirty="0" sz="1000" spc="1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80">
                <a:solidFill>
                  <a:srgbClr val="202020"/>
                </a:solidFill>
                <a:latin typeface="Microsoft Sans Serif"/>
                <a:cs typeface="Microsoft Sans Serif"/>
              </a:rPr>
              <a:t>9</a:t>
            </a:r>
            <a:r>
              <a:rPr dirty="0" sz="1000" spc="-45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>
                <a:solidFill>
                  <a:srgbClr val="202020"/>
                </a:solidFill>
                <a:latin typeface="Malgun Gothic"/>
                <a:cs typeface="Malgun Gothic"/>
              </a:rPr>
              <a:t>월</a:t>
            </a:r>
            <a:r>
              <a:rPr dirty="0" sz="1000" spc="120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80">
                <a:solidFill>
                  <a:srgbClr val="202020"/>
                </a:solidFill>
                <a:latin typeface="Microsoft Sans Serif"/>
                <a:cs typeface="Microsoft Sans Serif"/>
              </a:rPr>
              <a:t>8</a:t>
            </a:r>
            <a:r>
              <a:rPr dirty="0" sz="1000" spc="-50">
                <a:solidFill>
                  <a:srgbClr val="202020"/>
                </a:solidFill>
                <a:latin typeface="Microsoft Sans Serif"/>
                <a:cs typeface="Microsoft Sans Serif"/>
              </a:rPr>
              <a:t> </a:t>
            </a:r>
            <a:r>
              <a:rPr dirty="0" sz="1000" spc="-80">
                <a:solidFill>
                  <a:srgbClr val="202020"/>
                </a:solidFill>
                <a:latin typeface="Malgun Gothic"/>
                <a:cs typeface="Malgun Gothic"/>
              </a:rPr>
              <a:t>일</a:t>
            </a:r>
            <a:r>
              <a:rPr dirty="0" sz="1000" spc="-9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90">
                <a:solidFill>
                  <a:srgbClr val="202020"/>
                </a:solidFill>
                <a:latin typeface="Malgun Gothic"/>
                <a:cs typeface="Malgun Gothic"/>
              </a:rPr>
              <a:t>제한시간</a:t>
            </a:r>
            <a:r>
              <a:rPr dirty="0" sz="1000" spc="-85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25">
                <a:solidFill>
                  <a:srgbClr val="202020"/>
                </a:solidFill>
                <a:latin typeface="Malgun Gothic"/>
                <a:cs typeface="Malgun Gothic"/>
              </a:rPr>
              <a:t>시험</a:t>
            </a:r>
            <a:endParaRPr sz="1000">
              <a:latin typeface="Malgun Gothic"/>
              <a:cs typeface="Malgun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4438" y="2235595"/>
            <a:ext cx="8115934" cy="2384425"/>
            <a:chOff x="514438" y="2235595"/>
            <a:chExt cx="8115934" cy="2384425"/>
          </a:xfrm>
        </p:grpSpPr>
        <p:sp>
          <p:nvSpPr>
            <p:cNvPr id="5" name="object 5"/>
            <p:cNvSpPr/>
            <p:nvPr/>
          </p:nvSpPr>
          <p:spPr>
            <a:xfrm>
              <a:off x="514438" y="2235595"/>
              <a:ext cx="8115934" cy="2384425"/>
            </a:xfrm>
            <a:custGeom>
              <a:avLst/>
              <a:gdLst/>
              <a:ahLst/>
              <a:cxnLst/>
              <a:rect l="l" t="t" r="r" b="b"/>
              <a:pathLst>
                <a:path w="8115934" h="2384425">
                  <a:moveTo>
                    <a:pt x="8115477" y="0"/>
                  </a:moveTo>
                  <a:lnTo>
                    <a:pt x="0" y="0"/>
                  </a:lnTo>
                  <a:lnTo>
                    <a:pt x="0" y="2384285"/>
                  </a:lnTo>
                  <a:lnTo>
                    <a:pt x="8115477" y="2384285"/>
                  </a:lnTo>
                  <a:lnTo>
                    <a:pt x="81154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5074" y="3460726"/>
              <a:ext cx="101600" cy="12065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59116" y="2891779"/>
            <a:ext cx="959485" cy="715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985">
              <a:lnSpc>
                <a:spcPct val="100000"/>
              </a:lnSpc>
              <a:spcBef>
                <a:spcPts val="100"/>
              </a:spcBef>
            </a:pPr>
            <a:r>
              <a:rPr dirty="0" sz="2200" spc="45" b="1">
                <a:solidFill>
                  <a:srgbClr val="4377FA"/>
                </a:solidFill>
                <a:latin typeface="Yu Gothic"/>
                <a:cs typeface="Yu Gothic"/>
              </a:rPr>
              <a:t>4/5</a:t>
            </a:r>
            <a:endParaRPr sz="2200">
              <a:latin typeface="Yu Gothic"/>
              <a:cs typeface="Yu Gothic"/>
            </a:endParaRPr>
          </a:p>
          <a:p>
            <a:pPr algn="ctr" marR="5080">
              <a:lnSpc>
                <a:spcPct val="100000"/>
              </a:lnSpc>
              <a:spcBef>
                <a:spcPts val="1590"/>
              </a:spcBef>
              <a:tabLst>
                <a:tab pos="713740" algn="l"/>
              </a:tabLst>
            </a:pPr>
            <a:r>
              <a:rPr dirty="0" sz="1000" spc="114" b="1">
                <a:solidFill>
                  <a:srgbClr val="202020"/>
                </a:solidFill>
                <a:latin typeface="Yu Gothic"/>
                <a:cs typeface="Yu Gothic"/>
              </a:rPr>
              <a:t>180</a:t>
            </a:r>
            <a:r>
              <a:rPr dirty="0" sz="1000" spc="-40" b="1">
                <a:solidFill>
                  <a:srgbClr val="202020"/>
                </a:solidFill>
                <a:latin typeface="Yu Gothic"/>
                <a:cs typeface="Yu Gothic"/>
              </a:rPr>
              <a:t> </a:t>
            </a:r>
            <a:r>
              <a:rPr dirty="0" sz="1000" spc="-85" b="1">
                <a:solidFill>
                  <a:srgbClr val="202020"/>
                </a:solidFill>
                <a:latin typeface="Malgun Gothic"/>
                <a:cs typeface="Malgun Gothic"/>
              </a:rPr>
              <a:t>초</a:t>
            </a:r>
            <a:r>
              <a:rPr dirty="0" sz="1000" spc="-8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-50" b="1">
                <a:solidFill>
                  <a:srgbClr val="202020"/>
                </a:solidFill>
                <a:latin typeface="Malgun Gothic"/>
                <a:cs typeface="Malgun Gothic"/>
              </a:rPr>
              <a:t>시</a:t>
            </a:r>
            <a:r>
              <a:rPr dirty="0" sz="1000" b="1">
                <a:solidFill>
                  <a:srgbClr val="202020"/>
                </a:solidFill>
                <a:latin typeface="Malgun Gothic"/>
                <a:cs typeface="Malgun Gothic"/>
              </a:rPr>
              <a:t>	</a:t>
            </a:r>
            <a:r>
              <a:rPr dirty="0" sz="1000" spc="-110" b="1">
                <a:solidFill>
                  <a:srgbClr val="202020"/>
                </a:solidFill>
                <a:latin typeface="Malgun Gothic"/>
                <a:cs typeface="Malgun Gothic"/>
              </a:rPr>
              <a:t>배치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6478" y="3749295"/>
            <a:ext cx="16198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파란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959595"/>
                </a:solidFill>
                <a:latin typeface="Malgun Gothic"/>
                <a:cs typeface="Malgun Gothic"/>
              </a:rPr>
              <a:t>블록</a:t>
            </a:r>
            <a:r>
              <a:rPr dirty="0" sz="800" spc="10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55">
                <a:solidFill>
                  <a:srgbClr val="959595"/>
                </a:solidFill>
                <a:latin typeface="Microsoft Sans Serif"/>
                <a:cs typeface="Microsoft Sans Serif"/>
              </a:rPr>
              <a:t>1</a:t>
            </a:r>
            <a:r>
              <a:rPr dirty="0" sz="800" spc="-2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개가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영역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밖에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남아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종료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11957" y="2891779"/>
            <a:ext cx="1511300" cy="715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0160">
              <a:lnSpc>
                <a:spcPct val="100000"/>
              </a:lnSpc>
              <a:spcBef>
                <a:spcPts val="100"/>
              </a:spcBef>
            </a:pPr>
            <a:r>
              <a:rPr dirty="0" sz="2200" spc="225" b="1">
                <a:solidFill>
                  <a:srgbClr val="4377FA"/>
                </a:solidFill>
                <a:latin typeface="Yu Gothic"/>
                <a:cs typeface="Yu Gothic"/>
              </a:rPr>
              <a:t>8.18</a:t>
            </a:r>
            <a:endParaRPr sz="2200">
              <a:latin typeface="Yu Gothic"/>
              <a:cs typeface="Yu Gothic"/>
            </a:endParaRPr>
          </a:p>
          <a:p>
            <a:pPr algn="ctr" marR="5080">
              <a:lnSpc>
                <a:spcPct val="100000"/>
              </a:lnSpc>
              <a:spcBef>
                <a:spcPts val="1590"/>
              </a:spcBef>
            </a:pPr>
            <a:r>
              <a:rPr dirty="0" sz="1000" spc="-65" b="1">
                <a:solidFill>
                  <a:srgbClr val="202020"/>
                </a:solidFill>
                <a:latin typeface="Malgun Gothic"/>
                <a:cs typeface="Malgun Gothic"/>
              </a:rPr>
              <a:t>캘리브레이션</a:t>
            </a:r>
            <a:r>
              <a:rPr dirty="0" sz="1000" spc="150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b="1">
                <a:solidFill>
                  <a:srgbClr val="202020"/>
                </a:solidFill>
                <a:latin typeface="Yu Gothic"/>
                <a:cs typeface="Yu Gothic"/>
              </a:rPr>
              <a:t>RMS</a:t>
            </a:r>
            <a:r>
              <a:rPr dirty="0" sz="1000" spc="65" b="1">
                <a:solidFill>
                  <a:srgbClr val="202020"/>
                </a:solidFill>
                <a:latin typeface="Yu Gothic"/>
                <a:cs typeface="Yu Gothic"/>
              </a:rPr>
              <a:t> </a:t>
            </a:r>
            <a:r>
              <a:rPr dirty="0" sz="1000" spc="60" b="1">
                <a:solidFill>
                  <a:srgbClr val="202020"/>
                </a:solidFill>
                <a:latin typeface="Yu Gothic"/>
                <a:cs typeface="Yu Gothic"/>
              </a:rPr>
              <a:t>(mm)</a:t>
            </a:r>
            <a:endParaRPr sz="100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21038" y="3749295"/>
            <a:ext cx="12915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959595"/>
                </a:solidFill>
                <a:latin typeface="Malgun Gothic"/>
                <a:cs typeface="Malgun Gothic"/>
              </a:rPr>
              <a:t>목표</a:t>
            </a:r>
            <a:r>
              <a:rPr dirty="0" sz="800" spc="8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95">
                <a:solidFill>
                  <a:srgbClr val="959595"/>
                </a:solidFill>
                <a:latin typeface="Microsoft Sans Serif"/>
                <a:cs typeface="Microsoft Sans Serif"/>
              </a:rPr>
              <a:t>5mm</a:t>
            </a:r>
            <a:r>
              <a:rPr dirty="0" sz="800" spc="20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미만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기준에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35">
                <a:solidFill>
                  <a:srgbClr val="959595"/>
                </a:solidFill>
                <a:latin typeface="Malgun Gothic"/>
                <a:cs typeface="Malgun Gothic"/>
              </a:rPr>
              <a:t>미달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12194" y="2891779"/>
            <a:ext cx="1353185" cy="715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200" spc="235" b="1">
                <a:solidFill>
                  <a:srgbClr val="4377FA"/>
                </a:solidFill>
                <a:latin typeface="Yu Gothic"/>
                <a:cs typeface="Yu Gothic"/>
              </a:rPr>
              <a:t>26.64</a:t>
            </a:r>
            <a:endParaRPr sz="2200">
              <a:latin typeface="Yu Gothic"/>
              <a:cs typeface="Yu Gothic"/>
            </a:endParaRPr>
          </a:p>
          <a:p>
            <a:pPr algn="ctr" marR="5080">
              <a:lnSpc>
                <a:spcPct val="100000"/>
              </a:lnSpc>
              <a:spcBef>
                <a:spcPts val="1590"/>
              </a:spcBef>
            </a:pPr>
            <a:r>
              <a:rPr dirty="0" sz="1000" b="1">
                <a:solidFill>
                  <a:srgbClr val="202020"/>
                </a:solidFill>
                <a:latin typeface="Malgun Gothic"/>
                <a:cs typeface="Malgun Gothic"/>
              </a:rPr>
              <a:t>최대</a:t>
            </a:r>
            <a:r>
              <a:rPr dirty="0" sz="1000" spc="8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b="1">
                <a:solidFill>
                  <a:srgbClr val="202020"/>
                </a:solidFill>
                <a:latin typeface="Yu Gothic"/>
                <a:cs typeface="Yu Gothic"/>
              </a:rPr>
              <a:t>LOO</a:t>
            </a:r>
            <a:r>
              <a:rPr dirty="0" sz="1000" spc="225" b="1">
                <a:solidFill>
                  <a:srgbClr val="202020"/>
                </a:solidFill>
                <a:latin typeface="Yu Gothic"/>
                <a:cs typeface="Yu Gothic"/>
              </a:rPr>
              <a:t> </a:t>
            </a:r>
            <a:r>
              <a:rPr dirty="0" sz="1000" b="1">
                <a:solidFill>
                  <a:srgbClr val="202020"/>
                </a:solidFill>
                <a:latin typeface="Malgun Gothic"/>
                <a:cs typeface="Malgun Gothic"/>
              </a:rPr>
              <a:t>오차</a:t>
            </a:r>
            <a:r>
              <a:rPr dirty="0" sz="1000" spc="85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spc="60" b="1">
                <a:solidFill>
                  <a:srgbClr val="202020"/>
                </a:solidFill>
                <a:latin typeface="Yu Gothic"/>
                <a:cs typeface="Yu Gothic"/>
              </a:rPr>
              <a:t>(mm)</a:t>
            </a:r>
            <a:endParaRPr sz="1000">
              <a:latin typeface="Yu Gothic"/>
              <a:cs typeface="Yu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5082" y="3749295"/>
            <a:ext cx="11652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블록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959595"/>
                </a:solidFill>
                <a:latin typeface="Malgun Gothic"/>
                <a:cs typeface="Malgun Gothic"/>
              </a:rPr>
              <a:t>폭</a:t>
            </a:r>
            <a:r>
              <a:rPr dirty="0" sz="800" spc="13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85">
                <a:solidFill>
                  <a:srgbClr val="959595"/>
                </a:solidFill>
                <a:latin typeface="Microsoft Sans Serif"/>
                <a:cs typeface="Microsoft Sans Serif"/>
              </a:rPr>
              <a:t>40mm</a:t>
            </a:r>
            <a:r>
              <a:rPr dirty="0" sz="800" spc="-25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보다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큰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값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14679" y="2891779"/>
            <a:ext cx="1009015" cy="715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810">
              <a:lnSpc>
                <a:spcPct val="100000"/>
              </a:lnSpc>
              <a:spcBef>
                <a:spcPts val="100"/>
              </a:spcBef>
            </a:pPr>
            <a:r>
              <a:rPr dirty="0" sz="2200" spc="260" b="1">
                <a:solidFill>
                  <a:srgbClr val="4377FA"/>
                </a:solidFill>
                <a:latin typeface="Yu Gothic"/>
                <a:cs typeface="Yu Gothic"/>
              </a:rPr>
              <a:t>58%</a:t>
            </a:r>
            <a:endParaRPr sz="2200">
              <a:latin typeface="Yu Gothic"/>
              <a:cs typeface="Yu Gothic"/>
            </a:endParaRPr>
          </a:p>
          <a:p>
            <a:pPr algn="ctr" marR="5080">
              <a:lnSpc>
                <a:spcPct val="100000"/>
              </a:lnSpc>
              <a:spcBef>
                <a:spcPts val="1590"/>
              </a:spcBef>
            </a:pPr>
            <a:r>
              <a:rPr dirty="0" sz="1000" b="1">
                <a:solidFill>
                  <a:srgbClr val="202020"/>
                </a:solidFill>
                <a:latin typeface="Malgun Gothic"/>
                <a:cs typeface="Malgun Gothic"/>
              </a:rPr>
              <a:t>초기</a:t>
            </a:r>
            <a:r>
              <a:rPr dirty="0" sz="1000" spc="114" b="1">
                <a:solidFill>
                  <a:srgbClr val="202020"/>
                </a:solidFill>
                <a:latin typeface="Malgun Gothic"/>
                <a:cs typeface="Malgun Gothic"/>
              </a:rPr>
              <a:t> </a:t>
            </a:r>
            <a:r>
              <a:rPr dirty="0" sz="1000" b="1">
                <a:solidFill>
                  <a:srgbClr val="202020"/>
                </a:solidFill>
                <a:latin typeface="Yu Gothic"/>
                <a:cs typeface="Yu Gothic"/>
              </a:rPr>
              <a:t>ACT</a:t>
            </a:r>
            <a:r>
              <a:rPr dirty="0" sz="1000" spc="265" b="1">
                <a:solidFill>
                  <a:srgbClr val="202020"/>
                </a:solidFill>
                <a:latin typeface="Yu Gothic"/>
                <a:cs typeface="Yu Gothic"/>
              </a:rPr>
              <a:t> </a:t>
            </a:r>
            <a:r>
              <a:rPr dirty="0" sz="1000" spc="-100" b="1">
                <a:solidFill>
                  <a:srgbClr val="202020"/>
                </a:solidFill>
                <a:latin typeface="Malgun Gothic"/>
                <a:cs typeface="Malgun Gothic"/>
              </a:rPr>
              <a:t>성공률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87603" y="3749295"/>
            <a:ext cx="125857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모방학습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시절</a:t>
            </a:r>
            <a:r>
              <a:rPr dirty="0" sz="800" spc="-2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단일</a:t>
            </a:r>
            <a:r>
              <a:rPr dirty="0" sz="800" spc="-4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블록</a:t>
            </a:r>
            <a:r>
              <a:rPr dirty="0" sz="800" spc="-3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40">
                <a:solidFill>
                  <a:srgbClr val="959595"/>
                </a:solidFill>
                <a:latin typeface="Malgun Gothic"/>
                <a:cs typeface="Malgun Gothic"/>
              </a:rPr>
              <a:t>이동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47721" y="2660766"/>
            <a:ext cx="4048760" cy="1325880"/>
          </a:xfrm>
          <a:custGeom>
            <a:avLst/>
            <a:gdLst/>
            <a:ahLst/>
            <a:cxnLst/>
            <a:rect l="l" t="t" r="r" b="b"/>
            <a:pathLst>
              <a:path w="4048759" h="1325879">
                <a:moveTo>
                  <a:pt x="0" y="0"/>
                </a:moveTo>
                <a:lnTo>
                  <a:pt x="723" y="1325880"/>
                </a:lnTo>
              </a:path>
              <a:path w="4048759" h="1325879">
                <a:moveTo>
                  <a:pt x="2023922" y="0"/>
                </a:moveTo>
                <a:lnTo>
                  <a:pt x="2024634" y="1325880"/>
                </a:lnTo>
              </a:path>
              <a:path w="4048759" h="1325879">
                <a:moveTo>
                  <a:pt x="4047832" y="0"/>
                </a:moveTo>
                <a:lnTo>
                  <a:pt x="4048556" y="1325880"/>
                </a:lnTo>
              </a:path>
            </a:pathLst>
          </a:custGeom>
          <a:ln w="19079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245321" y="4192462"/>
            <a:ext cx="4662805" cy="367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0"/>
              </a:spcBef>
            </a:pP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정확도를</a:t>
            </a:r>
            <a:r>
              <a:rPr dirty="0" sz="800" spc="-4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더</a:t>
            </a:r>
            <a:r>
              <a:rPr dirty="0" sz="800" spc="-4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끌어올리는</a:t>
            </a:r>
            <a:r>
              <a:rPr dirty="0" sz="800" spc="-4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대신 </a:t>
            </a:r>
            <a:r>
              <a:rPr dirty="0" sz="800">
                <a:solidFill>
                  <a:srgbClr val="959595"/>
                </a:solidFill>
                <a:latin typeface="Microsoft Sans Serif"/>
                <a:cs typeface="Microsoft Sans Serif"/>
              </a:rPr>
              <a:t>,</a:t>
            </a:r>
            <a:r>
              <a:rPr dirty="0" sz="800" spc="229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이</a:t>
            </a:r>
            <a:r>
              <a:rPr dirty="0" sz="800" spc="-4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오차를</a:t>
            </a:r>
            <a:r>
              <a:rPr dirty="0" sz="800" spc="-4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전제로</a:t>
            </a:r>
            <a:r>
              <a:rPr dirty="0" sz="800" spc="-4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흡수하는</a:t>
            </a:r>
            <a:r>
              <a:rPr dirty="0" sz="800" spc="-4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설계</a:t>
            </a:r>
            <a:r>
              <a:rPr dirty="0" sz="800" spc="-4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125">
                <a:solidFill>
                  <a:srgbClr val="959595"/>
                </a:solidFill>
                <a:latin typeface="Malgun Gothic"/>
                <a:cs typeface="Malgun Gothic"/>
              </a:rPr>
              <a:t>—</a:t>
            </a:r>
            <a:r>
              <a:rPr dirty="0" sz="800" spc="-4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파지</a:t>
            </a:r>
            <a:r>
              <a:rPr dirty="0" sz="800" spc="-4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검증</a:t>
            </a:r>
            <a:r>
              <a:rPr dirty="0" sz="800" spc="-4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후</a:t>
            </a:r>
            <a:r>
              <a:rPr dirty="0" sz="800" spc="-4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959595"/>
                </a:solidFill>
                <a:latin typeface="Malgun Gothic"/>
                <a:cs typeface="Malgun Gothic"/>
              </a:rPr>
              <a:t>진행</a:t>
            </a:r>
            <a:r>
              <a:rPr dirty="0" sz="800" spc="19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959595"/>
                </a:solidFill>
                <a:latin typeface="Microsoft Sans Serif"/>
                <a:cs typeface="Microsoft Sans Serif"/>
              </a:rPr>
              <a:t>·</a:t>
            </a:r>
            <a:r>
              <a:rPr dirty="0" sz="800" spc="245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도달</a:t>
            </a:r>
            <a:r>
              <a:rPr dirty="0" sz="800" spc="-4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가능성</a:t>
            </a:r>
            <a:r>
              <a:rPr dirty="0" sz="800" spc="-4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사전</a:t>
            </a:r>
            <a:r>
              <a:rPr dirty="0" sz="800" spc="-4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95">
                <a:solidFill>
                  <a:srgbClr val="959595"/>
                </a:solidFill>
                <a:latin typeface="Malgun Gothic"/>
                <a:cs typeface="Malgun Gothic"/>
              </a:rPr>
              <a:t>검사</a:t>
            </a:r>
            <a:endParaRPr sz="800">
              <a:latin typeface="Malgun Gothic"/>
              <a:cs typeface="Malgun Gothic"/>
            </a:endParaRPr>
          </a:p>
          <a:p>
            <a:pPr algn="ctr" marR="5080">
              <a:lnSpc>
                <a:spcPct val="100000"/>
              </a:lnSpc>
              <a:spcBef>
                <a:spcPts val="765"/>
              </a:spcBef>
            </a:pPr>
            <a:r>
              <a:rPr dirty="0" sz="800">
                <a:solidFill>
                  <a:srgbClr val="959595"/>
                </a:solidFill>
                <a:latin typeface="Microsoft Sans Serif"/>
                <a:cs typeface="Microsoft Sans Serif"/>
              </a:rPr>
              <a:t>Task</a:t>
            </a:r>
            <a:r>
              <a:rPr dirty="0" sz="800" spc="4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55">
                <a:solidFill>
                  <a:srgbClr val="959595"/>
                </a:solidFill>
                <a:latin typeface="Microsoft Sans Serif"/>
                <a:cs typeface="Microsoft Sans Serif"/>
              </a:rPr>
              <a:t>2</a:t>
            </a:r>
            <a:r>
              <a:rPr dirty="0" sz="800" spc="235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20">
                <a:solidFill>
                  <a:srgbClr val="959595"/>
                </a:solidFill>
                <a:latin typeface="Malgun Gothic"/>
                <a:cs typeface="Malgun Gothic"/>
              </a:rPr>
              <a:t>적재는</a:t>
            </a:r>
            <a:r>
              <a:rPr dirty="0" sz="800" spc="14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55">
                <a:solidFill>
                  <a:srgbClr val="959595"/>
                </a:solidFill>
                <a:latin typeface="Microsoft Sans Serif"/>
                <a:cs typeface="Microsoft Sans Serif"/>
              </a:rPr>
              <a:t>3</a:t>
            </a:r>
            <a:r>
              <a:rPr dirty="0" sz="800" spc="-25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단까지</a:t>
            </a:r>
            <a:r>
              <a:rPr dirty="0" sz="800" spc="-4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성공 </a:t>
            </a:r>
            <a:r>
              <a:rPr dirty="0" sz="800">
                <a:solidFill>
                  <a:srgbClr val="959595"/>
                </a:solidFill>
                <a:latin typeface="Microsoft Sans Serif"/>
                <a:cs typeface="Microsoft Sans Serif"/>
              </a:rPr>
              <a:t>,</a:t>
            </a:r>
            <a:r>
              <a:rPr dirty="0" sz="800" spc="3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55">
                <a:solidFill>
                  <a:srgbClr val="959595"/>
                </a:solidFill>
                <a:latin typeface="Microsoft Sans Serif"/>
                <a:cs typeface="Microsoft Sans Serif"/>
              </a:rPr>
              <a:t>4</a:t>
            </a:r>
            <a:r>
              <a:rPr dirty="0" sz="800" spc="-15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단째부터</a:t>
            </a:r>
            <a:r>
              <a:rPr dirty="0" sz="800" spc="-4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탑다운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자세의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각도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959595"/>
                </a:solidFill>
                <a:latin typeface="Malgun Gothic"/>
                <a:cs typeface="Malgun Gothic"/>
              </a:rPr>
              <a:t>한계</a:t>
            </a:r>
            <a:endParaRPr sz="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2655" y="1390575"/>
            <a:ext cx="1744345" cy="4070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Ⓑ</a:t>
            </a:r>
            <a:r>
              <a:rPr dirty="0" spc="280"/>
              <a:t> </a:t>
            </a:r>
            <a:r>
              <a:rPr dirty="0" spc="-204"/>
              <a:t>향후</a:t>
            </a:r>
            <a:r>
              <a:rPr dirty="0" spc="-190"/>
              <a:t> </a:t>
            </a:r>
            <a:r>
              <a:rPr dirty="0" spc="-180"/>
              <a:t>계획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1814" y="1075577"/>
            <a:ext cx="102235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latin typeface="Arial MT"/>
                <a:cs typeface="Arial MT"/>
              </a:rPr>
              <a:t>Task</a:t>
            </a:r>
            <a:r>
              <a:rPr dirty="0" sz="700">
                <a:latin typeface="Arial MT"/>
                <a:cs typeface="Arial MT"/>
              </a:rPr>
              <a:t> 2</a:t>
            </a:r>
            <a:r>
              <a:rPr dirty="0" sz="700" spc="185">
                <a:latin typeface="Arial MT"/>
                <a:cs typeface="Arial MT"/>
              </a:rPr>
              <a:t> </a:t>
            </a:r>
            <a:r>
              <a:rPr dirty="0" sz="700" spc="-70">
                <a:latin typeface="Malgun Gothic"/>
                <a:cs typeface="Malgun Gothic"/>
              </a:rPr>
              <a:t>완성과</a:t>
            </a:r>
            <a:r>
              <a:rPr dirty="0" sz="700" spc="-60">
                <a:latin typeface="Malgun Gothic"/>
                <a:cs typeface="Malgun Gothic"/>
              </a:rPr>
              <a:t> </a:t>
            </a:r>
            <a:r>
              <a:rPr dirty="0" sz="700" spc="-70">
                <a:latin typeface="Malgun Gothic"/>
                <a:cs typeface="Malgun Gothic"/>
              </a:rPr>
              <a:t>정확도</a:t>
            </a:r>
            <a:r>
              <a:rPr dirty="0" sz="700" spc="-60">
                <a:latin typeface="Malgun Gothic"/>
                <a:cs typeface="Malgun Gothic"/>
              </a:rPr>
              <a:t> </a:t>
            </a:r>
            <a:r>
              <a:rPr dirty="0" sz="700" spc="-40">
                <a:latin typeface="Malgun Gothic"/>
                <a:cs typeface="Malgun Gothic"/>
              </a:rPr>
              <a:t>보완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438" y="2126159"/>
            <a:ext cx="8115934" cy="87249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06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</a:pPr>
            <a:endParaRPr sz="1300">
              <a:latin typeface="Times New Roman"/>
              <a:cs typeface="Times New Roman"/>
            </a:endParaRPr>
          </a:p>
          <a:p>
            <a:pPr marL="234315">
              <a:lnSpc>
                <a:spcPct val="100000"/>
              </a:lnSpc>
              <a:spcBef>
                <a:spcPts val="5"/>
              </a:spcBef>
            </a:pPr>
            <a:r>
              <a:rPr dirty="0" u="sng" sz="1500" spc="175" b="1">
                <a:solidFill>
                  <a:srgbClr val="4377FA"/>
                </a:solidFill>
                <a:uFill>
                  <a:solidFill>
                    <a:srgbClr val="4377FA"/>
                  </a:solidFill>
                </a:uFill>
                <a:latin typeface="Yu Gothic"/>
                <a:cs typeface="Yu Gothic"/>
              </a:rPr>
              <a:t>01</a:t>
            </a:r>
            <a:r>
              <a:rPr dirty="0" sz="1500" spc="355" b="1">
                <a:solidFill>
                  <a:srgbClr val="4377FA"/>
                </a:solidFill>
                <a:latin typeface="Yu Gothic"/>
                <a:cs typeface="Yu Gothic"/>
              </a:rPr>
              <a:t> </a:t>
            </a:r>
            <a:r>
              <a:rPr dirty="0" sz="1300" spc="-120" b="1">
                <a:solidFill>
                  <a:srgbClr val="4377FA"/>
                </a:solidFill>
                <a:latin typeface="Malgun Gothic"/>
                <a:cs typeface="Malgun Gothic"/>
              </a:rPr>
              <a:t>그리퍼</a:t>
            </a:r>
            <a:r>
              <a:rPr dirty="0" sz="1300" spc="-95" b="1">
                <a:solidFill>
                  <a:srgbClr val="4377FA"/>
                </a:solidFill>
                <a:latin typeface="Malgun Gothic"/>
                <a:cs typeface="Malgun Gothic"/>
              </a:rPr>
              <a:t> </a:t>
            </a:r>
            <a:r>
              <a:rPr dirty="0" sz="1300" spc="-110" b="1">
                <a:solidFill>
                  <a:srgbClr val="4377FA"/>
                </a:solidFill>
                <a:latin typeface="Malgun Gothic"/>
                <a:cs typeface="Malgun Gothic"/>
              </a:rPr>
              <a:t>수평</a:t>
            </a:r>
            <a:r>
              <a:rPr dirty="0" sz="1300" spc="-100" b="1">
                <a:solidFill>
                  <a:srgbClr val="4377FA"/>
                </a:solidFill>
                <a:latin typeface="Malgun Gothic"/>
                <a:cs typeface="Malgun Gothic"/>
              </a:rPr>
              <a:t> </a:t>
            </a:r>
            <a:r>
              <a:rPr dirty="0" sz="1300" spc="-114" b="1">
                <a:solidFill>
                  <a:srgbClr val="4377FA"/>
                </a:solidFill>
                <a:latin typeface="Malgun Gothic"/>
                <a:cs typeface="Malgun Gothic"/>
              </a:rPr>
              <a:t>접근</a:t>
            </a:r>
            <a:r>
              <a:rPr dirty="0" sz="1300" spc="-110" b="1">
                <a:solidFill>
                  <a:srgbClr val="4377FA"/>
                </a:solidFill>
                <a:latin typeface="Malgun Gothic"/>
                <a:cs typeface="Malgun Gothic"/>
              </a:rPr>
              <a:t> 전환</a:t>
            </a:r>
            <a:r>
              <a:rPr dirty="0" sz="1300" spc="-95" b="1">
                <a:solidFill>
                  <a:srgbClr val="4377FA"/>
                </a:solidFill>
                <a:latin typeface="Malgun Gothic"/>
                <a:cs typeface="Malgun Gothic"/>
              </a:rPr>
              <a:t> </a:t>
            </a:r>
            <a:r>
              <a:rPr dirty="0" sz="1300" spc="-25" b="1">
                <a:solidFill>
                  <a:srgbClr val="4377FA"/>
                </a:solidFill>
                <a:latin typeface="Malgun Gothic"/>
                <a:cs typeface="Malgun Gothic"/>
              </a:rPr>
              <a:t>검토</a:t>
            </a:r>
            <a:endParaRPr sz="1300">
              <a:latin typeface="Malgun Gothic"/>
              <a:cs typeface="Malgun Gothic"/>
            </a:endParaRPr>
          </a:p>
          <a:p>
            <a:pPr marL="597535">
              <a:lnSpc>
                <a:spcPct val="100000"/>
              </a:lnSpc>
              <a:spcBef>
                <a:spcPts val="509"/>
              </a:spcBef>
            </a:pP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집게를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눕혀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옆에서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잡는</a:t>
            </a:r>
            <a:r>
              <a:rPr dirty="0" sz="800" spc="-4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30">
                <a:solidFill>
                  <a:srgbClr val="959595"/>
                </a:solidFill>
                <a:latin typeface="Malgun Gothic"/>
                <a:cs typeface="Malgun Gothic"/>
              </a:rPr>
              <a:t>방식으로</a:t>
            </a:r>
            <a:r>
              <a:rPr dirty="0" sz="800" spc="17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55">
                <a:solidFill>
                  <a:srgbClr val="959595"/>
                </a:solidFill>
                <a:latin typeface="Microsoft Sans Serif"/>
                <a:cs typeface="Microsoft Sans Serif"/>
              </a:rPr>
              <a:t>4</a:t>
            </a:r>
            <a:r>
              <a:rPr dirty="0" sz="800" spc="-1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단</a:t>
            </a:r>
            <a:r>
              <a:rPr dirty="0" sz="800" spc="-4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이상</a:t>
            </a:r>
            <a:r>
              <a:rPr dirty="0" sz="800" spc="-4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적재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각도를</a:t>
            </a:r>
            <a:r>
              <a:rPr dirty="0" sz="800" spc="-4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959595"/>
                </a:solidFill>
                <a:latin typeface="Malgun Gothic"/>
                <a:cs typeface="Malgun Gothic"/>
              </a:rPr>
              <a:t>확보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438" y="3095639"/>
            <a:ext cx="8115934" cy="87249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00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5"/>
              </a:spcBef>
            </a:pPr>
            <a:endParaRPr sz="1300">
              <a:latin typeface="Times New Roman"/>
              <a:cs typeface="Times New Roman"/>
            </a:endParaRPr>
          </a:p>
          <a:p>
            <a:pPr marL="234315">
              <a:lnSpc>
                <a:spcPct val="100000"/>
              </a:lnSpc>
            </a:pPr>
            <a:r>
              <a:rPr dirty="0" u="sng" sz="1500" spc="175" b="1">
                <a:solidFill>
                  <a:srgbClr val="4377FA"/>
                </a:solidFill>
                <a:uFill>
                  <a:solidFill>
                    <a:srgbClr val="4377FA"/>
                  </a:solidFill>
                </a:uFill>
                <a:latin typeface="Yu Gothic"/>
                <a:cs typeface="Yu Gothic"/>
              </a:rPr>
              <a:t>02</a:t>
            </a:r>
            <a:r>
              <a:rPr dirty="0" sz="1500" spc="355" b="1">
                <a:solidFill>
                  <a:srgbClr val="4377FA"/>
                </a:solidFill>
                <a:latin typeface="Yu Gothic"/>
                <a:cs typeface="Yu Gothic"/>
              </a:rPr>
              <a:t> </a:t>
            </a:r>
            <a:r>
              <a:rPr dirty="0" sz="1300" spc="-114" b="1">
                <a:solidFill>
                  <a:srgbClr val="4377FA"/>
                </a:solidFill>
                <a:latin typeface="Malgun Gothic"/>
                <a:cs typeface="Malgun Gothic"/>
              </a:rPr>
              <a:t>손목</a:t>
            </a:r>
            <a:r>
              <a:rPr dirty="0" sz="1300" spc="-95" b="1">
                <a:solidFill>
                  <a:srgbClr val="4377FA"/>
                </a:solidFill>
                <a:latin typeface="Malgun Gothic"/>
                <a:cs typeface="Malgun Gothic"/>
              </a:rPr>
              <a:t> </a:t>
            </a:r>
            <a:r>
              <a:rPr dirty="0" sz="1300" spc="-114" b="1">
                <a:solidFill>
                  <a:srgbClr val="4377FA"/>
                </a:solidFill>
                <a:latin typeface="Malgun Gothic"/>
                <a:cs typeface="Malgun Gothic"/>
              </a:rPr>
              <a:t>카메라</a:t>
            </a:r>
            <a:r>
              <a:rPr dirty="0" sz="1300" spc="-100" b="1">
                <a:solidFill>
                  <a:srgbClr val="4377FA"/>
                </a:solidFill>
                <a:latin typeface="Malgun Gothic"/>
                <a:cs typeface="Malgun Gothic"/>
              </a:rPr>
              <a:t> </a:t>
            </a:r>
            <a:r>
              <a:rPr dirty="0" sz="1300" spc="-114" b="1">
                <a:solidFill>
                  <a:srgbClr val="4377FA"/>
                </a:solidFill>
                <a:latin typeface="Malgun Gothic"/>
                <a:cs typeface="Malgun Gothic"/>
              </a:rPr>
              <a:t>근접</a:t>
            </a:r>
            <a:r>
              <a:rPr dirty="0" sz="1300" spc="-110" b="1">
                <a:solidFill>
                  <a:srgbClr val="4377FA"/>
                </a:solidFill>
                <a:latin typeface="Malgun Gothic"/>
                <a:cs typeface="Malgun Gothic"/>
              </a:rPr>
              <a:t> </a:t>
            </a:r>
            <a:r>
              <a:rPr dirty="0" sz="1300" spc="-25" b="1">
                <a:solidFill>
                  <a:srgbClr val="4377FA"/>
                </a:solidFill>
                <a:latin typeface="Malgun Gothic"/>
                <a:cs typeface="Malgun Gothic"/>
              </a:rPr>
              <a:t>보정</a:t>
            </a:r>
            <a:endParaRPr sz="1300">
              <a:latin typeface="Malgun Gothic"/>
              <a:cs typeface="Malgun Gothic"/>
            </a:endParaRPr>
          </a:p>
          <a:p>
            <a:pPr marL="597535">
              <a:lnSpc>
                <a:spcPct val="100000"/>
              </a:lnSpc>
              <a:spcBef>
                <a:spcPts val="509"/>
              </a:spcBef>
            </a:pP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파지</a:t>
            </a:r>
            <a:r>
              <a:rPr dirty="0" sz="800" spc="-3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직전</a:t>
            </a:r>
            <a:r>
              <a:rPr dirty="0" sz="800" spc="-3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블록의</a:t>
            </a:r>
            <a:r>
              <a:rPr dirty="0" sz="800" spc="-3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상대</a:t>
            </a:r>
            <a:r>
              <a:rPr dirty="0" sz="800" spc="-2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위치를</a:t>
            </a:r>
            <a:r>
              <a:rPr dirty="0" sz="800" spc="-2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다시</a:t>
            </a:r>
            <a:r>
              <a:rPr dirty="0" sz="800" spc="-3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측정해</a:t>
            </a:r>
            <a:r>
              <a:rPr dirty="0" sz="800" spc="-3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절대</a:t>
            </a:r>
            <a:r>
              <a:rPr dirty="0" sz="800" spc="-2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좌표</a:t>
            </a:r>
            <a:r>
              <a:rPr dirty="0" sz="800" spc="-3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오차와</a:t>
            </a:r>
            <a:r>
              <a:rPr dirty="0" sz="800" spc="-3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0">
                <a:solidFill>
                  <a:srgbClr val="959595"/>
                </a:solidFill>
                <a:latin typeface="Malgun Gothic"/>
                <a:cs typeface="Malgun Gothic"/>
              </a:rPr>
              <a:t>무관하게</a:t>
            </a:r>
            <a:r>
              <a:rPr dirty="0" sz="800" spc="-3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959595"/>
                </a:solidFill>
                <a:latin typeface="Malgun Gothic"/>
                <a:cs typeface="Malgun Gothic"/>
              </a:rPr>
              <a:t>접근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4438" y="4064763"/>
            <a:ext cx="8115934" cy="87249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00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5"/>
              </a:spcBef>
            </a:pPr>
            <a:endParaRPr sz="1300">
              <a:latin typeface="Times New Roman"/>
              <a:cs typeface="Times New Roman"/>
            </a:endParaRPr>
          </a:p>
          <a:p>
            <a:pPr marL="234315">
              <a:lnSpc>
                <a:spcPct val="100000"/>
              </a:lnSpc>
            </a:pPr>
            <a:r>
              <a:rPr dirty="0" u="sng" sz="1500" spc="175" b="1">
                <a:solidFill>
                  <a:srgbClr val="4377FA"/>
                </a:solidFill>
                <a:uFill>
                  <a:solidFill>
                    <a:srgbClr val="4377FA"/>
                  </a:solidFill>
                </a:uFill>
                <a:latin typeface="Yu Gothic"/>
                <a:cs typeface="Yu Gothic"/>
              </a:rPr>
              <a:t>03</a:t>
            </a:r>
            <a:r>
              <a:rPr dirty="0" sz="1500" spc="405" b="1">
                <a:solidFill>
                  <a:srgbClr val="4377FA"/>
                </a:solidFill>
                <a:latin typeface="Yu Gothic"/>
                <a:cs typeface="Yu Gothic"/>
              </a:rPr>
              <a:t> </a:t>
            </a:r>
            <a:r>
              <a:rPr dirty="0" sz="1300" b="1">
                <a:solidFill>
                  <a:srgbClr val="4377FA"/>
                </a:solidFill>
                <a:latin typeface="Yu Gothic"/>
                <a:cs typeface="Yu Gothic"/>
              </a:rPr>
              <a:t>Task</a:t>
            </a:r>
            <a:r>
              <a:rPr dirty="0" sz="1300" spc="114" b="1">
                <a:solidFill>
                  <a:srgbClr val="4377FA"/>
                </a:solidFill>
                <a:latin typeface="Yu Gothic"/>
                <a:cs typeface="Yu Gothic"/>
              </a:rPr>
              <a:t> </a:t>
            </a:r>
            <a:r>
              <a:rPr dirty="0" sz="1300" spc="150" b="1">
                <a:solidFill>
                  <a:srgbClr val="4377FA"/>
                </a:solidFill>
                <a:latin typeface="Yu Gothic"/>
                <a:cs typeface="Yu Gothic"/>
              </a:rPr>
              <a:t>2</a:t>
            </a:r>
            <a:r>
              <a:rPr dirty="0" sz="1300" spc="470" b="1">
                <a:solidFill>
                  <a:srgbClr val="4377FA"/>
                </a:solidFill>
                <a:latin typeface="Yu Gothic"/>
                <a:cs typeface="Yu Gothic"/>
              </a:rPr>
              <a:t> </a:t>
            </a:r>
            <a:r>
              <a:rPr dirty="0" sz="1300" spc="-114" b="1">
                <a:solidFill>
                  <a:srgbClr val="4377FA"/>
                </a:solidFill>
                <a:latin typeface="Malgun Gothic"/>
                <a:cs typeface="Malgun Gothic"/>
              </a:rPr>
              <a:t>적재</a:t>
            </a:r>
            <a:r>
              <a:rPr dirty="0" sz="1300" spc="-85" b="1">
                <a:solidFill>
                  <a:srgbClr val="4377FA"/>
                </a:solidFill>
                <a:latin typeface="Malgun Gothic"/>
                <a:cs typeface="Malgun Gothic"/>
              </a:rPr>
              <a:t> </a:t>
            </a:r>
            <a:r>
              <a:rPr dirty="0" sz="1300" spc="-25" b="1">
                <a:solidFill>
                  <a:srgbClr val="4377FA"/>
                </a:solidFill>
                <a:latin typeface="Malgun Gothic"/>
                <a:cs typeface="Malgun Gothic"/>
              </a:rPr>
              <a:t>완성</a:t>
            </a:r>
            <a:endParaRPr sz="1300">
              <a:latin typeface="Malgun Gothic"/>
              <a:cs typeface="Malgun Gothic"/>
            </a:endParaRPr>
          </a:p>
          <a:p>
            <a:pPr marL="597535">
              <a:lnSpc>
                <a:spcPct val="100000"/>
              </a:lnSpc>
              <a:spcBef>
                <a:spcPts val="525"/>
              </a:spcBef>
            </a:pP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타워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959595"/>
                </a:solidFill>
                <a:latin typeface="Malgun Gothic"/>
                <a:cs typeface="Malgun Gothic"/>
              </a:rPr>
              <a:t>접근</a:t>
            </a:r>
            <a:r>
              <a:rPr dirty="0" sz="800" spc="9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>
                <a:solidFill>
                  <a:srgbClr val="959595"/>
                </a:solidFill>
                <a:latin typeface="Microsoft Sans Serif"/>
                <a:cs typeface="Microsoft Sans Serif"/>
              </a:rPr>
              <a:t>·</a:t>
            </a:r>
            <a:r>
              <a:rPr dirty="0" sz="800" spc="204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하강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자세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등록 </a:t>
            </a:r>
            <a:r>
              <a:rPr dirty="0" sz="800">
                <a:solidFill>
                  <a:srgbClr val="959595"/>
                </a:solidFill>
                <a:latin typeface="Microsoft Sans Serif"/>
                <a:cs typeface="Microsoft Sans Serif"/>
              </a:rPr>
              <a:t>,</a:t>
            </a:r>
            <a:r>
              <a:rPr dirty="0" sz="800" spc="22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접촉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65">
                <a:solidFill>
                  <a:srgbClr val="959595"/>
                </a:solidFill>
                <a:latin typeface="Malgun Gothic"/>
                <a:cs typeface="Malgun Gothic"/>
              </a:rPr>
              <a:t>기반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10">
                <a:solidFill>
                  <a:srgbClr val="959595"/>
                </a:solidFill>
                <a:latin typeface="Malgun Gothic"/>
                <a:cs typeface="Malgun Gothic"/>
              </a:rPr>
              <a:t>하강과</a:t>
            </a:r>
            <a:r>
              <a:rPr dirty="0" sz="800" spc="14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55">
                <a:solidFill>
                  <a:srgbClr val="959595"/>
                </a:solidFill>
                <a:latin typeface="Microsoft Sans Serif"/>
                <a:cs typeface="Microsoft Sans Serif"/>
              </a:rPr>
              <a:t>5</a:t>
            </a:r>
            <a:r>
              <a:rPr dirty="0" sz="800" spc="-20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초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유지</a:t>
            </a:r>
            <a:r>
              <a:rPr dirty="0" sz="800" spc="-35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70">
                <a:solidFill>
                  <a:srgbClr val="959595"/>
                </a:solidFill>
                <a:latin typeface="Malgun Gothic"/>
                <a:cs typeface="Malgun Gothic"/>
              </a:rPr>
              <a:t>판정</a:t>
            </a:r>
            <a:r>
              <a:rPr dirty="0" sz="800" spc="-50">
                <a:solidFill>
                  <a:srgbClr val="959595"/>
                </a:solidFill>
                <a:latin typeface="Malgun Gothic"/>
                <a:cs typeface="Malgun Gothic"/>
              </a:rPr>
              <a:t> </a:t>
            </a:r>
            <a:r>
              <a:rPr dirty="0" sz="800" spc="-25">
                <a:solidFill>
                  <a:srgbClr val="959595"/>
                </a:solidFill>
                <a:latin typeface="Malgun Gothic"/>
                <a:cs typeface="Malgun Gothic"/>
              </a:rPr>
              <a:t>검증</a:t>
            </a:r>
            <a:endParaRPr sz="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3861" y="2172870"/>
            <a:ext cx="2655570" cy="711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370"/>
              <a:t>감사합니다</a:t>
            </a:r>
            <a:endParaRPr sz="4500"/>
          </a:p>
        </p:txBody>
      </p:sp>
      <p:sp>
        <p:nvSpPr>
          <p:cNvPr id="3" name="object 3"/>
          <p:cNvSpPr txBox="1"/>
          <p:nvPr/>
        </p:nvSpPr>
        <p:spPr>
          <a:xfrm>
            <a:off x="771016" y="1648703"/>
            <a:ext cx="15875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959595"/>
                </a:solidFill>
                <a:latin typeface="Microsoft Sans Serif"/>
                <a:cs typeface="Microsoft Sans Serif"/>
              </a:rPr>
              <a:t>SIM2REAL</a:t>
            </a:r>
            <a:r>
              <a:rPr dirty="0" sz="1500" spc="85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60">
                <a:solidFill>
                  <a:srgbClr val="959595"/>
                </a:solidFill>
                <a:latin typeface="Microsoft Sans Serif"/>
                <a:cs typeface="Microsoft Sans Serif"/>
              </a:rPr>
              <a:t>·</a:t>
            </a:r>
            <a:r>
              <a:rPr dirty="0" sz="1500" spc="85">
                <a:solidFill>
                  <a:srgbClr val="95959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30">
                <a:solidFill>
                  <a:srgbClr val="959595"/>
                </a:solidFill>
                <a:latin typeface="Microsoft Sans Serif"/>
                <a:cs typeface="Microsoft Sans Serif"/>
              </a:rPr>
              <a:t>Q&amp;A</a:t>
            </a:r>
            <a:endParaRPr sz="15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0135" y="513182"/>
            <a:ext cx="7983855" cy="148590"/>
            <a:chOff x="580135" y="513182"/>
            <a:chExt cx="7983855" cy="148590"/>
          </a:xfrm>
        </p:grpSpPr>
        <p:sp>
          <p:nvSpPr>
            <p:cNvPr id="5" name="object 5"/>
            <p:cNvSpPr/>
            <p:nvPr/>
          </p:nvSpPr>
          <p:spPr>
            <a:xfrm>
              <a:off x="1244879" y="519482"/>
              <a:ext cx="7312659" cy="1270"/>
            </a:xfrm>
            <a:custGeom>
              <a:avLst/>
              <a:gdLst/>
              <a:ahLst/>
              <a:cxnLst/>
              <a:rect l="l" t="t" r="r" b="b"/>
              <a:pathLst>
                <a:path w="7312659" h="1270">
                  <a:moveTo>
                    <a:pt x="0" y="0"/>
                  </a:moveTo>
                  <a:lnTo>
                    <a:pt x="7312317" y="723"/>
                  </a:lnTo>
                </a:path>
              </a:pathLst>
            </a:custGeom>
            <a:ln w="12599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17434" y="519482"/>
              <a:ext cx="128270" cy="135890"/>
            </a:xfrm>
            <a:custGeom>
              <a:avLst/>
              <a:gdLst/>
              <a:ahLst/>
              <a:cxnLst/>
              <a:rect l="l" t="t" r="r" b="b"/>
              <a:pathLst>
                <a:path w="128269" h="135890">
                  <a:moveTo>
                    <a:pt x="127800" y="0"/>
                  </a:moveTo>
                  <a:lnTo>
                    <a:pt x="0" y="135356"/>
                  </a:lnTo>
                </a:path>
              </a:pathLst>
            </a:custGeom>
            <a:ln w="12599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6435" y="654483"/>
              <a:ext cx="531495" cy="1270"/>
            </a:xfrm>
            <a:custGeom>
              <a:avLst/>
              <a:gdLst/>
              <a:ahLst/>
              <a:cxnLst/>
              <a:rect l="l" t="t" r="r" b="b"/>
              <a:pathLst>
                <a:path w="531494" h="1270">
                  <a:moveTo>
                    <a:pt x="531368" y="723"/>
                  </a:moveTo>
                  <a:lnTo>
                    <a:pt x="0" y="0"/>
                  </a:lnTo>
                </a:path>
              </a:pathLst>
            </a:custGeom>
            <a:ln w="12599">
              <a:solidFill>
                <a:srgbClr val="2020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2026-09-10T19:43:40Z</dcterms:created>
  <dcterms:modified xsi:type="dcterms:W3CDTF">2026-09-10T19:43:40Z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2026-09-11T00:00:00Z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7.3</vt:lpwstr>
  </property>
  <property fmtid="{D5CDD505-2E9C-101B-9397-08002B2CF9AE}" pid="6" name="LastSaved">
    <vt:filetime>2026-09-11T00:00:00Z</vt:filetime>
  </property>
</Properties>
</file>