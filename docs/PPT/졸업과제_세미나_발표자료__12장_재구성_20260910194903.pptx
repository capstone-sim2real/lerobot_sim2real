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pic>
        <p:nvPicPr>
          <p:cNvPr id="3" name="Image 1" descr="gen-dedup-5dcdea6690cd3ce8b1df9dfb758a6a87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295705" y="6152998"/>
            <a:ext cx="1143000" cy="38405"/>
          </a:xfrm>
          <a:prstGeom prst="rect">
            <a:avLst/>
          </a:prstGeom>
        </p:spPr>
      </p:pic>
      <p:pic>
        <p:nvPicPr>
          <p:cNvPr id="4" name="Image 2" descr="gen-dedup-fecaaaad66eaa46a23fe33b30cc7cab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002207" y="1619402"/>
            <a:ext cx="3143707" cy="314370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276502" y="2915107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PUSAN NATIONAL UNIVERSITY · 졸업과제 세미나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1276502" y="3353105"/>
            <a:ext cx="11430000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Team Sim2Real</a:t>
            </a:r>
            <a:endParaRPr lang="en-US" sz="4050" dirty="0"/>
          </a:p>
        </p:txBody>
      </p:sp>
      <p:sp>
        <p:nvSpPr>
          <p:cNvPr id="7" name="Text 2"/>
          <p:cNvSpPr txBox="1"/>
          <p:nvPr/>
        </p:nvSpPr>
        <p:spPr>
          <a:xfrm>
            <a:off x="1276502" y="4104742"/>
            <a:ext cx="12382805" cy="1296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99"/>
              </a:lnSpc>
              <a:buNone/>
            </a:pPr>
            <a:r>
              <a:rPr lang="en-US" sz="345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컴퓨터 비전과 역기구학 기반 SO-ARM101</a:t>
            </a:r>
            <a:pPr algn="l" indent="0" marL="0">
              <a:lnSpc>
                <a:spcPts val="4899"/>
              </a:lnSpc>
              <a:buNone/>
            </a:pPr>
            <a:endParaRPr lang="en-US" sz="3450" dirty="0"/>
          </a:p>
          <a:p>
            <a:pPr algn="l" indent="0" marL="0">
              <a:lnSpc>
                <a:spcPts val="4899"/>
              </a:lnSpc>
              <a:buNone/>
            </a:pPr>
            <a:r>
              <a:rPr lang="en-US" sz="345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로봇팔의 블록 이동 및 적재 시스템</a:t>
            </a:r>
            <a:endParaRPr lang="en-US" sz="3450" dirty="0"/>
          </a:p>
        </p:txBody>
      </p:sp>
      <p:sp>
        <p:nvSpPr>
          <p:cNvPr id="8" name="Text 3"/>
          <p:cNvSpPr txBox="1"/>
          <p:nvPr/>
        </p:nvSpPr>
        <p:spPr>
          <a:xfrm>
            <a:off x="1276502" y="6534302"/>
            <a:ext cx="85725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spc="75" kern="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윤민석 · 김주환 · 이동근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4000500"/>
            <a:ext cx="761969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029700" y="4000500"/>
            <a:ext cx="8229600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029700" y="7315200"/>
            <a:ext cx="4000500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7543800"/>
            <a:ext cx="1257300" cy="418795"/>
          </a:xfrm>
          <a:prstGeom prst="rect">
            <a:avLst/>
          </a:prstGeom>
          <a:solidFill>
            <a:srgbClr val="447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258800" y="7315200"/>
            <a:ext cx="4000500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563295" y="7543800"/>
            <a:ext cx="1257300" cy="418795"/>
          </a:xfrm>
          <a:prstGeom prst="rect">
            <a:avLst/>
          </a:prstGeom>
          <a:solidFill>
            <a:srgbClr val="447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2bf2f58c72cffa4a60d4c58483ce3660.jpg">    </p:cNvPr>
          <p:cNvPicPr>
            <a:picLocks noChangeAspect="1"/>
          </p:cNvPicPr>
          <p:nvPr/>
        </p:nvPicPr>
        <p:blipFill>
          <a:blip r:embed="rId2"/>
          <a:srcRect l="-9666" r="-9666" t="0" b="0"/>
          <a:stretch/>
        </p:blipFill>
        <p:spPr>
          <a:xfrm>
            <a:off x="1505102" y="4724705"/>
            <a:ext cx="6667805" cy="41906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76502" y="209580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276502" y="2438705"/>
            <a:ext cx="133356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프로젝트 개요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&amp; 목표</a:t>
            </a:r>
            <a:endParaRPr lang="en-US" sz="3900" dirty="0"/>
          </a:p>
        </p:txBody>
      </p:sp>
      <p:sp>
        <p:nvSpPr>
          <p:cNvPr id="12" name="Text 8"/>
          <p:cNvSpPr txBox="1"/>
          <p:nvPr/>
        </p:nvSpPr>
        <p:spPr>
          <a:xfrm>
            <a:off x="1276502" y="323880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싱글 탑다운 카메라 + CV·IK 규칙 파이프라인 — 하나의 FSM 위에서 두 미션을 수행</a:t>
            </a:r>
            <a:endParaRPr lang="en-US" sz="1950" dirty="0"/>
          </a:p>
        </p:txBody>
      </p:sp>
      <p:sp>
        <p:nvSpPr>
          <p:cNvPr id="13" name="Text 9"/>
          <p:cNvSpPr txBox="1"/>
          <p:nvPr/>
        </p:nvSpPr>
        <p:spPr>
          <a:xfrm>
            <a:off x="1333195" y="4267505"/>
            <a:ext cx="7049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프로젝트 시스템 개요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9334195" y="4267505"/>
            <a:ext cx="76581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사용 기술 스택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9334195" y="4762195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CV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색상(HSV) + 형상(면적 900–3200mm², 종횡비 ≤1.6, 충진율 ≥0.65, solidity ≥0.78) 필터 기반 블록 검출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334195" y="5600700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좌표·IK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9점 재수집 캘리브레이션(적합 RMS 8.18mm) + 그리퍼 반경/접선 좌표 보정 + 롤(yaw) 중립 정렬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334195" y="6439205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제어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FSM(SELECT→PICK→VERIFY→TRANSPORT→PLACE) 기반 파지 검증 · 최대 4회 재시도(센서 기반 확인)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334195" y="7601407"/>
            <a:ext cx="12573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Task 1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334195" y="8115300"/>
            <a:ext cx="3429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지정 영역 운반 · 180초</a:t>
            </a:r>
            <a:endParaRPr lang="en-US" sz="1950" dirty="0"/>
          </a:p>
        </p:txBody>
      </p:sp>
      <p:sp>
        <p:nvSpPr>
          <p:cNvPr id="20" name="Text 16"/>
          <p:cNvSpPr txBox="1"/>
          <p:nvPr/>
        </p:nvSpPr>
        <p:spPr>
          <a:xfrm>
            <a:off x="9334195" y="8581644"/>
            <a:ext cx="3429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3분 이내 지정 영역 내 배치된 블록 수 평가</a:t>
            </a:r>
            <a:endParaRPr lang="en-US" sz="1650" dirty="0"/>
          </a:p>
        </p:txBody>
      </p:sp>
      <p:sp>
        <p:nvSpPr>
          <p:cNvPr id="21" name="Text 17"/>
          <p:cNvSpPr txBox="1"/>
          <p:nvPr/>
        </p:nvSpPr>
        <p:spPr>
          <a:xfrm>
            <a:off x="13563295" y="7601407"/>
            <a:ext cx="12573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Task 2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3563295" y="8115300"/>
            <a:ext cx="3429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접촉 기반 적층 · 300초</a:t>
            </a:r>
            <a:endParaRPr lang="en-US" sz="1950" dirty="0"/>
          </a:p>
        </p:txBody>
      </p:sp>
      <p:sp>
        <p:nvSpPr>
          <p:cNvPr id="23" name="Text 19"/>
          <p:cNvSpPr txBox="1"/>
          <p:nvPr/>
        </p:nvSpPr>
        <p:spPr>
          <a:xfrm>
            <a:off x="13563295" y="8581644"/>
            <a:ext cx="3429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5초 이상 안정 유지된 적재 블록 수 평가</a:t>
            </a:r>
            <a:endParaRPr lang="en-US" sz="1650" dirty="0"/>
          </a:p>
        </p:txBody>
      </p:sp>
      <p:sp>
        <p:nvSpPr>
          <p:cNvPr id="24" name="Text 20"/>
          <p:cNvSpPr txBox="1"/>
          <p:nvPr/>
        </p:nvSpPr>
        <p:spPr>
          <a:xfrm>
            <a:off x="16573500" y="9544507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2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400050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554005" y="4000500"/>
            <a:ext cx="670529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7f8a9f5cb4bbe387e12dec89337873a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0934395" y="4876495"/>
            <a:ext cx="5943600" cy="192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192402" y="5143500"/>
            <a:ext cx="2686507" cy="1429207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5e0c30dd54506e2dec59def00a462bf6.jpg">    </p:cNvPr>
          <p:cNvPicPr>
            <a:picLocks noChangeAspect="1"/>
          </p:cNvPicPr>
          <p:nvPr/>
        </p:nvPicPr>
        <p:blipFill>
          <a:blip r:embed="rId3"/>
          <a:srcRect l="-6830" r="-6830" t="0" b="0"/>
          <a:stretch/>
        </p:blipFill>
        <p:spPr>
          <a:xfrm>
            <a:off x="1333195" y="4304995"/>
            <a:ext cx="2743200" cy="4190695"/>
          </a:xfrm>
          <a:prstGeom prst="rect">
            <a:avLst/>
          </a:prstGeom>
        </p:spPr>
      </p:pic>
      <p:pic>
        <p:nvPicPr>
          <p:cNvPr id="8" name="Image 3" descr="gen-dedup-e8035d39e9196d24fb76b67eb1db073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995" y="4304995"/>
            <a:ext cx="5562471" cy="25722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276502" y="209580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TASK 1 · CURRENT RESULT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1276502" y="243870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1차 미션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현재 구현 결과</a:t>
            </a:r>
            <a:endParaRPr lang="en-US" sz="3900" dirty="0"/>
          </a:p>
        </p:txBody>
      </p:sp>
      <p:sp>
        <p:nvSpPr>
          <p:cNvPr id="11" name="Text 5"/>
          <p:cNvSpPr txBox="1"/>
          <p:nvPr/>
        </p:nvSpPr>
        <p:spPr>
          <a:xfrm>
            <a:off x="1276502" y="323880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지정 영역 운반 · 제한시간 180초 — 9월 8일 실기 시험 기준</a:t>
            </a:r>
            <a:endParaRPr lang="en-US" sz="1950" dirty="0"/>
          </a:p>
        </p:txBody>
      </p:sp>
      <p:sp>
        <p:nvSpPr>
          <p:cNvPr id="12" name="Text 6"/>
          <p:cNvSpPr txBox="1"/>
          <p:nvPr/>
        </p:nvSpPr>
        <p:spPr>
          <a:xfrm>
            <a:off x="4304995" y="7048195"/>
            <a:ext cx="55632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검출 → 접근 → 파지 → 운반 → 배치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4304995" y="7515454"/>
            <a:ext cx="55632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단일 블록 전 과정 실기 검증 완료. 5블록 반복 로직(재선택 방지·시간 예산 종료)까지 구현되어 동일 코드로 연속 수행.</a:t>
            </a:r>
            <a:endParaRPr lang="en-US" sz="1650" dirty="0"/>
          </a:p>
        </p:txBody>
      </p:sp>
      <p:sp>
        <p:nvSpPr>
          <p:cNvPr id="14" name="Text 8"/>
          <p:cNvSpPr txBox="1"/>
          <p:nvPr/>
        </p:nvSpPr>
        <p:spPr>
          <a:xfrm>
            <a:off x="10934395" y="4304995"/>
            <a:ext cx="59436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9월 8일 · 180초 시험 결과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10934395" y="5143500"/>
            <a:ext cx="2857500" cy="876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4</a:t>
            </a:r>
            <a:pPr algn="l" indent="0" marL="0">
              <a:buNone/>
            </a:pPr>
            <a:r>
              <a:rPr lang="en-US" sz="3300" b="1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/ 5</a:t>
            </a:r>
            <a:endParaRPr lang="en-US" sz="6900" dirty="0"/>
          </a:p>
        </p:txBody>
      </p:sp>
      <p:sp>
        <p:nvSpPr>
          <p:cNvPr id="16" name="Text 10"/>
          <p:cNvSpPr txBox="1"/>
          <p:nvPr/>
        </p:nvSpPr>
        <p:spPr>
          <a:xfrm>
            <a:off x="10934395" y="6133795"/>
            <a:ext cx="2857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지정 영역 내 배치 성공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4440205" y="5391302"/>
            <a:ext cx="2190902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미완료</a:t>
            </a:r>
            <a:endParaRPr lang="en-US" sz="1950" dirty="0"/>
          </a:p>
        </p:txBody>
      </p:sp>
      <p:sp>
        <p:nvSpPr>
          <p:cNvPr id="18" name="Text 12"/>
          <p:cNvSpPr txBox="1"/>
          <p:nvPr/>
        </p:nvSpPr>
        <p:spPr>
          <a:xfrm>
            <a:off x="14440205" y="5876849"/>
            <a:ext cx="2190902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파란 블록 1개가 지정 영역 밖에 남아 미션 미완료로 기록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0934395" y="695309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확인된 것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180초 안에 4회 배치까지 도달 — 파이프라인 전 구간이 실기에서 연속 동작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0934395" y="7772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남은 과제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잔여 1블록 처리 실패 원인(재시도 소요·좌표 오차) 분리 기록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0934395" y="8591702"/>
            <a:ext cx="59436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※ 5블록 전체 성공률·소요시간은 rollout 기록 템플릿에 누적 측정 중</a:t>
            </a:r>
            <a:endParaRPr lang="en-US" sz="1650" dirty="0"/>
          </a:p>
        </p:txBody>
      </p:sp>
      <p:sp>
        <p:nvSpPr>
          <p:cNvPr id="22" name="Text 16"/>
          <p:cNvSpPr txBox="1"/>
          <p:nvPr/>
        </p:nvSpPr>
        <p:spPr>
          <a:xfrm>
            <a:off x="16573500" y="9486900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4000500"/>
            <a:ext cx="952530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934395" y="4000500"/>
            <a:ext cx="6324905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239805" y="4304995"/>
            <a:ext cx="5715000" cy="1429207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239805" y="5905195"/>
            <a:ext cx="5715000" cy="1657807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239805" y="7733995"/>
            <a:ext cx="5715000" cy="11430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ecdf253042c0ca035c22696eb784c311.jpg">    </p:cNvPr>
          <p:cNvPicPr>
            <a:picLocks noChangeAspect="1"/>
          </p:cNvPicPr>
          <p:nvPr/>
        </p:nvPicPr>
        <p:blipFill>
          <a:blip r:embed="rId2"/>
          <a:srcRect l="-14024" r="-14024" t="0" b="0"/>
          <a:stretch/>
        </p:blipFill>
        <p:spPr>
          <a:xfrm>
            <a:off x="1333195" y="4304995"/>
            <a:ext cx="8915400" cy="39246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76502" y="209580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76502" y="243870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인식 과정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상세: 한 프레임이 좌표가 되기까지</a:t>
            </a:r>
            <a:endParaRPr lang="en-US" sz="3900" dirty="0"/>
          </a:p>
        </p:txBody>
      </p:sp>
      <p:sp>
        <p:nvSpPr>
          <p:cNvPr id="11" name="Text 7"/>
          <p:cNvSpPr txBox="1"/>
          <p:nvPr/>
        </p:nvSpPr>
        <p:spPr>
          <a:xfrm>
            <a:off x="1276502" y="323880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HSV 색 후보 생성 → 형상 게이트 재검증 → 색 할당 → 픽셀 좌표 확정</a:t>
            </a:r>
            <a:endParaRPr lang="en-US" sz="1950" dirty="0"/>
          </a:p>
        </p:txBody>
      </p:sp>
      <p:sp>
        <p:nvSpPr>
          <p:cNvPr id="12" name="Text 8"/>
          <p:cNvSpPr txBox="1"/>
          <p:nvPr/>
        </p:nvSpPr>
        <p:spPr>
          <a:xfrm>
            <a:off x="1333195" y="8419795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관제 화면 : 후보별 면적 · 각도 · 검출 마커 · 제외 영역(excluded zone) 실시간 표시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1468405" y="4476902"/>
            <a:ext cx="52578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① HSV 색 후보 생성</a:t>
            </a:r>
            <a:endParaRPr lang="en-US" sz="1950" dirty="0"/>
          </a:p>
        </p:txBody>
      </p:sp>
      <p:sp>
        <p:nvSpPr>
          <p:cNvPr id="14" name="Text 10"/>
          <p:cNvSpPr txBox="1"/>
          <p:nvPr/>
        </p:nvSpPr>
        <p:spPr>
          <a:xfrm>
            <a:off x="11468405" y="4943246"/>
            <a:ext cx="52578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색상별 임계값으로 마스크 생성 — 빨간 테이프·조명 반사까지 함께 후보로 잡히는 단계</a:t>
            </a:r>
            <a:endParaRPr lang="en-US" sz="1725" dirty="0"/>
          </a:p>
        </p:txBody>
      </p:sp>
      <p:sp>
        <p:nvSpPr>
          <p:cNvPr id="15" name="Text 11"/>
          <p:cNvSpPr txBox="1"/>
          <p:nvPr/>
        </p:nvSpPr>
        <p:spPr>
          <a:xfrm>
            <a:off x="11468405" y="6077102"/>
            <a:ext cx="52578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② 형상 게이트 재검증</a:t>
            </a:r>
            <a:endParaRPr lang="en-US" sz="1950" dirty="0"/>
          </a:p>
        </p:txBody>
      </p:sp>
      <p:sp>
        <p:nvSpPr>
          <p:cNvPr id="16" name="Text 12"/>
          <p:cNvSpPr txBox="1"/>
          <p:nvPr/>
        </p:nvSpPr>
        <p:spPr>
          <a:xfrm>
            <a:off x="11468405" y="6543446"/>
            <a:ext cx="52578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면적 900–3200mm² · 종횡비 ≤1.6 · 충진율(fill) ≥0.65 · solidity ≥0.78 — 길쭉하거나 빈 윤곽을 탈락</a:t>
            </a:r>
            <a:endParaRPr lang="en-US" sz="1725" dirty="0"/>
          </a:p>
        </p:txBody>
      </p:sp>
      <p:sp>
        <p:nvSpPr>
          <p:cNvPr id="17" name="Text 13"/>
          <p:cNvSpPr txBox="1"/>
          <p:nvPr/>
        </p:nvSpPr>
        <p:spPr>
          <a:xfrm>
            <a:off x="11468405" y="7905902"/>
            <a:ext cx="52578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③ 색 할당 · 좌표 확정</a:t>
            </a:r>
            <a:endParaRPr lang="en-US" sz="1950" dirty="0"/>
          </a:p>
        </p:txBody>
      </p:sp>
      <p:sp>
        <p:nvSpPr>
          <p:cNvPr id="18" name="Text 14"/>
          <p:cNvSpPr txBox="1"/>
          <p:nvPr/>
        </p:nvSpPr>
        <p:spPr>
          <a:xfrm>
            <a:off x="11468405" y="8372246"/>
            <a:ext cx="52578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통과 윤곽에 색 라벨을 부여하고 중심 픽셀 좌표를 다음 단계로 전달</a:t>
            </a:r>
            <a:endParaRPr lang="en-US" sz="1725" dirty="0"/>
          </a:p>
        </p:txBody>
      </p:sp>
      <p:sp>
        <p:nvSpPr>
          <p:cNvPr id="19" name="Text 15"/>
          <p:cNvSpPr txBox="1"/>
          <p:nvPr/>
        </p:nvSpPr>
        <p:spPr>
          <a:xfrm>
            <a:off x="16573500" y="9486900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7258507"/>
            <a:ext cx="11048695" cy="19815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458700" y="4000500"/>
            <a:ext cx="48006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34b50b9c934dd911a9200472c670d6c4.jpg">    </p:cNvPr>
          <p:cNvPicPr>
            <a:picLocks noChangeAspect="1"/>
          </p:cNvPicPr>
          <p:nvPr/>
        </p:nvPicPr>
        <p:blipFill>
          <a:blip r:embed="rId2"/>
          <a:srcRect l="0" r="0" t="-92" b="-92"/>
          <a:stretch/>
        </p:blipFill>
        <p:spPr>
          <a:xfrm>
            <a:off x="12763195" y="4304995"/>
            <a:ext cx="4190695" cy="3810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76502" y="209580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BACKGROUND · PIVOT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276502" y="243870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기존 접근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과 CV+IK 전환 배경</a:t>
            </a:r>
            <a:endParaRPr lang="en-US" sz="3900" dirty="0"/>
          </a:p>
        </p:txBody>
      </p:sp>
      <p:sp>
        <p:nvSpPr>
          <p:cNvPr id="8" name="Text 4"/>
          <p:cNvSpPr txBox="1"/>
          <p:nvPr/>
        </p:nvSpPr>
        <p:spPr>
          <a:xfrm>
            <a:off x="1276502" y="323880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Task1은 모방학습, Task2는 CV로 분담하는 초기 계획에서 출발 — 반복 rollout으로 세 후보를 동일 조건에서 비교</a:t>
            </a:r>
            <a:endParaRPr lang="en-US" sz="1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4000500"/>
          <a:ext cx="11049610" cy="3353105"/>
        </p:xfrm>
        <a:graphic>
          <a:graphicData uri="http://schemas.openxmlformats.org/drawingml/2006/table">
            <a:tbl>
              <a:tblPr/>
              <a:tblGrid>
                <a:gridCol w="2305202"/>
                <a:gridCol w="5296205"/>
                <a:gridCol w="3448202"/>
              </a:tblGrid>
              <a:tr h="8382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접근법</a:t>
                      </a:r>
                      <a:endParaRPr lang="en-US" sz="18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수행 내용</a:t>
                      </a:r>
                      <a:endParaRPr lang="en-US" sz="18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결과</a:t>
                      </a:r>
                      <a:endParaRPr lang="en-US" sz="18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8382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ACT 단독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초록 블록 · 고정 위치 ±3cm · 약 30 에피소드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청크 옵션(chunk_size_threshold) 튜닝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29 / 50 · 58%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575" dirty="0">
                          <a:solidFill>
                            <a:srgbClr val="767676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좁은 범위 한정 검증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SmolVLA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초록·노랑 51 에피소드 파인튜닝 + 원격 추론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목표 위치 접근은 성공,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파지 정밀도 부족으로 성공률 미달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82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하이브리드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72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ACT→CV/IK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파지는 ACT, 배치는 CV/IK로 설계·검토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파지 구간까지 CV+IK로 전환 시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72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재학습 없이 더 빠르게 수렴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333195" y="7448702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CV+IK 전환 근거</a:t>
            </a:r>
            <a:endParaRPr lang="en-US" sz="1950" dirty="0"/>
          </a:p>
        </p:txBody>
      </p:sp>
      <p:sp>
        <p:nvSpPr>
          <p:cNvPr id="11" name="Text 6"/>
          <p:cNvSpPr txBox="1"/>
          <p:nvPr/>
        </p:nvSpPr>
        <p:spPr>
          <a:xfrm>
            <a:off x="1333195" y="7972654"/>
            <a:ext cx="10478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01</a:t>
            </a:r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성능이 검증된 범위가 ±3cm로 좁고, 넓은 범위 확장 시 재현성이 남은 일정(약 8주) 안에 확보되기 어려움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33195" y="8730691"/>
            <a:ext cx="10478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02</a:t>
            </a:r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고정 탑다운 카메라 · 평면 · 강체 단색 블록 · 고정 지정영역 — 기하학적으로 완전히 규정 가능한 문제 구조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1333195" y="9488729"/>
            <a:ext cx="1149309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03</a:t>
            </a:r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실패 원인이 캘리브레이션·색 임계값·IK 도달성 중 하나로 국소화되어 재학습 없이 분 단위 조정 가능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763195" y="8284464"/>
            <a:ext cx="4191610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리더암-팔로워암 텔레오퍼레이션 장비 배치</a:t>
            </a:r>
            <a:pPr algn="l" indent="0" marL="0">
              <a:lnSpc>
                <a:spcPts val="2310"/>
              </a:lnSpc>
              <a:buNone/>
            </a:pP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(중간보고서 그림 2.1) · 총 112 에피소드 수집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6573500" y="9544507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3733495"/>
            <a:ext cx="16230600" cy="11045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28700" y="5048402"/>
            <a:ext cx="7905902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e99d217fadbe6e816d0360bb0c46507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7830007"/>
            <a:ext cx="3143707" cy="106755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전체 시스템 구조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: 파이프라인과 FSM</a:t>
            </a:r>
            <a:endParaRPr lang="en-US" sz="3900" dirty="0"/>
          </a:p>
        </p:txBody>
      </p:sp>
      <p:sp>
        <p:nvSpPr>
          <p:cNvPr id="8" name="Text 4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카메라 · 인식 · IK · 상태제어가 Orin Nano 단독으로 완결 — GPU 서버 실시간 의존성 없음</a:t>
            </a:r>
            <a:endParaRPr lang="en-US" sz="1950" dirty="0"/>
          </a:p>
        </p:txBody>
      </p:sp>
      <p:sp>
        <p:nvSpPr>
          <p:cNvPr id="9" name="Text 5"/>
          <p:cNvSpPr txBox="1"/>
          <p:nvPr/>
        </p:nvSpPr>
        <p:spPr>
          <a:xfrm>
            <a:off x="1333195" y="4058107"/>
            <a:ext cx="142920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상태 기계</a:t>
            </a:r>
            <a:endParaRPr lang="en-US" sz="1725" dirty="0"/>
          </a:p>
        </p:txBody>
      </p:sp>
      <p:sp>
        <p:nvSpPr>
          <p:cNvPr id="10" name="Text 6"/>
          <p:cNvSpPr txBox="1"/>
          <p:nvPr/>
        </p:nvSpPr>
        <p:spPr>
          <a:xfrm>
            <a:off x="2895905" y="3924605"/>
            <a:ext cx="2190902" cy="619963"/>
          </a:xfrm>
          <a:prstGeom prst="rect">
            <a:avLst/>
          </a:prstGeom>
          <a:solidFill>
            <a:srgbClr val="4478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0" bIns="139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SELECT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351069" y="4048049"/>
            <a:ext cx="2478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Text 8"/>
          <p:cNvSpPr txBox="1"/>
          <p:nvPr/>
        </p:nvSpPr>
        <p:spPr>
          <a:xfrm>
            <a:off x="5862218" y="3924605"/>
            <a:ext cx="2190902" cy="619963"/>
          </a:xfrm>
          <a:prstGeom prst="rect">
            <a:avLst/>
          </a:prstGeom>
          <a:solidFill>
            <a:srgbClr val="4478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0" bIns="139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PICK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317382" y="4048049"/>
            <a:ext cx="2478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Text 10"/>
          <p:cNvSpPr txBox="1"/>
          <p:nvPr/>
        </p:nvSpPr>
        <p:spPr>
          <a:xfrm>
            <a:off x="8829446" y="3924605"/>
            <a:ext cx="2190902" cy="619963"/>
          </a:xfrm>
          <a:prstGeom prst="rect">
            <a:avLst/>
          </a:prstGeom>
          <a:solidFill>
            <a:srgbClr val="4478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0" bIns="139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VERIFY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1284610" y="4048049"/>
            <a:ext cx="2478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Text 12"/>
          <p:cNvSpPr txBox="1"/>
          <p:nvPr/>
        </p:nvSpPr>
        <p:spPr>
          <a:xfrm>
            <a:off x="11796674" y="3924605"/>
            <a:ext cx="2190902" cy="619963"/>
          </a:xfrm>
          <a:prstGeom prst="rect">
            <a:avLst/>
          </a:prstGeom>
          <a:solidFill>
            <a:srgbClr val="4478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0" bIns="139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14251838" y="4048049"/>
            <a:ext cx="2478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→</a:t>
            </a:r>
            <a:endParaRPr lang="en-US" sz="1950" dirty="0"/>
          </a:p>
        </p:txBody>
      </p:sp>
      <p:sp>
        <p:nvSpPr>
          <p:cNvPr id="18" name="Text 14"/>
          <p:cNvSpPr txBox="1"/>
          <p:nvPr/>
        </p:nvSpPr>
        <p:spPr>
          <a:xfrm>
            <a:off x="14763902" y="3924605"/>
            <a:ext cx="2190902" cy="619963"/>
          </a:xfrm>
          <a:prstGeom prst="rect">
            <a:avLst/>
          </a:prstGeom>
          <a:solidFill>
            <a:srgbClr val="21212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0" bIns="1397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PLACE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2838298" y="4496105"/>
            <a:ext cx="1419240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1·2차 미션은 PLACE 배치 전략만 교체, SELECT·PICK·VERIFY·TRANSPORT는 완전 공유 · 실패 시 SELECT로 순환</a:t>
            </a:r>
            <a:endParaRPr lang="en-US" sz="1575" dirty="0"/>
          </a:p>
        </p:txBody>
      </p:sp>
      <p:sp>
        <p:nvSpPr>
          <p:cNvPr id="20" name="Text 16"/>
          <p:cNvSpPr txBox="1"/>
          <p:nvPr/>
        </p:nvSpPr>
        <p:spPr>
          <a:xfrm>
            <a:off x="1333195" y="5296205"/>
            <a:ext cx="72969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처리 파이프라인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1333195" y="5753405"/>
            <a:ext cx="7296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탑다운 카메라 → HSV + 형상 검출 → 픽셀 좌표</a:t>
            </a:r>
            <a:endParaRPr lang="en-US" sz="1650" dirty="0"/>
          </a:p>
        </p:txBody>
      </p:sp>
      <p:sp>
        <p:nvSpPr>
          <p:cNvPr id="22" name="Text 18"/>
          <p:cNvSpPr txBox="1"/>
          <p:nvPr/>
        </p:nvSpPr>
        <p:spPr>
          <a:xfrm>
            <a:off x="1333195" y="6131052"/>
            <a:ext cx="7296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homography로 픽셀 → 로봇 베이스 좌표(mm) 변환</a:t>
            </a:r>
            <a:endParaRPr lang="en-US" sz="1650" dirty="0"/>
          </a:p>
        </p:txBody>
      </p:sp>
      <p:sp>
        <p:nvSpPr>
          <p:cNvPr id="23" name="Text 19"/>
          <p:cNvSpPr txBox="1"/>
          <p:nvPr/>
        </p:nvSpPr>
        <p:spPr>
          <a:xfrm>
            <a:off x="1333195" y="6509614"/>
            <a:ext cx="7296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그리퍼 반경/접선 좌표 보정 → IK 파지 후보 다중 사전계산</a:t>
            </a:r>
            <a:endParaRPr lang="en-US" sz="1650" dirty="0"/>
          </a:p>
        </p:txBody>
      </p:sp>
      <p:sp>
        <p:nvSpPr>
          <p:cNvPr id="24" name="Text 20"/>
          <p:cNvSpPr txBox="1"/>
          <p:nvPr/>
        </p:nvSpPr>
        <p:spPr>
          <a:xfrm>
            <a:off x="1333195" y="6887261"/>
            <a:ext cx="7296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열기 → hover → 하강 → 닫기 → 파지 확인(실패 시 다음 후보)</a:t>
            </a:r>
            <a:endParaRPr lang="en-US" sz="1650" dirty="0"/>
          </a:p>
        </p:txBody>
      </p:sp>
      <p:sp>
        <p:nvSpPr>
          <p:cNvPr id="25" name="Text 21"/>
          <p:cNvSpPr txBox="1"/>
          <p:nvPr/>
        </p:nvSpPr>
        <p:spPr>
          <a:xfrm>
            <a:off x="1333195" y="7265822"/>
            <a:ext cx="72969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들어올림 → 팔 접기 → 선회 → 뻗기 → 내려놓기</a:t>
            </a:r>
            <a:endParaRPr lang="en-US" sz="1650" dirty="0"/>
          </a:p>
        </p:txBody>
      </p:sp>
      <p:sp>
        <p:nvSpPr>
          <p:cNvPr id="26" name="Text 22"/>
          <p:cNvSpPr txBox="1"/>
          <p:nvPr/>
        </p:nvSpPr>
        <p:spPr>
          <a:xfrm>
            <a:off x="4686300" y="8001000"/>
            <a:ext cx="3943807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관제 화면 : 검출 좌표 · 각도를 실시간 표시해 각 단계 출력을 즉시 확인</a:t>
            </a:r>
            <a:endParaRPr lang="en-US" sz="1575" dirty="0"/>
          </a:p>
        </p:txBody>
      </p:sp>
      <p:sp>
        <p:nvSpPr>
          <p:cNvPr id="27" name="Text 23"/>
          <p:cNvSpPr txBox="1"/>
          <p:nvPr/>
        </p:nvSpPr>
        <p:spPr>
          <a:xfrm>
            <a:off x="9353398" y="5048402"/>
            <a:ext cx="79059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모듈별 책임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53398" y="5486400"/>
          <a:ext cx="7905902" cy="3553358"/>
        </p:xfrm>
        <a:graphic>
          <a:graphicData uri="http://schemas.openxmlformats.org/drawingml/2006/table">
            <a:tbl>
              <a:tblPr/>
              <a:tblGrid>
                <a:gridCol w="2648102"/>
                <a:gridCol w="5257800"/>
              </a:tblGrid>
              <a:tr h="5076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모듈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7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담당 책임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블록 검출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HSV 색 후보 생성 + 형상 게이트 재검증, 색 라벨·중심 좌표 산출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평면 변환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homography로 픽셀 → 로봇 베이스 좌표(mm) 변환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TopDownIK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탑다운 시드 테이블 기반 IK 해 산출, 도달 불가 목표 사전 차단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파지 검증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그리퍼 위치·부하 센서로 파지 성공 판정, 실패 시 후보 재시도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PLACE 전략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1차 지정영역 배치 / 2차 StackPlaceStrategy·ContactMonitor 적층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6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FSM 제어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상태 순환·시간 예산 관리, 종료 시 그리퍼 개방 후 홈 복귀</a:t>
                      </a:r>
                      <a:endParaRPr lang="en-US" sz="150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66751" marB="66751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16573500" y="9486900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3733495"/>
            <a:ext cx="5715000" cy="54105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33195" y="5086807"/>
            <a:ext cx="5105095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33195" y="5886907"/>
            <a:ext cx="5105095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33195" y="6687007"/>
            <a:ext cx="5105095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33195" y="7487107"/>
            <a:ext cx="5105095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25005" y="6667805"/>
            <a:ext cx="10134295" cy="2476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CORE IMPLEMENTATION ①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검출 게이트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와 캘리브레이션 실측</a:t>
            </a:r>
            <a:endParaRPr lang="en-US" sz="3900" dirty="0"/>
          </a:p>
        </p:txBody>
      </p:sp>
      <p:sp>
        <p:nvSpPr>
          <p:cNvPr id="11" name="Text 8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형상 게이트로 배경을 배제하고, FK 좌표 ↔ 영상 중심 좌표를 짝지어 homography를 추정</a:t>
            </a:r>
            <a:endParaRPr lang="en-US" sz="1950" dirty="0"/>
          </a:p>
        </p:txBody>
      </p:sp>
      <p:sp>
        <p:nvSpPr>
          <p:cNvPr id="12" name="Text 9"/>
          <p:cNvSpPr txBox="1"/>
          <p:nvPr/>
        </p:nvSpPr>
        <p:spPr>
          <a:xfrm>
            <a:off x="1333195" y="3981298"/>
            <a:ext cx="51060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형상 필터 게이트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4476902"/>
            <a:ext cx="51060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색 후보 생성 후, 아래 네 조건을 모두 통과한 윤곽만 블록으로 확정</a:t>
            </a:r>
            <a:endParaRPr lang="en-US" sz="1725" dirty="0"/>
          </a:p>
        </p:txBody>
      </p:sp>
      <p:sp>
        <p:nvSpPr>
          <p:cNvPr id="14" name="Text 11"/>
          <p:cNvSpPr txBox="1"/>
          <p:nvPr/>
        </p:nvSpPr>
        <p:spPr>
          <a:xfrm>
            <a:off x="1561795" y="5219395"/>
            <a:ext cx="46488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면적</a:t>
            </a:r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900 – 3200 mm²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561795" y="6019495"/>
            <a:ext cx="46488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종횡비</a:t>
            </a:r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≤ 1.6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561795" y="6819595"/>
            <a:ext cx="46488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충진율(fill)</a:t>
            </a:r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≥ 0.65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561795" y="7619695"/>
            <a:ext cx="46488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solidity</a:t>
            </a:r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≥ 0.78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33195" y="8324698"/>
            <a:ext cx="51060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테이프의 길쭉하거나 빈 윤곽과 블록의 채워진 정사각형을 구분</a:t>
            </a:r>
            <a:endParaRPr lang="en-US" sz="1575" dirty="0"/>
          </a:p>
        </p:txBody>
      </p:sp>
      <p:sp>
        <p:nvSpPr>
          <p:cNvPr id="19" name="Text 16"/>
          <p:cNvSpPr txBox="1"/>
          <p:nvPr/>
        </p:nvSpPr>
        <p:spPr>
          <a:xfrm>
            <a:off x="7125005" y="3733495"/>
            <a:ext cx="101352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캘리브레이션 측정값 (최종 채택 : 9점 재수집)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25005" y="4190695"/>
          <a:ext cx="10135210" cy="2724912"/>
        </p:xfrm>
        <a:graphic>
          <a:graphicData uri="http://schemas.openxmlformats.org/drawingml/2006/table">
            <a:tbl>
              <a:tblPr/>
              <a:tblGrid>
                <a:gridCol w="7010705"/>
                <a:gridCol w="3124505"/>
              </a:tblGrid>
              <a:tr h="5449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측정 항목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값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카메라 마운트 드리프트 (10분, p95)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0.32 px </a:t>
                      </a:r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767676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(기준 2 px)</a:t>
                      </a:r>
                      <a:endParaRPr lang="en-US" sz="1200" dirty="0"/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체스판 homography 잔차 (광학계만)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RMS 0.4 mm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픽셀→로봇 캘리브레이션 적합 RMS </a:t>
                      </a:r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(9점 재수집)</a:t>
                      </a:r>
                      <a:endParaRPr lang="en-US" sz="1200" dirty="0"/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8.18 mm</a:t>
                      </a:r>
                      <a:endParaRPr lang="en-US" sz="19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Leave-One-Out 최악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26.64 mm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429500" y="6877202"/>
            <a:ext cx="9525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점 수를 늘려도 개선되지 않은 진행 이력</a:t>
            </a:r>
            <a:endParaRPr lang="en-US" sz="1950" dirty="0"/>
          </a:p>
        </p:txBody>
      </p:sp>
      <p:sp>
        <p:nvSpPr>
          <p:cNvPr id="22" name="Text 18"/>
          <p:cNvSpPr txBox="1"/>
          <p:nvPr/>
        </p:nvSpPr>
        <p:spPr>
          <a:xfrm>
            <a:off x="7429500" y="7334402"/>
            <a:ext cx="9525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5점 → 9점 → 15점 → </a:t>
            </a:r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9점 재수집 (최종 채택)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429500" y="7810805"/>
            <a:ext cx="986546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15점으로 확장해도 적합 RMS·LOO가 함께 개선되지 않아, 점 수 증가가 해법이 아님을 확인</a:t>
            </a:r>
            <a:endParaRPr lang="en-US" sz="1725" dirty="0"/>
          </a:p>
        </p:txBody>
      </p:sp>
      <p:sp>
        <p:nvSpPr>
          <p:cNvPr id="24" name="Text 20"/>
          <p:cNvSpPr txBox="1"/>
          <p:nvPr/>
        </p:nvSpPr>
        <p:spPr>
          <a:xfrm>
            <a:off x="7429500" y="8223199"/>
            <a:ext cx="9525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데이터를 재수집한 9점 세트가 가장 낮은 적합 RMS 8.18mm를 보여 평가 기준으로 채택</a:t>
            </a:r>
            <a:endParaRPr lang="en-US" sz="1725" dirty="0"/>
          </a:p>
        </p:txBody>
      </p:sp>
      <p:sp>
        <p:nvSpPr>
          <p:cNvPr id="25" name="Text 21"/>
          <p:cNvSpPr txBox="1"/>
          <p:nvPr/>
        </p:nvSpPr>
        <p:spPr>
          <a:xfrm>
            <a:off x="7429500" y="8636508"/>
            <a:ext cx="9525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다만 </a:t>
            </a:r>
            <a:pPr algn="l" indent="0" marL="0">
              <a:buNone/>
            </a:pPr>
            <a:r>
              <a:rPr lang="en-US" sz="1725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목표(RMS &lt; 5mm)에는 미달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— 오차를 전제로 한 재시도 설계로 대응</a:t>
            </a:r>
            <a:endParaRPr lang="en-US" sz="1725" dirty="0"/>
          </a:p>
        </p:txBody>
      </p:sp>
      <p:sp>
        <p:nvSpPr>
          <p:cNvPr id="26" name="Text 22"/>
          <p:cNvSpPr txBox="1"/>
          <p:nvPr/>
        </p:nvSpPr>
        <p:spPr>
          <a:xfrm>
            <a:off x="16573500" y="9486900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3733495"/>
            <a:ext cx="8382305" cy="54105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91395" y="6286500"/>
            <a:ext cx="7467905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677595" y="6991502"/>
            <a:ext cx="3276295" cy="1143000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c548633a503644fb019b9dd20de8a87b.jpg">    </p:cNvPr>
          <p:cNvPicPr>
            <a:picLocks noChangeAspect="1"/>
          </p:cNvPicPr>
          <p:nvPr/>
        </p:nvPicPr>
        <p:blipFill>
          <a:blip r:embed="rId2"/>
          <a:srcRect l="0" r="0" t="-4881" b="-4881"/>
          <a:stretch/>
        </p:blipFill>
        <p:spPr>
          <a:xfrm>
            <a:off x="1333195" y="4496105"/>
            <a:ext cx="3810305" cy="19815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CORE IMPLEMENTATION ②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역기구학(IK)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과 파지 재시도 설계</a:t>
            </a:r>
            <a:endParaRPr lang="en-US" sz="3900" dirty="0"/>
          </a:p>
        </p:txBody>
      </p:sp>
      <p:sp>
        <p:nvSpPr>
          <p:cNvPr id="9" name="Text 5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원칙: “닫아봐야 안다” — 목표 도달 여부가 아니라 항상 닫고 센서로 확인</a:t>
            </a:r>
            <a:endParaRPr lang="en-US" sz="1950" dirty="0"/>
          </a:p>
        </p:txBody>
      </p:sp>
      <p:sp>
        <p:nvSpPr>
          <p:cNvPr id="10" name="Text 6"/>
          <p:cNvSpPr txBox="1"/>
          <p:nvPr/>
        </p:nvSpPr>
        <p:spPr>
          <a:xfrm>
            <a:off x="1333195" y="3981298"/>
            <a:ext cx="77724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중립 손목 · IK 후보 · ±15mm 재시도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5391302" y="4572000"/>
            <a:ext cx="37152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전·후·좌·우 15mm 재시도</a:t>
            </a:r>
            <a:endParaRPr lang="en-US" sz="1725" dirty="0"/>
          </a:p>
        </p:txBody>
      </p:sp>
      <p:sp>
        <p:nvSpPr>
          <p:cNvPr id="12" name="Text 8"/>
          <p:cNvSpPr txBox="1"/>
          <p:nvPr/>
        </p:nvSpPr>
        <p:spPr>
          <a:xfrm>
            <a:off x="5391302" y="4992624"/>
            <a:ext cx="3715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중심 → 대각 4방향 → 좌우 순서로 사전 계산된 후보를 최대 4회까지 시도, 성공 시 즉시 운반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333195" y="6724498"/>
            <a:ext cx="815919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각 위치에서 wrist_roll이 중립(0)이 되는 yaw를 자동 선택하도록 재설계</a:t>
            </a:r>
            <a:endParaRPr lang="en-US" sz="1725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7175297"/>
            <a:ext cx="77724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placo 기반 IK는 시드에 민감 → 탑다운 시드 테이블 도입, 25개 지점 중 23개 0.00mm 수렴</a:t>
            </a:r>
            <a:endParaRPr lang="en-US" sz="1725" dirty="0"/>
          </a:p>
        </p:txBody>
      </p:sp>
      <p:sp>
        <p:nvSpPr>
          <p:cNvPr id="15" name="Text 11"/>
          <p:cNvSpPr txBox="1"/>
          <p:nvPr/>
        </p:nvSpPr>
        <p:spPr>
          <a:xfrm>
            <a:off x="1333195" y="7925105"/>
            <a:ext cx="77724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탑다운 도달 반경 0.03–0.32m, 벗어나면 실행 전 도달불가로 차단</a:t>
            </a:r>
            <a:endParaRPr lang="en-US" sz="1725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8356702"/>
            <a:ext cx="77724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그리퍼 개방 턱 간격 약 70mm vs 블록 40mm → ±15mm 위치 오차를 구조적으로 흡수</a:t>
            </a:r>
            <a:endParaRPr lang="en-US" sz="1725" dirty="0"/>
          </a:p>
        </p:txBody>
      </p:sp>
      <p:sp>
        <p:nvSpPr>
          <p:cNvPr id="17" name="Text 13"/>
          <p:cNvSpPr txBox="1"/>
          <p:nvPr/>
        </p:nvSpPr>
        <p:spPr>
          <a:xfrm>
            <a:off x="9791395" y="3733495"/>
            <a:ext cx="74679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센서 기반 파지 판정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91395" y="4190695"/>
          <a:ext cx="7467905" cy="1629461"/>
        </p:xfrm>
        <a:graphic>
          <a:graphicData uri="http://schemas.openxmlformats.org/drawingml/2006/table">
            <a:tbl>
              <a:tblPr/>
              <a:tblGrid>
                <a:gridCol w="2648102"/>
                <a:gridCol w="2556662"/>
                <a:gridCol w="2263140"/>
              </a:tblGrid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조건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그리퍼 위치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부하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블록 파지 (3회)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44.1 – 44.3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500 (포화)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빈손 (3회)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3.4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39 – 41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114300" marB="114300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9791395" y="5753405"/>
            <a:ext cx="74679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두 분포가 완전히 분리(임계값: 위치 20.0 / 부하 200.0) → 오분류 없음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0096805" y="6495898"/>
            <a:ext cx="6858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노란 블록 실측 — 정확도만으로는 부족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10096805" y="6991502"/>
            <a:ext cx="4159606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1.4 – 2.1</a:t>
            </a:r>
            <a:pPr algn="l" indent="0" marL="0">
              <a:buNone/>
            </a:pPr>
            <a:r>
              <a:rPr lang="en-US" sz="2100" b="1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mm</a:t>
            </a:r>
            <a:endParaRPr lang="en-US" sz="4200" dirty="0"/>
          </a:p>
        </p:txBody>
      </p:sp>
      <p:sp>
        <p:nvSpPr>
          <p:cNvPr id="22" name="Text 17"/>
          <p:cNvSpPr txBox="1"/>
          <p:nvPr/>
        </p:nvSpPr>
        <p:spPr>
          <a:xfrm>
            <a:off x="10096805" y="7619695"/>
            <a:ext cx="3238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목표 대비 FK 좌표 오차</a:t>
            </a:r>
            <a:endParaRPr lang="en-US" sz="1650" dirty="0"/>
          </a:p>
        </p:txBody>
      </p:sp>
      <p:sp>
        <p:nvSpPr>
          <p:cNvPr id="23" name="Text 18"/>
          <p:cNvSpPr txBox="1"/>
          <p:nvPr/>
        </p:nvSpPr>
        <p:spPr>
          <a:xfrm>
            <a:off x="13906195" y="7181698"/>
            <a:ext cx="28200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안쪽 2회 실패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13906195" y="7648956"/>
            <a:ext cx="28200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FK 오차가 mm 단위여도 파지는 실패할 수 있음</a:t>
            </a:r>
            <a:endParaRPr lang="en-US" sz="1575" dirty="0"/>
          </a:p>
        </p:txBody>
      </p:sp>
      <p:sp>
        <p:nvSpPr>
          <p:cNvPr id="25" name="Text 20"/>
          <p:cNvSpPr txBox="1"/>
          <p:nvPr/>
        </p:nvSpPr>
        <p:spPr>
          <a:xfrm>
            <a:off x="10096805" y="8343900"/>
            <a:ext cx="6858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→ IK 도달 정확도를 성공 지표로 쓰지 않고, </a:t>
            </a:r>
            <a:pPr algn="l" indent="0" marL="0">
              <a:lnSpc>
                <a:spcPts val="2392"/>
              </a:lnSpc>
              <a:buNone/>
            </a:pPr>
            <a:r>
              <a:rPr lang="en-US" sz="16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닫은 뒤 센서 확인 + 후보 재시도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를 기본 설계로 채택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16573500" y="9486900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3733495"/>
            <a:ext cx="5257800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33195" y="3981298"/>
            <a:ext cx="1714500" cy="457200"/>
          </a:xfrm>
          <a:prstGeom prst="rect">
            <a:avLst/>
          </a:prstGeom>
          <a:solidFill>
            <a:srgbClr val="447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5100" y="3733495"/>
            <a:ext cx="5257800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19595" y="3981298"/>
            <a:ext cx="2190902" cy="457200"/>
          </a:xfrm>
          <a:prstGeom prst="rect">
            <a:avLst/>
          </a:prstGeom>
          <a:solidFill>
            <a:srgbClr val="447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1500" y="3733495"/>
            <a:ext cx="5257800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05995" y="3981298"/>
            <a:ext cx="2190902" cy="457200"/>
          </a:xfrm>
          <a:prstGeom prst="rect">
            <a:avLst/>
          </a:prstGeom>
          <a:solidFill>
            <a:srgbClr val="447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28700" y="7144207"/>
            <a:ext cx="5257800" cy="20007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PROBLEM → SOLUTION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세 가지 문제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와 해결, 그리고 안전 계층</a:t>
            </a:r>
            <a:endParaRPr lang="en-US" sz="3900" dirty="0"/>
          </a:p>
        </p:txBody>
      </p:sp>
      <p:sp>
        <p:nvSpPr>
          <p:cNvPr id="12" name="Text 9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실기에서 드러난 문제를 원인 단위로 국소화하고, 재발을 막는 계층을 코드에 남김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1333195" y="4058107"/>
            <a:ext cx="1714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색상 간섭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33195" y="4667098"/>
            <a:ext cx="46488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문제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지정 영역의 빨간 테이프와 빨간 블록이 색상이 비슷해, HSV 임계값만으로는 배경까지 블록으로 잡힘</a:t>
            </a:r>
            <a:endParaRPr lang="en-US" sz="1725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5762549"/>
            <a:ext cx="4648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해결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색 후보 생성 후 형상(면적·종횡비·충진율·solidity)으로 재검증하는 게이트 추가</a:t>
            </a:r>
            <a:endParaRPr lang="en-US" sz="1725" dirty="0"/>
          </a:p>
        </p:txBody>
      </p:sp>
      <p:sp>
        <p:nvSpPr>
          <p:cNvPr id="16" name="Text 13"/>
          <p:cNvSpPr txBox="1"/>
          <p:nvPr/>
        </p:nvSpPr>
        <p:spPr>
          <a:xfrm>
            <a:off x="1333195" y="6540703"/>
            <a:ext cx="46488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설정값은 관제 화면에서 실시간 추적 가능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6819595" y="4058107"/>
            <a:ext cx="2190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손목 서보 과열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819595" y="4667098"/>
            <a:ext cx="46488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문제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yaw를 베이스 기준 절대 방향으로 고정 → shoulder_pan 회전만큼 wrist_roll이 반대로 비틀려 한계각 도달, 과열 보호 정지 발생</a:t>
            </a:r>
            <a:endParaRPr lang="en-US" sz="1725" dirty="0"/>
          </a:p>
        </p:txBody>
      </p:sp>
      <p:sp>
        <p:nvSpPr>
          <p:cNvPr id="19" name="Text 16"/>
          <p:cNvSpPr txBox="1"/>
          <p:nvPr/>
        </p:nvSpPr>
        <p:spPr>
          <a:xfrm>
            <a:off x="6819595" y="5762549"/>
            <a:ext cx="4648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해결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각 위치에서 wrist_roll이 중립(0)이 되는 yaw를 자동 선택 + 블록의 90° 회전 대칭 활용</a:t>
            </a:r>
            <a:endParaRPr lang="en-US" sz="1725" dirty="0"/>
          </a:p>
        </p:txBody>
      </p:sp>
      <p:sp>
        <p:nvSpPr>
          <p:cNvPr id="20" name="Text 17"/>
          <p:cNvSpPr txBox="1"/>
          <p:nvPr/>
        </p:nvSpPr>
        <p:spPr>
          <a:xfrm>
            <a:off x="12305995" y="4058107"/>
            <a:ext cx="2190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파지 오판정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2305995" y="4667098"/>
            <a:ext cx="4648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문제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IK 목표 도달을 성공으로 간주하면, 실제로 블록을 잡지 못한 채 운반 단계로 진입</a:t>
            </a:r>
            <a:endParaRPr lang="en-US" sz="1725" dirty="0"/>
          </a:p>
        </p:txBody>
      </p:sp>
      <p:sp>
        <p:nvSpPr>
          <p:cNvPr id="22" name="Text 19"/>
          <p:cNvSpPr txBox="1"/>
          <p:nvPr/>
        </p:nvSpPr>
        <p:spPr>
          <a:xfrm>
            <a:off x="12305995" y="5445252"/>
            <a:ext cx="46488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해결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그리퍼 위치·부하 센서로 파지 여부를 판정(임계값 20.0 / 200.0), 실패 시 후보 재시도</a:t>
            </a:r>
            <a:endParaRPr lang="en-US" sz="1725" dirty="0"/>
          </a:p>
        </p:txBody>
      </p:sp>
      <p:sp>
        <p:nvSpPr>
          <p:cNvPr id="23" name="Text 20"/>
          <p:cNvSpPr txBox="1"/>
          <p:nvPr/>
        </p:nvSpPr>
        <p:spPr>
          <a:xfrm>
            <a:off x="12305995" y="6223406"/>
            <a:ext cx="46488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파지 미확인 시 운반 단계 진입 자체를 금지</a:t>
            </a:r>
            <a:endParaRPr lang="en-US" sz="1650" dirty="0"/>
          </a:p>
        </p:txBody>
      </p:sp>
      <p:sp>
        <p:nvSpPr>
          <p:cNvPr id="24" name="Text 21"/>
          <p:cNvSpPr txBox="1"/>
          <p:nvPr/>
        </p:nvSpPr>
        <p:spPr>
          <a:xfrm>
            <a:off x="1333195" y="7353605"/>
            <a:ext cx="4648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중립 방향 재설계 효과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333195" y="7772400"/>
            <a:ext cx="285750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125° → 3.7°</a:t>
            </a:r>
            <a:endParaRPr lang="en-US" sz="3900" dirty="0"/>
          </a:p>
        </p:txBody>
      </p:sp>
      <p:sp>
        <p:nvSpPr>
          <p:cNvPr id="26" name="Text 23"/>
          <p:cNvSpPr txBox="1"/>
          <p:nvPr/>
        </p:nvSpPr>
        <p:spPr>
          <a:xfrm>
            <a:off x="1333195" y="8858707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wrist_roll 최대 편차 개선</a:t>
            </a:r>
            <a:endParaRPr lang="en-US" sz="1650" dirty="0"/>
          </a:p>
        </p:txBody>
      </p:sp>
      <p:sp>
        <p:nvSpPr>
          <p:cNvPr id="27" name="Text 24"/>
          <p:cNvSpPr txBox="1"/>
          <p:nvPr/>
        </p:nvSpPr>
        <p:spPr>
          <a:xfrm>
            <a:off x="4419295" y="7810805"/>
            <a:ext cx="16194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43.5°</a:t>
            </a:r>
            <a:endParaRPr lang="en-US" sz="2850" dirty="0"/>
          </a:p>
        </p:txBody>
      </p:sp>
      <p:sp>
        <p:nvSpPr>
          <p:cNvPr id="28" name="Text 25"/>
          <p:cNvSpPr txBox="1"/>
          <p:nvPr/>
        </p:nvSpPr>
        <p:spPr>
          <a:xfrm>
            <a:off x="4419295" y="8248802"/>
            <a:ext cx="16194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대칭 활용 시 실측 최대 편차 (허용 ±45° 이내) · 이후 과열 정지 재발 없음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515100" y="7144207"/>
            <a:ext cx="107442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다중 계층 안전 설계 — 모든 궤적은 목표 자세가 아니라 측정된 현재 자세에서 시작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15100" y="7524598"/>
          <a:ext cx="10744200" cy="2210105"/>
        </p:xfrm>
        <a:graphic>
          <a:graphicData uri="http://schemas.openxmlformats.org/drawingml/2006/table">
            <a:tbl>
              <a:tblPr/>
              <a:tblGrid>
                <a:gridCol w="2361895"/>
                <a:gridCol w="8382305"/>
              </a:tblGrid>
              <a:tr h="44202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계층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내용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4420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궤적 보간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틱당 관절 변화량 상한 — 목표에 못 미친 상태에서도 급격한 도약 방지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0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로봇 펌웨어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max_relative_target 상대 이동 클램프 (항상 활성)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420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IK · 파지 게이트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도달 불가 목표는 실행 전 차단 / 파지 미확인 시 운반 진입 금지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20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종료 처리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성공·실패 무관하게 그리퍼 개방 후 홈 복귀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1028700" y="9525305"/>
            <a:ext cx="762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9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" y="9068105"/>
            <a:ext cx="16230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RESULT &amp; LIMITATION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최종 시스템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구현 및 수행 결과</a:t>
            </a:r>
            <a:endParaRPr lang="en-US" sz="3900" dirty="0"/>
          </a:p>
        </p:txBody>
      </p:sp>
      <p:sp>
        <p:nvSpPr>
          <p:cNvPr id="6" name="Text 3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구성 요소별로 “어디까지 되었고, 무엇이 남았는지”를 실측 수치와 함께 구분</a:t>
            </a:r>
            <a:endParaRPr lang="en-US" sz="1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3696005"/>
          <a:ext cx="16230600" cy="5315407"/>
        </p:xfrm>
        <a:graphic>
          <a:graphicData uri="http://schemas.openxmlformats.org/drawingml/2006/table">
            <a:tbl>
              <a:tblPr/>
              <a:tblGrid>
                <a:gridCol w="2495398"/>
                <a:gridCol w="8477402"/>
                <a:gridCol w="5257800"/>
              </a:tblGrid>
              <a:tr h="6644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구성 요소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구현 내용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수행 결과 · 한계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CV 인식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HSV 색 후보 생성 + 형상 게이트(면적 900–3200mm², 종횡비 ≤1.6, fill ≥0.65, solidity ≥0.78) 재검증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구현 완료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— 빨간 테이프/블록 구분, 설정값 관제 화면 실시간 추적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평면 변환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FK 좌표 ↔ 영상 중심 좌표 짝지어 homography 추정 (5→9→15→9점 재수집)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적합 RMS 8.18mm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· 최악 LOO 26.64mm — 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767676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목표(RMS&lt;5mm) 미달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IK · 파지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탑다운 시드 테이블 기반 IK, 중립 손목 정렬, ±15mm 후보 재시도(최대 4회), 센서 파지 판정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구현 완료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— 25개 지점 중 23개 0.00mm 수렴, 파지 판정 오분류 없음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1차 배치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지정 영역 운반 · 5블록 반복 로직(재선택 방지 · 시간 예산 종료)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9/8 180초 시험: 4번 배치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, 파란 블록 1개 영역 밖 → 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767676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미완료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2차 적재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StackPlaceStrategy(적재 프리미티브) · ContactMonitor(접촉 감지)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모듈 구현 완료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— tower_approach / tower_descent 포즈 미등록, 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767676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실기 측정 예정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관제 도구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검출 좌표 · 각도 · 후보별 면적 · 검출 마커 실시간 표시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구현 완료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— 실패 원인을 검출·좌표·IK·센서 단계별로 즉시 국소화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644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종료 처리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성공·실패 무관 그리퍼 개방 후 홈 복귀, 궤적 보간 · 펌웨어 클램프 · IK/파지 게이트</a:t>
                      </a:r>
                      <a:endParaRPr lang="en-US" sz="157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75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구현 완료</a:t>
                      </a:r>
                      <a:pPr indent="0" marL="0">
                        <a:buNone/>
                      </a:pPr>
                      <a:r>
                        <a:rPr lang="en-US" sz="1575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 — 과열 정지 재발 없음(편차 125°→3.7°)</a:t>
                      </a:r>
                      <a:endParaRPr lang="en-US" sz="1200" dirty="0"/>
                    </a:p>
                  </a:txBody>
                  <a:tcPr marL="152705" marR="152705" marT="85954" marB="8595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333195" y="9239098"/>
            <a:ext cx="15240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룰베이스 방식의 강점</a:t>
            </a:r>
            <a:endParaRPr lang="en-US" sz="1725" dirty="0"/>
          </a:p>
        </p:txBody>
      </p:sp>
      <p:sp>
        <p:nvSpPr>
          <p:cNvPr id="9" name="Text 5"/>
          <p:cNvSpPr txBox="1"/>
          <p:nvPr/>
        </p:nvSpPr>
        <p:spPr>
          <a:xfrm>
            <a:off x="1333195" y="9648749"/>
            <a:ext cx="15240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형상 조건과 임계값을 코드에서 직접 설계하므로, 실패 원인을 단계별로 추적해 </a:t>
            </a:r>
            <a:pPr algn="l" indent="0" marL="0">
              <a:buNone/>
            </a:pPr>
            <a:r>
              <a:rPr lang="en-US" sz="1725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재학습 없이 설정값 조정만으로 분 단위 대응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이 가능</a:t>
            </a:r>
            <a:endParaRPr lang="en-US" sz="1725" dirty="0"/>
          </a:p>
        </p:txBody>
      </p:sp>
      <p:sp>
        <p:nvSpPr>
          <p:cNvPr id="10" name="Text 6"/>
          <p:cNvSpPr txBox="1"/>
          <p:nvPr/>
        </p:nvSpPr>
        <p:spPr>
          <a:xfrm>
            <a:off x="16573500" y="2247595"/>
            <a:ext cx="6858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10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54005" y="3733495"/>
            <a:ext cx="6705295" cy="54105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858500" y="7962595"/>
            <a:ext cx="6096305" cy="933602"/>
          </a:xfrm>
          <a:prstGeom prst="rect">
            <a:avLst/>
          </a:prstGeom>
          <a:solidFill>
            <a:srgbClr val="F4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76502" y="1904695"/>
            <a:ext cx="1143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6969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SCHEDULE &amp; NEXT STEPS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76502" y="2247595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향후 계획</a:t>
            </a:r>
            <a:pPr algn="l" indent="0" marL="0">
              <a:buNone/>
            </a:pPr>
            <a:r>
              <a:rPr lang="en-US" sz="3900" b="1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과 남은 과제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1276502" y="3047695"/>
            <a:ext cx="15240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추석 연휴로 앞당겨진 학과 일정 기준 — 포스터 9/10, 최종보고서 9/14, 실제 시연 10/1</a:t>
            </a:r>
            <a:endParaRPr lang="en-US" sz="1950" dirty="0"/>
          </a:p>
        </p:txBody>
      </p:sp>
      <p:sp>
        <p:nvSpPr>
          <p:cNvPr id="8" name="Text 5"/>
          <p:cNvSpPr txBox="1"/>
          <p:nvPr/>
        </p:nvSpPr>
        <p:spPr>
          <a:xfrm>
            <a:off x="1028700" y="3733495"/>
            <a:ext cx="9144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제출 일정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4190695"/>
          <a:ext cx="9144000" cy="3905402"/>
        </p:xfrm>
        <a:graphic>
          <a:graphicData uri="http://schemas.openxmlformats.org/drawingml/2006/table">
            <a:tbl>
              <a:tblPr/>
              <a:tblGrid>
                <a:gridCol w="3771523"/>
                <a:gridCol w="2686239"/>
                <a:gridCol w="2686239"/>
              </a:tblGrid>
              <a:tr h="5579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항목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마감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25" b="1" dirty="0">
                          <a:solidFill>
                            <a:srgbClr val="FFFFFF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비고</a:t>
                      </a:r>
                      <a:endParaRPr lang="en-US" sz="1725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8FB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포스터 파일 제출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9월 10일 (목)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PDF, A1, 분과C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포스터 인쇄업체 제출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9월 11일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이후 수정 불가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최종보고서 / 최종평가표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9월 14일 (월)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졸업과제서버 업로드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소개 동영상 (3–10분)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9월 20일 (일)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시연영상 아님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GitHub repo · README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9월 29일 (화)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실제 시연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50" b="1" dirty="0">
                          <a:solidFill>
                            <a:srgbClr val="4478FB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10월 1일 (목) 9–13시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12121"/>
                          </a:solidFill>
                          <a:latin typeface="프리젠테이션 5 Medium" pitchFamily="34" charset="0"/>
                          <a:ea typeface="프리젠테이션 5 Medium" pitchFamily="34" charset="-122"/>
                          <a:cs typeface="프리젠테이션 5 Medium" pitchFamily="34" charset="-120"/>
                        </a:rPr>
                        <a:t>IT관 TechWeek 발표회</a:t>
                      </a:r>
                      <a:endParaRPr lang="en-US" sz="1650" dirty="0">
                        <a:latin typeface="프리젠테이션 5 Medium" charset="0"/>
                        <a:ea typeface="프리젠테이션 5 Medium" charset="0"/>
                        <a:cs typeface="프리젠테이션 5 Medium" charset="0"/>
                      </a:endParaRPr>
                    </a:p>
                  </a:txBody>
                  <a:tcPr marL="152705" marR="152705" marT="123444" marB="123444" anchor="ctr">
                    <a:lnL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0858500" y="3981298"/>
            <a:ext cx="6096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잔여 과제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0858500" y="4476902"/>
            <a:ext cx="609630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5블록 전체 모으기(1차 미션) 실기 성공률 측정, 위치별(좌/우) 분리 기록</a:t>
            </a:r>
            <a:endParaRPr lang="en-US" sz="1725" dirty="0"/>
          </a:p>
        </p:txBody>
      </p:sp>
      <p:sp>
        <p:nvSpPr>
          <p:cNvPr id="12" name="Text 8"/>
          <p:cNvSpPr txBox="1"/>
          <p:nvPr/>
        </p:nvSpPr>
        <p:spPr>
          <a:xfrm>
            <a:off x="10858500" y="5264201"/>
            <a:ext cx="609630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lnSpc>
                <a:spcPts val="2501"/>
              </a:lnSpc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적재(2차 미션) 타워 포즈 등록 후 PLACE 전략 실기 검증 및 5초 유지 성공률 측정</a:t>
            </a:r>
            <a:endParaRPr lang="en-US" sz="1725" dirty="0"/>
          </a:p>
        </p:txBody>
      </p:sp>
      <p:sp>
        <p:nvSpPr>
          <p:cNvPr id="13" name="Text 9"/>
          <p:cNvSpPr txBox="1"/>
          <p:nvPr/>
        </p:nvSpPr>
        <p:spPr>
          <a:xfrm>
            <a:off x="10858500" y="6051499"/>
            <a:ext cx="6096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지정구역 4모서리 좌표 재등록, 손목 카메라 근접 보정</a:t>
            </a:r>
            <a:endParaRPr lang="en-US" sz="1725" dirty="0"/>
          </a:p>
        </p:txBody>
      </p:sp>
      <p:sp>
        <p:nvSpPr>
          <p:cNvPr id="14" name="Text 10"/>
          <p:cNvSpPr txBox="1"/>
          <p:nvPr/>
        </p:nvSpPr>
        <p:spPr>
          <a:xfrm>
            <a:off x="10858500" y="6521501"/>
            <a:ext cx="6096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색상별 HSV 임계값 실환경 재튜닝</a:t>
            </a:r>
            <a:endParaRPr lang="en-US" sz="1725" dirty="0"/>
          </a:p>
        </p:txBody>
      </p:sp>
      <p:sp>
        <p:nvSpPr>
          <p:cNvPr id="15" name="Text 11"/>
          <p:cNvSpPr txBox="1"/>
          <p:nvPr/>
        </p:nvSpPr>
        <p:spPr>
          <a:xfrm>
            <a:off x="10858500" y="6991502"/>
            <a:ext cx="62398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Docker 평가 서버 이미지의 CV+IK 경로 대응 여부 확정</a:t>
            </a:r>
            <a:endParaRPr lang="en-US" sz="1725" dirty="0"/>
          </a:p>
        </p:txBody>
      </p:sp>
      <p:sp>
        <p:nvSpPr>
          <p:cNvPr id="16" name="Text 12"/>
          <p:cNvSpPr txBox="1"/>
          <p:nvPr/>
        </p:nvSpPr>
        <p:spPr>
          <a:xfrm>
            <a:off x="10858500" y="7461504"/>
            <a:ext cx="6096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▸</a:t>
            </a:r>
            <a:pPr algn="l" indent="0" marL="0">
              <a:buNone/>
            </a:pPr>
            <a:r>
              <a:rPr lang="en-US" sz="172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 시연계획서 작성 및 10월 1일 시연 리허설</a:t>
            </a:r>
            <a:endParaRPr lang="en-US" sz="1725" dirty="0"/>
          </a:p>
        </p:txBody>
      </p:sp>
      <p:sp>
        <p:nvSpPr>
          <p:cNvPr id="17" name="Text 13"/>
          <p:cNvSpPr txBox="1"/>
          <p:nvPr/>
        </p:nvSpPr>
        <p:spPr>
          <a:xfrm>
            <a:off x="11087100" y="8153705"/>
            <a:ext cx="56391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확장 가능성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11087100" y="8553298"/>
            <a:ext cx="56391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212121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센서 판별 결과를 라벨로 활용해 성공/실패가 태깅된 보상 데이터셋을 자동 축적 (향후 확장 과제)</a:t>
            </a:r>
            <a:endParaRPr lang="en-US" sz="1575" dirty="0"/>
          </a:p>
        </p:txBody>
      </p:sp>
      <p:sp>
        <p:nvSpPr>
          <p:cNvPr id="19" name="Text 15"/>
          <p:cNvSpPr txBox="1"/>
          <p:nvPr/>
        </p:nvSpPr>
        <p:spPr>
          <a:xfrm>
            <a:off x="16573500" y="9486900"/>
            <a:ext cx="6858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0C0C0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09c53aeb090cda55ad8cf353bdefa6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405" y="952805"/>
            <a:ext cx="16002000" cy="457200"/>
          </a:xfrm>
          <a:prstGeom prst="rect">
            <a:avLst/>
          </a:prstGeom>
        </p:spPr>
      </p:pic>
      <p:pic>
        <p:nvPicPr>
          <p:cNvPr id="3" name="Image 1" descr="gen-dedup-5dcdea6690cd3ce8b1df9dfb758a6a87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447495" y="5600700"/>
            <a:ext cx="1143000" cy="38405"/>
          </a:xfrm>
          <a:prstGeom prst="rect">
            <a:avLst/>
          </a:prstGeom>
        </p:spPr>
      </p:pic>
      <p:pic>
        <p:nvPicPr>
          <p:cNvPr id="4" name="Image 2" descr="gen-dedup-fecaaaad66eaa46a23fe33b30cc7cab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002207" y="3810305"/>
            <a:ext cx="2667305" cy="26673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429207" y="3238805"/>
            <a:ext cx="11430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spc="225" kern="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SIM2REAL · Q&amp;A</a:t>
            </a:r>
            <a:endParaRPr lang="en-US" sz="2550" dirty="0"/>
          </a:p>
        </p:txBody>
      </p:sp>
      <p:sp>
        <p:nvSpPr>
          <p:cNvPr id="6" name="Text 1"/>
          <p:cNvSpPr txBox="1"/>
          <p:nvPr/>
        </p:nvSpPr>
        <p:spPr>
          <a:xfrm>
            <a:off x="1390802" y="3847795"/>
            <a:ext cx="12382805" cy="1257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0" b="1" dirty="0">
                <a:solidFill>
                  <a:srgbClr val="4478FB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감사합니다</a:t>
            </a:r>
            <a:endParaRPr lang="en-US" sz="8250" dirty="0"/>
          </a:p>
        </p:txBody>
      </p:sp>
      <p:sp>
        <p:nvSpPr>
          <p:cNvPr id="7" name="Text 2"/>
          <p:cNvSpPr txBox="1"/>
          <p:nvPr/>
        </p:nvSpPr>
        <p:spPr>
          <a:xfrm>
            <a:off x="1429207" y="5944514"/>
            <a:ext cx="123828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Team Sim2Real · 윤민석 · 김주환 · 이동근</a:t>
            </a:r>
            <a:pPr algn="l" indent="0" marL="0">
              <a:lnSpc>
                <a:spcPts val="2925"/>
              </a:lnSpc>
              <a:buNone/>
            </a:pPr>
            <a:endParaRPr lang="en-US" sz="19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프리젠테이션 5 Medium" pitchFamily="34" charset="0"/>
                <a:ea typeface="프리젠테이션 5 Medium" pitchFamily="34" charset="-122"/>
                <a:cs typeface="프리젠테이션 5 Medium" pitchFamily="34" charset="-120"/>
              </a:rPr>
              <a:t>PUSAN NATIONAL UNIVERSITY · 졸업과제 세미나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2026-09-10T19:49:02Z</dcterms:created>
  <dcterms:modified xsi:type="dcterms:W3CDTF">2026-09-10T19:49:02Z</dcterms:modified>
</cp:coreProperties>
</file>