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75" r:id="rId4"/>
    <p:sldId id="276" r:id="rId5"/>
    <p:sldId id="257" r:id="rId6"/>
    <p:sldId id="258" r:id="rId7"/>
    <p:sldId id="274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 type="screen16x9"/>
  <p:notesSz cx="6858000" cy="9144000"/>
  <p:embeddedFontLst>
    <p:embeddedFont>
      <p:font typeface="Asta Sans" panose="020B0600000101010101" charset="-127"/>
      <p:regular r:id="rId25"/>
      <p:bold r:id="rId26"/>
    </p:embeddedFont>
    <p:embeddedFont>
      <p:font typeface="프리젠테이션 5 Medium" pitchFamily="2" charset="-127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705842-0560-4C93-92A0-7A9CA526DA95}">
  <a:tblStyle styleId="{60705842-0560-4C93-92A0-7A9CA526DA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cc383561_6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409cc383561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D67497-8661-7458-CB87-C5612289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cc383561_15_42:notes">
            <a:extLst>
              <a:ext uri="{FF2B5EF4-FFF2-40B4-BE49-F238E27FC236}">
                <a16:creationId xmlns:a16="http://schemas.microsoft.com/office/drawing/2014/main" id="{053F3E44-6E12-27C2-89F6-066EC2915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409cc383561_15_42:notes">
            <a:extLst>
              <a:ext uri="{FF2B5EF4-FFF2-40B4-BE49-F238E27FC236}">
                <a16:creationId xmlns:a16="http://schemas.microsoft.com/office/drawing/2014/main" id="{F94B32D2-00D0-1736-7366-93736118E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0616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cc383561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409cc383561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cc383561_15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409cc383561_15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E40771-450E-599E-EB49-8FB76C99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cc383561_15_42:notes">
            <a:extLst>
              <a:ext uri="{FF2B5EF4-FFF2-40B4-BE49-F238E27FC236}">
                <a16:creationId xmlns:a16="http://schemas.microsoft.com/office/drawing/2014/main" id="{739E77FF-7F53-4048-5F3F-DD1946476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409cc383561_15_42:notes">
            <a:extLst>
              <a:ext uri="{FF2B5EF4-FFF2-40B4-BE49-F238E27FC236}">
                <a16:creationId xmlns:a16="http://schemas.microsoft.com/office/drawing/2014/main" id="{8D371C47-9F27-FCB7-B51D-5870D14B5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3341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09cc383561_15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409cc383561_15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cc383561_15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409cc383561_15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09cc383561_15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409cc383561_15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cc383561_15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409cc383561_15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09cc383561_15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409cc383561_15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09cc383561_15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409cc383561_15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09cc383561_15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409cc383561_15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09cc383561_15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409cc383561_15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09cc383561_15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409cc383561_15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9cc383561_15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409cc383561_15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09cc383561_15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409cc383561_15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09cc383561_15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409cc383561_15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09cc383561_15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409cc383561_15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409cc383561_15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409cc383561_15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09cc383561_15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409cc383561_15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67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31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62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82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04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65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62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61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17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36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1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41030" y="1775014"/>
            <a:ext cx="655680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Team Sim2Real</a:t>
            </a:r>
            <a:endParaRPr sz="700"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컴퓨터 비전과 역기구학 기반 SO-ARM101 </a:t>
            </a:r>
            <a:br>
              <a:rPr lang="en-US" altLang="ko" sz="3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</a:br>
            <a:r>
              <a:rPr lang="ko" sz="3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로봇팔의 블록 이동 및 적재 시스템 </a:t>
            </a:r>
            <a:endParaRPr sz="7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636100" y="1498238"/>
            <a:ext cx="52500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PUSAN NATIONAL UNIVERSITY </a:t>
            </a:r>
            <a:endParaRPr sz="70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736450" y="3552200"/>
            <a:ext cx="4641600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*윤민석 김주환 이동근</a:t>
            </a:r>
            <a:endParaRPr sz="700" dirty="0"/>
          </a:p>
        </p:txBody>
      </p:sp>
      <p:grpSp>
        <p:nvGrpSpPr>
          <p:cNvPr id="57" name="Google Shape;57;p13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58" name="Google Shape;58;p13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3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3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925" y="714216"/>
            <a:ext cx="1545950" cy="15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C4458D14-0929-85B2-B87E-C26ABDD7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5">
            <a:extLst>
              <a:ext uri="{FF2B5EF4-FFF2-40B4-BE49-F238E27FC236}">
                <a16:creationId xmlns:a16="http://schemas.microsoft.com/office/drawing/2014/main" id="{E2B40CAD-80D4-EDF2-FA52-3C9AB14F9E5B}"/>
              </a:ext>
            </a:extLst>
          </p:cNvPr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09" name="Google Shape;109;p15">
              <a:extLst>
                <a:ext uri="{FF2B5EF4-FFF2-40B4-BE49-F238E27FC236}">
                  <a16:creationId xmlns:a16="http://schemas.microsoft.com/office/drawing/2014/main" id="{A62A2301-2112-8D7F-8E16-684D17221B95}"/>
                </a:ext>
              </a:extLst>
            </p:cNvPr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5">
              <a:extLst>
                <a:ext uri="{FF2B5EF4-FFF2-40B4-BE49-F238E27FC236}">
                  <a16:creationId xmlns:a16="http://schemas.microsoft.com/office/drawing/2014/main" id="{92391527-0845-41D5-A681-CCF691728F76}"/>
                </a:ext>
              </a:extLst>
            </p:cNvPr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5">
              <a:extLst>
                <a:ext uri="{FF2B5EF4-FFF2-40B4-BE49-F238E27FC236}">
                  <a16:creationId xmlns:a16="http://schemas.microsoft.com/office/drawing/2014/main" id="{50E2A769-1E2C-AE56-4A12-B1030619223E}"/>
                </a:ext>
              </a:extLst>
            </p:cNvPr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2" name="Google Shape;112;p15">
            <a:extLst>
              <a:ext uri="{FF2B5EF4-FFF2-40B4-BE49-F238E27FC236}">
                <a16:creationId xmlns:a16="http://schemas.microsoft.com/office/drawing/2014/main" id="{FB9C35BA-8D14-8BED-9E65-59A5A725B2BE}"/>
              </a:ext>
            </a:extLst>
          </p:cNvPr>
          <p:cNvGrpSpPr/>
          <p:nvPr/>
        </p:nvGrpSpPr>
        <p:grpSpPr>
          <a:xfrm>
            <a:off x="436418" y="1663390"/>
            <a:ext cx="8172376" cy="3199550"/>
            <a:chOff x="0" y="-28575"/>
            <a:chExt cx="4274726" cy="1284534"/>
          </a:xfrm>
        </p:grpSpPr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B8912C10-688F-624A-42BB-7168196FEA84}"/>
                </a:ext>
              </a:extLst>
            </p:cNvPr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A794102C-33C7-3D85-DD05-6D4DDB1481CE}"/>
                </a:ext>
              </a:extLst>
            </p:cNvPr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cxnSp>
        <p:nvCxnSpPr>
          <p:cNvPr id="117" name="Google Shape;117;p15">
            <a:extLst>
              <a:ext uri="{FF2B5EF4-FFF2-40B4-BE49-F238E27FC236}">
                <a16:creationId xmlns:a16="http://schemas.microsoft.com/office/drawing/2014/main" id="{439AAF81-A539-0CFE-D354-CE51C2FCDE5C}"/>
              </a:ext>
            </a:extLst>
          </p:cNvPr>
          <p:cNvCxnSpPr>
            <a:cxnSpLocks/>
          </p:cNvCxnSpPr>
          <p:nvPr/>
        </p:nvCxnSpPr>
        <p:spPr>
          <a:xfrm>
            <a:off x="3564122" y="1693912"/>
            <a:ext cx="0" cy="3169028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8028DFB3-E61C-3BF5-FC13-715431BE3503}"/>
              </a:ext>
            </a:extLst>
          </p:cNvPr>
          <p:cNvSpPr txBox="1"/>
          <p:nvPr/>
        </p:nvSpPr>
        <p:spPr>
          <a:xfrm>
            <a:off x="519647" y="731723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프로젝트 개요</a:t>
            </a:r>
            <a:r>
              <a:rPr lang="en-US" altLang="ko-KR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&amp; </a:t>
            </a:r>
            <a:r>
              <a:rPr lang="ko-KR" altLang="en-US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목표</a:t>
            </a:r>
            <a:endParaRPr sz="700" dirty="0"/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040DEC61-A359-C4BE-3077-FCAD56AF9F71}"/>
              </a:ext>
            </a:extLst>
          </p:cNvPr>
          <p:cNvSpPr txBox="1"/>
          <p:nvPr/>
        </p:nvSpPr>
        <p:spPr>
          <a:xfrm>
            <a:off x="514350" y="1238897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싱글 </a:t>
            </a:r>
            <a:r>
              <a:rPr lang="ko-KR" altLang="en-US" sz="100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탑다운</a:t>
            </a:r>
            <a:r>
              <a:rPr lang="ko-KR" altLang="en-US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카메라 </a:t>
            </a:r>
            <a:r>
              <a:rPr lang="en-US" altLang="ko-KR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+ CV·IK </a:t>
            </a:r>
            <a:r>
              <a:rPr lang="ko-KR" altLang="en-US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규칙 파이프라인</a:t>
            </a:r>
            <a:endParaRPr lang="ko-KR" altLang="en-US" sz="700" dirty="0"/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CBEBDD27-83B9-D578-68F4-A9C2909A9532}"/>
              </a:ext>
            </a:extLst>
          </p:cNvPr>
          <p:cNvSpPr txBox="1"/>
          <p:nvPr/>
        </p:nvSpPr>
        <p:spPr>
          <a:xfrm>
            <a:off x="703660" y="1856304"/>
            <a:ext cx="4116262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프로젝트 시스템 개요</a:t>
            </a:r>
            <a:r>
              <a:rPr lang="en-US" altLang="ko-KR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		        </a:t>
            </a:r>
            <a:r>
              <a:rPr lang="ko-KR" altLang="en-US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프로젝트 구현 목표 </a:t>
            </a:r>
            <a:endParaRPr lang="ko-KR" altLang="en-US" sz="1000" b="1" dirty="0">
              <a:solidFill>
                <a:srgbClr val="4478FB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E6409A51-349F-299E-2CE4-90B5F93FBA45}"/>
              </a:ext>
            </a:extLst>
          </p:cNvPr>
          <p:cNvSpPr txBox="1"/>
          <p:nvPr/>
        </p:nvSpPr>
        <p:spPr>
          <a:xfrm>
            <a:off x="3865421" y="3165764"/>
            <a:ext cx="4566532" cy="198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3513" lvl="1">
              <a:lnSpc>
                <a:spcPts val="3059"/>
              </a:lnSpc>
            </a:pP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사용 기술 스택</a:t>
            </a:r>
            <a:endParaRPr lang="en-US" altLang="ko-KR" sz="1200" dirty="0">
              <a:solidFill>
                <a:srgbClr val="212121"/>
              </a:solidFill>
              <a:latin typeface="Asta Sans" pitchFamily="2" charset="-127"/>
              <a:ea typeface="Asta Sans" pitchFamily="2" charset="-127"/>
              <a:cs typeface="JASO Sans"/>
              <a:sym typeface="JASO Sans"/>
            </a:endParaRPr>
          </a:p>
          <a:p>
            <a:pPr marL="354963" lvl="1" indent="-171450">
              <a:lnSpc>
                <a:spcPts val="3059"/>
              </a:lnSpc>
              <a:buFontTx/>
              <a:buChar char="-"/>
            </a:pP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CV : 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색상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(HSV)·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형상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(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면적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·</a:t>
            </a:r>
            <a:r>
              <a:rPr lang="ko-KR" altLang="en-US" sz="1200" dirty="0" err="1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종횡비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) 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필터 기반 블록 검출</a:t>
            </a:r>
            <a:endParaRPr lang="en-US" altLang="ko-KR" sz="1200" dirty="0">
              <a:solidFill>
                <a:srgbClr val="212121"/>
              </a:solidFill>
              <a:latin typeface="Asta Sans" pitchFamily="2" charset="-127"/>
              <a:ea typeface="Asta Sans" pitchFamily="2" charset="-127"/>
              <a:cs typeface="JASO Sans"/>
              <a:sym typeface="JASO Sans"/>
            </a:endParaRPr>
          </a:p>
          <a:p>
            <a:pPr marL="354963" lvl="1" indent="-171450">
              <a:lnSpc>
                <a:spcPts val="3059"/>
              </a:lnSpc>
              <a:buFontTx/>
              <a:buChar char="-"/>
            </a:pP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좌표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·IK : 9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점 캘리브레이션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(RMS 8.18mm) + </a:t>
            </a:r>
            <a:r>
              <a:rPr lang="ko-KR" altLang="en-US" sz="1200" dirty="0" err="1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그리퍼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 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roll 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정렬</a:t>
            </a:r>
            <a:endParaRPr lang="en-US" altLang="ko-KR" sz="1200" dirty="0">
              <a:solidFill>
                <a:srgbClr val="212121"/>
              </a:solidFill>
              <a:latin typeface="Asta Sans" pitchFamily="2" charset="-127"/>
              <a:ea typeface="Asta Sans" pitchFamily="2" charset="-127"/>
              <a:cs typeface="JASO Sans"/>
              <a:sym typeface="JASO Sans"/>
            </a:endParaRPr>
          </a:p>
          <a:p>
            <a:pPr marL="354963" lvl="1" indent="-171450">
              <a:lnSpc>
                <a:spcPts val="3059"/>
              </a:lnSpc>
              <a:buFontTx/>
              <a:buChar char="-"/>
            </a:pP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제어 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: FSM 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기반 파지 검증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·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재시도 로직 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(</a:t>
            </a:r>
            <a:r>
              <a:rPr lang="ko-KR" altLang="en-US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센서 기반 확인</a:t>
            </a:r>
            <a:r>
              <a:rPr lang="en-US" altLang="ko-KR" sz="12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)</a:t>
            </a:r>
          </a:p>
          <a:p>
            <a:pPr marL="183513" lvl="1">
              <a:lnSpc>
                <a:spcPts val="3059"/>
              </a:lnSpc>
            </a:pPr>
            <a:endParaRPr lang="ko-KR" altLang="en-US" sz="1200" dirty="0">
              <a:solidFill>
                <a:srgbClr val="212121"/>
              </a:solidFill>
              <a:latin typeface="Asta Sans" pitchFamily="2" charset="-127"/>
              <a:ea typeface="Asta Sans" pitchFamily="2" charset="-127"/>
              <a:cs typeface="JASO Sans"/>
              <a:sym typeface="JASO San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15D4CC-B38F-B5FA-1531-82F366D4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48" y="2192328"/>
            <a:ext cx="2223691" cy="2497436"/>
          </a:xfrm>
          <a:prstGeom prst="rect">
            <a:avLst/>
          </a:prstGeom>
        </p:spPr>
      </p:pic>
      <p:sp>
        <p:nvSpPr>
          <p:cNvPr id="25" name="Google Shape;122;p15">
            <a:extLst>
              <a:ext uri="{FF2B5EF4-FFF2-40B4-BE49-F238E27FC236}">
                <a16:creationId xmlns:a16="http://schemas.microsoft.com/office/drawing/2014/main" id="{0F8844F4-C5EC-4B94-ACE7-D28E16663FCC}"/>
              </a:ext>
            </a:extLst>
          </p:cNvPr>
          <p:cNvSpPr txBox="1"/>
          <p:nvPr/>
        </p:nvSpPr>
        <p:spPr>
          <a:xfrm>
            <a:off x="3758184" y="2238114"/>
            <a:ext cx="4566532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3513" lvl="1">
              <a:lnSpc>
                <a:spcPts val="3059"/>
              </a:lnSpc>
            </a:pPr>
            <a:endParaRPr lang="ko-KR" altLang="en-US" sz="1200" dirty="0">
              <a:solidFill>
                <a:srgbClr val="212121"/>
              </a:solidFill>
              <a:latin typeface="Asta Sans" pitchFamily="2" charset="-127"/>
              <a:ea typeface="Asta Sans" pitchFamily="2" charset="-127"/>
              <a:cs typeface="JASO Sans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3021501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6322" y="517525"/>
            <a:ext cx="7971358" cy="140047"/>
            <a:chOff x="0" y="0"/>
            <a:chExt cx="21256953" cy="373459"/>
          </a:xfrm>
        </p:grpSpPr>
        <p:sp>
          <p:nvSpPr>
            <p:cNvPr id="3" name="AutoShape 3"/>
            <p:cNvSpPr/>
            <p:nvPr/>
          </p:nvSpPr>
          <p:spPr>
            <a:xfrm>
              <a:off x="1757178" y="6350"/>
              <a:ext cx="19499775" cy="0"/>
            </a:xfrm>
            <a:prstGeom prst="line">
              <a:avLst/>
            </a:prstGeom>
            <a:ln w="12700" cap="rnd">
              <a:solidFill>
                <a:srgbClr val="21212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 defTabSz="457200">
                <a:buClrTx/>
              </a:pPr>
              <a:endParaRPr lang="ko-KR" altLang="en-US" sz="900" kern="1200">
                <a:solidFill>
                  <a:prstClr val="black"/>
                </a:solidFill>
                <a:latin typeface="Asta Sans" pitchFamily="2" charset="-127"/>
                <a:ea typeface="Asta Sans" pitchFamily="2" charset="-127"/>
                <a:cs typeface="+mn-cs"/>
              </a:endParaRPr>
            </a:p>
          </p:txBody>
        </p:sp>
        <p:sp>
          <p:nvSpPr>
            <p:cNvPr id="4" name="AutoShape 4"/>
            <p:cNvSpPr/>
            <p:nvPr/>
          </p:nvSpPr>
          <p:spPr>
            <a:xfrm flipH="1">
              <a:off x="1416834" y="6350"/>
              <a:ext cx="340343" cy="360759"/>
            </a:xfrm>
            <a:prstGeom prst="line">
              <a:avLst/>
            </a:prstGeom>
            <a:ln w="12700" cap="rnd">
              <a:solidFill>
                <a:srgbClr val="21212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 defTabSz="457200">
                <a:buClrTx/>
              </a:pPr>
              <a:endParaRPr lang="ko-KR" altLang="en-US" sz="900" kern="1200">
                <a:solidFill>
                  <a:prstClr val="black"/>
                </a:solidFill>
                <a:latin typeface="Asta Sans" pitchFamily="2" charset="-127"/>
                <a:ea typeface="Asta Sans" pitchFamily="2" charset="-127"/>
                <a:cs typeface="+mn-cs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 flipH="1">
              <a:off x="0" y="367109"/>
              <a:ext cx="1416834" cy="0"/>
            </a:xfrm>
            <a:prstGeom prst="line">
              <a:avLst/>
            </a:prstGeom>
            <a:ln w="12700" cap="rnd">
              <a:solidFill>
                <a:srgbClr val="21212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 defTabSz="457200">
                <a:buClrTx/>
              </a:pPr>
              <a:endParaRPr lang="ko-KR" altLang="en-US" sz="900" kern="1200">
                <a:solidFill>
                  <a:prstClr val="black"/>
                </a:solidFill>
                <a:latin typeface="Asta Sans" pitchFamily="2" charset="-127"/>
                <a:ea typeface="Asta Sans" pitchFamily="2" charset="-127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4350" y="2235639"/>
            <a:ext cx="8115300" cy="2384359"/>
            <a:chOff x="0" y="0"/>
            <a:chExt cx="4274726" cy="12559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457200">
                <a:buClrTx/>
              </a:pPr>
              <a:endParaRPr lang="ko-KR" altLang="en-US" sz="900" kern="1200">
                <a:solidFill>
                  <a:prstClr val="black"/>
                </a:solidFill>
                <a:latin typeface="Asta Sans" pitchFamily="2" charset="-127"/>
                <a:ea typeface="Asta Sans" pitchFamily="2" charset="-127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625"/>
                </a:lnSpc>
                <a:buClrTx/>
              </a:pPr>
              <a:endParaRPr sz="900" kern="1200">
                <a:solidFill>
                  <a:prstClr val="black"/>
                </a:solidFill>
                <a:latin typeface="Asta Sans" pitchFamily="2" charset="-127"/>
                <a:ea typeface="Asta Sans" pitchFamily="2" charset="-127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53346" y="2235639"/>
            <a:ext cx="5076305" cy="2384359"/>
            <a:chOff x="0" y="0"/>
            <a:chExt cx="1572905" cy="7387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72905" cy="738799"/>
            </a:xfrm>
            <a:custGeom>
              <a:avLst/>
              <a:gdLst/>
              <a:ahLst/>
              <a:cxnLst/>
              <a:rect l="l" t="t" r="r" b="b"/>
              <a:pathLst>
                <a:path w="1572905" h="738799">
                  <a:moveTo>
                    <a:pt x="0" y="0"/>
                  </a:moveTo>
                  <a:lnTo>
                    <a:pt x="1572905" y="0"/>
                  </a:lnTo>
                  <a:lnTo>
                    <a:pt x="1572905" y="738799"/>
                  </a:lnTo>
                  <a:lnTo>
                    <a:pt x="0" y="738799"/>
                  </a:lnTo>
                  <a:close/>
                </a:path>
              </a:pathLst>
            </a:custGeom>
            <a:blipFill>
              <a:blip r:embed="rId2"/>
              <a:stretch>
                <a:fillRect l="-40463" r="7861" b="-10016"/>
              </a:stretch>
            </a:blipFill>
          </p:spPr>
          <p:txBody>
            <a:bodyPr/>
            <a:lstStyle/>
            <a:p>
              <a:pPr defTabSz="457200">
                <a:buClrTx/>
              </a:pPr>
              <a:endParaRPr lang="ko-KR" altLang="en-US" sz="900" kern="1200">
                <a:solidFill>
                  <a:prstClr val="black"/>
                </a:solidFill>
                <a:latin typeface="Asta Sans" pitchFamily="2" charset="-127"/>
                <a:ea typeface="Asta Sans" pitchFamily="2" charset="-127"/>
                <a:cs typeface="+mn-cs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705757" y="3711630"/>
            <a:ext cx="2499635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457200">
              <a:buClrTx/>
            </a:pPr>
            <a:endParaRPr lang="ko-KR" altLang="en-US" sz="900" kern="1200">
              <a:solidFill>
                <a:prstClr val="black"/>
              </a:solidFill>
              <a:latin typeface="Asta Sans" pitchFamily="2" charset="-127"/>
              <a:ea typeface="Asta Sans" pitchFamily="2" charset="-127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6322" y="1289341"/>
            <a:ext cx="6144516" cy="39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3250"/>
              </a:lnSpc>
              <a:buClrTx/>
            </a:pPr>
            <a:r>
              <a:rPr lang="en-US" sz="2500" b="1" kern="1200" dirty="0" err="1">
                <a:solidFill>
                  <a:srgbClr val="4478FB"/>
                </a:solidFill>
                <a:latin typeface="Asta Sans" pitchFamily="2" charset="-127"/>
                <a:ea typeface="Asta Sans" pitchFamily="2" charset="-127"/>
                <a:cs typeface="JASO Sans Bold"/>
                <a:sym typeface="JASO Sans Bold"/>
              </a:rPr>
              <a:t>현재</a:t>
            </a:r>
            <a:r>
              <a:rPr lang="en-US" sz="2500" b="1" kern="1200" dirty="0">
                <a:solidFill>
                  <a:srgbClr val="4478FB"/>
                </a:solidFill>
                <a:latin typeface="Asta Sans" pitchFamily="2" charset="-127"/>
                <a:ea typeface="Asta Sans" pitchFamily="2" charset="-127"/>
                <a:cs typeface="JASO Sans Bold"/>
                <a:sym typeface="JASO Sans Bold"/>
              </a:rPr>
              <a:t> </a:t>
            </a:r>
            <a:r>
              <a:rPr lang="en-US" sz="2500" b="1" kern="1200" dirty="0" err="1">
                <a:solidFill>
                  <a:srgbClr val="4478FB"/>
                </a:solidFill>
                <a:latin typeface="Asta Sans" pitchFamily="2" charset="-127"/>
                <a:ea typeface="Asta Sans" pitchFamily="2" charset="-127"/>
                <a:cs typeface="JASO Sans Bold"/>
                <a:sym typeface="JASO Sans Bold"/>
              </a:rPr>
              <a:t>구현</a:t>
            </a:r>
            <a:r>
              <a:rPr lang="en-US" sz="2500" b="1" kern="1200" dirty="0">
                <a:solidFill>
                  <a:srgbClr val="4478FB"/>
                </a:solidFill>
                <a:latin typeface="Asta Sans" pitchFamily="2" charset="-127"/>
                <a:ea typeface="Asta Sans" pitchFamily="2" charset="-127"/>
                <a:cs typeface="JASO Sans Bold"/>
                <a:sym typeface="JASO Sans Bold"/>
              </a:rPr>
              <a:t> </a:t>
            </a:r>
            <a:r>
              <a:rPr lang="en-US" sz="2500" b="1" kern="1200" dirty="0" err="1">
                <a:solidFill>
                  <a:srgbClr val="4478FB"/>
                </a:solidFill>
                <a:latin typeface="Asta Sans" pitchFamily="2" charset="-127"/>
                <a:ea typeface="Asta Sans" pitchFamily="2" charset="-127"/>
                <a:cs typeface="JASO Sans Bold"/>
                <a:sym typeface="JASO Sans Bold"/>
              </a:rPr>
              <a:t>결과</a:t>
            </a:r>
            <a:endParaRPr lang="en-US" sz="2500" b="1" kern="1200" dirty="0">
              <a:solidFill>
                <a:srgbClr val="4478FB"/>
              </a:solidFill>
              <a:latin typeface="Asta Sans" pitchFamily="2" charset="-127"/>
              <a:ea typeface="Asta Sans" pitchFamily="2" charset="-127"/>
              <a:cs typeface="JASO Sans Bold"/>
              <a:sym typeface="JAS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4897" y="1057566"/>
            <a:ext cx="3243834" cy="15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300"/>
              </a:lnSpc>
              <a:buClrTx/>
            </a:pPr>
            <a:r>
              <a:rPr lang="en-US" sz="1000" kern="1200">
                <a:solidFill>
                  <a:srgbClr val="212121">
                    <a:alpha val="49804"/>
                  </a:srgbClr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1차 미션 실제 로봇 동작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9631" y="2422958"/>
            <a:ext cx="1843659" cy="18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625"/>
              </a:lnSpc>
              <a:buClrTx/>
            </a:pPr>
            <a:r>
              <a:rPr lang="en-US" sz="1100" b="1" kern="1200">
                <a:solidFill>
                  <a:srgbClr val="4478FB"/>
                </a:solidFill>
                <a:latin typeface="Asta Sans" pitchFamily="2" charset="-127"/>
                <a:ea typeface="Asta Sans" pitchFamily="2" charset="-127"/>
                <a:cs typeface="JASO Sans Bold"/>
                <a:sym typeface="JASO Sans Bold"/>
              </a:rPr>
              <a:t>1차 미션 시연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129" y="2707120"/>
            <a:ext cx="2408891" cy="52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360"/>
              </a:lnSpc>
              <a:buClrTx/>
            </a:pPr>
            <a:r>
              <a:rPr lang="en-US" sz="849" kern="1200">
                <a:solidFill>
                  <a:srgbClr val="969696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9월 2일 촬영한 시연 영상으로 실제 동작을 확인합니다. 검출, 접근, 파지, 운반, 배치까지 이어지는 전체 과정이 담겨 있습니다.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129" y="3811581"/>
            <a:ext cx="2408891" cy="555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3514" lvl="1" indent="-91757" defTabSz="457200">
              <a:lnSpc>
                <a:spcPts val="1530"/>
              </a:lnSpc>
              <a:buClrTx/>
              <a:buFont typeface="Arial"/>
              <a:buChar char="•"/>
            </a:pPr>
            <a:r>
              <a:rPr lang="en-US" sz="849" kern="120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블록 검출 → 접근 → 파지</a:t>
            </a:r>
          </a:p>
          <a:p>
            <a:pPr marL="183514" lvl="1" indent="-91757" defTabSz="457200">
              <a:lnSpc>
                <a:spcPts val="1530"/>
              </a:lnSpc>
              <a:buClrTx/>
              <a:buFont typeface="Arial"/>
              <a:buChar char="•"/>
            </a:pPr>
            <a:r>
              <a:rPr lang="en-US" sz="849" kern="120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운반 → 지정 영역 배치</a:t>
            </a:r>
          </a:p>
          <a:p>
            <a:pPr marL="183514" lvl="1" indent="-91757" defTabSz="457200">
              <a:lnSpc>
                <a:spcPts val="1530"/>
              </a:lnSpc>
              <a:buClrTx/>
              <a:buFont typeface="Arial"/>
              <a:buChar char="•"/>
            </a:pPr>
            <a:r>
              <a:rPr lang="en-US" sz="849" kern="120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다음 블록으로 반복 수행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4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67" name="Google Shape;67;p14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4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4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0" name="Google Shape;70;p14"/>
          <p:cNvSpPr txBox="1"/>
          <p:nvPr/>
        </p:nvSpPr>
        <p:spPr>
          <a:xfrm>
            <a:off x="1499742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i="0" u="none" strike="noStrike" cap="none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블록 조작 시스템의</a:t>
            </a:r>
            <a:r>
              <a:rPr lang="ko" sz="2500" b="1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주요 난제</a:t>
            </a:r>
            <a:endParaRPr sz="700" dirty="0"/>
          </a:p>
        </p:txBody>
      </p:sp>
      <p:sp>
        <p:nvSpPr>
          <p:cNvPr id="71" name="Google Shape;71;p14"/>
          <p:cNvSpPr txBox="1"/>
          <p:nvPr/>
        </p:nvSpPr>
        <p:spPr>
          <a:xfrm>
            <a:off x="2950083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블록 조작 시스템이 풀어야 했던 것</a:t>
            </a:r>
            <a:endParaRPr sz="700" dirty="0"/>
          </a:p>
        </p:txBody>
      </p:sp>
      <p:grpSp>
        <p:nvGrpSpPr>
          <p:cNvPr id="72" name="Google Shape;72;p14"/>
          <p:cNvGrpSpPr/>
          <p:nvPr/>
        </p:nvGrpSpPr>
        <p:grpSpPr>
          <a:xfrm>
            <a:off x="783121" y="2051068"/>
            <a:ext cx="1719883" cy="2578082"/>
            <a:chOff x="0" y="-28575"/>
            <a:chExt cx="905946" cy="1358002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125273" y="2280293"/>
            <a:ext cx="1035580" cy="440965"/>
            <a:chOff x="0" y="-28575"/>
            <a:chExt cx="545490" cy="232278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78" name="Google Shape;78;p14"/>
          <p:cNvSpPr txBox="1"/>
          <p:nvPr/>
        </p:nvSpPr>
        <p:spPr>
          <a:xfrm>
            <a:off x="1244941" y="2419156"/>
            <a:ext cx="796242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색상 간섭</a:t>
            </a:r>
            <a:endParaRPr sz="700" dirty="0"/>
          </a:p>
        </p:txBody>
      </p:sp>
      <p:sp>
        <p:nvSpPr>
          <p:cNvPr id="79" name="Google Shape;79;p14"/>
          <p:cNvSpPr txBox="1"/>
          <p:nvPr/>
        </p:nvSpPr>
        <p:spPr>
          <a:xfrm>
            <a:off x="930417" y="3127725"/>
            <a:ext cx="142529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빨간 블록과 빨간 테이프, 조명에 따라 구분이 어려움</a:t>
            </a:r>
            <a:endParaRPr sz="700" dirty="0"/>
          </a:p>
        </p:txBody>
      </p:sp>
      <p:grpSp>
        <p:nvGrpSpPr>
          <p:cNvPr id="80" name="Google Shape;80;p14"/>
          <p:cNvGrpSpPr/>
          <p:nvPr/>
        </p:nvGrpSpPr>
        <p:grpSpPr>
          <a:xfrm>
            <a:off x="2735746" y="2051068"/>
            <a:ext cx="1719883" cy="2578082"/>
            <a:chOff x="0" y="-28575"/>
            <a:chExt cx="905946" cy="1358002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3077898" y="2280293"/>
            <a:ext cx="1035580" cy="440965"/>
            <a:chOff x="0" y="-28575"/>
            <a:chExt cx="545490" cy="232278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86" name="Google Shape;86;p14"/>
          <p:cNvSpPr txBox="1"/>
          <p:nvPr/>
        </p:nvSpPr>
        <p:spPr>
          <a:xfrm>
            <a:off x="3197566" y="2419156"/>
            <a:ext cx="796242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좌표 불일치</a:t>
            </a:r>
            <a:endParaRPr sz="70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2883042" y="3127725"/>
            <a:ext cx="142529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픽셀 좌표를 로봇 좌표로 정확히 변환해야 함</a:t>
            </a:r>
            <a:endParaRPr sz="700" dirty="0"/>
          </a:p>
        </p:txBody>
      </p:sp>
      <p:grpSp>
        <p:nvGrpSpPr>
          <p:cNvPr id="88" name="Google Shape;88;p14"/>
          <p:cNvGrpSpPr/>
          <p:nvPr/>
        </p:nvGrpSpPr>
        <p:grpSpPr>
          <a:xfrm>
            <a:off x="4688371" y="2051068"/>
            <a:ext cx="1719883" cy="2578082"/>
            <a:chOff x="0" y="-28575"/>
            <a:chExt cx="905946" cy="1358002"/>
          </a:xfrm>
        </p:grpSpPr>
        <p:sp>
          <p:nvSpPr>
            <p:cNvPr id="89" name="Google Shape;89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5030523" y="2280293"/>
            <a:ext cx="1035579" cy="440965"/>
            <a:chOff x="0" y="-28575"/>
            <a:chExt cx="545490" cy="232278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5150191" y="2419156"/>
            <a:ext cx="796243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접촉 오차</a:t>
            </a:r>
            <a:endParaRPr sz="70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4835667" y="3127725"/>
            <a:ext cx="142529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역기구학 목표 도달이 실제 파지 성공을 보장하지 않음</a:t>
            </a:r>
            <a:endParaRPr sz="700" dirty="0"/>
          </a:p>
        </p:txBody>
      </p:sp>
      <p:grpSp>
        <p:nvGrpSpPr>
          <p:cNvPr id="96" name="Google Shape;96;p14"/>
          <p:cNvGrpSpPr/>
          <p:nvPr/>
        </p:nvGrpSpPr>
        <p:grpSpPr>
          <a:xfrm>
            <a:off x="6640996" y="2051068"/>
            <a:ext cx="1719882" cy="2578082"/>
            <a:chOff x="0" y="-28575"/>
            <a:chExt cx="905946" cy="1358002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6983148" y="2280293"/>
            <a:ext cx="1035579" cy="440965"/>
            <a:chOff x="0" y="-28575"/>
            <a:chExt cx="545490" cy="232278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7102816" y="2419156"/>
            <a:ext cx="796243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반복 처리</a:t>
            </a:r>
            <a:endParaRPr sz="7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788292" y="3127725"/>
            <a:ext cx="142529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제한시간 안에 실패 대상을 재선택하며 여러 블록을 처리</a:t>
            </a:r>
            <a:endParaRPr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5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09" name="Google Shape;109;p15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5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5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2" name="Google Shape;112;p15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15" name="Google Shape;115;p15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단계 장비 배치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(중간보고서 시점, 그림 2.1)</a:t>
            </a:r>
            <a:endParaRPr sz="700" dirty="0"/>
          </a:p>
        </p:txBody>
      </p:sp>
      <p:cxnSp>
        <p:nvCxnSpPr>
          <p:cNvPr id="117" name="Google Shape;117;p15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5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초기 설계: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모방학습 기반 접근</a:t>
            </a:r>
            <a:endParaRPr sz="7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Task1은 모방학습, Task2는 CV로 분담</a:t>
            </a:r>
            <a:endParaRPr sz="7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ACT·SmolVLA 기반 조작 학습</a:t>
            </a:r>
            <a:endParaRPr sz="700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LeRobot으로 시연 수집과 학습·추론 환경을 구성하고, gRPC 기반 원격 추론으로 로봇 제어기와 정책 서버를 연결했습니다.</a:t>
            </a:r>
            <a:endParaRPr sz="700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초록·노랑·파랑 등 총 112개 시연 에피소드 수집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SmolVLA는 초록·노랑 51개 에피소드로 8,000스텝 파인튜닝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ACT는 단일 블록 파지·이동 과제에 적용</a:t>
            </a:r>
            <a:endParaRPr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D2BFFD04-1B8D-88E4-6F79-58F9BB81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5">
            <a:extLst>
              <a:ext uri="{FF2B5EF4-FFF2-40B4-BE49-F238E27FC236}">
                <a16:creationId xmlns:a16="http://schemas.microsoft.com/office/drawing/2014/main" id="{412B7AC7-C1A3-9396-A753-C51A768746B3}"/>
              </a:ext>
            </a:extLst>
          </p:cNvPr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09" name="Google Shape;109;p15">
              <a:extLst>
                <a:ext uri="{FF2B5EF4-FFF2-40B4-BE49-F238E27FC236}">
                  <a16:creationId xmlns:a16="http://schemas.microsoft.com/office/drawing/2014/main" id="{2323E21C-D798-CA2C-E4FB-6A100BDB37E6}"/>
                </a:ext>
              </a:extLst>
            </p:cNvPr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5">
              <a:extLst>
                <a:ext uri="{FF2B5EF4-FFF2-40B4-BE49-F238E27FC236}">
                  <a16:creationId xmlns:a16="http://schemas.microsoft.com/office/drawing/2014/main" id="{5030E06B-F16D-B334-F923-56D5394BFB7E}"/>
                </a:ext>
              </a:extLst>
            </p:cNvPr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5">
              <a:extLst>
                <a:ext uri="{FF2B5EF4-FFF2-40B4-BE49-F238E27FC236}">
                  <a16:creationId xmlns:a16="http://schemas.microsoft.com/office/drawing/2014/main" id="{8322AD23-D7E9-769B-BED6-2A2FA548A961}"/>
                </a:ext>
              </a:extLst>
            </p:cNvPr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2" name="Google Shape;112;p15">
            <a:extLst>
              <a:ext uri="{FF2B5EF4-FFF2-40B4-BE49-F238E27FC236}">
                <a16:creationId xmlns:a16="http://schemas.microsoft.com/office/drawing/2014/main" id="{3D850879-4DCC-26AF-299B-A1D46738F354}"/>
              </a:ext>
            </a:extLst>
          </p:cNvPr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4DE60790-CBF8-8044-2C08-2A1CCD777060}"/>
                </a:ext>
              </a:extLst>
            </p:cNvPr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F5B885ED-45C3-3AD9-B54C-66CBAD335607}"/>
                </a:ext>
              </a:extLst>
            </p:cNvPr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C57462B3-13DA-0030-24D7-F922E017B804}"/>
              </a:ext>
            </a:extLst>
          </p:cNvPr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9C722509-9E77-8596-3CD3-874048FA319D}"/>
              </a:ext>
            </a:extLst>
          </p:cNvPr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단계 장비 배치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(중간보고서 시점, 그림 2.1)</a:t>
            </a:r>
            <a:endParaRPr sz="700" dirty="0"/>
          </a:p>
        </p:txBody>
      </p:sp>
      <p:cxnSp>
        <p:nvCxnSpPr>
          <p:cNvPr id="117" name="Google Shape;117;p15">
            <a:extLst>
              <a:ext uri="{FF2B5EF4-FFF2-40B4-BE49-F238E27FC236}">
                <a16:creationId xmlns:a16="http://schemas.microsoft.com/office/drawing/2014/main" id="{237CF5D7-5C3F-E15C-D089-EE642E969119}"/>
              </a:ext>
            </a:extLst>
          </p:cNvPr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57D925F0-9436-899C-5F63-ABD16073327D}"/>
              </a:ext>
            </a:extLst>
          </p:cNvPr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초기 설계: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모방학습 기반 접근</a:t>
            </a:r>
            <a:endParaRPr sz="700" dirty="0"/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8585DA5D-5B63-6224-1461-C57ABB60E906}"/>
              </a:ext>
            </a:extLst>
          </p:cNvPr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Task1은 모방학습, Task2는 CV로 분담</a:t>
            </a:r>
            <a:endParaRPr sz="700" dirty="0"/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4FD3FB2B-EBA9-33C8-3B47-56299F9CF37D}"/>
              </a:ext>
            </a:extLst>
          </p:cNvPr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ACT·SmolVLA 기반 조작 학습</a:t>
            </a:r>
            <a:endParaRPr sz="700" dirty="0"/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584717E1-9D34-3326-B955-20AE4EC140FF}"/>
              </a:ext>
            </a:extLst>
          </p:cNvPr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LeRobot으로 시연 수집과 학습·추론 환경을 구성하고, gRPC 기반 원격 추론으로 로봇 제어기와 정책 서버를 연결했습니다.</a:t>
            </a:r>
            <a:endParaRPr sz="70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07225FBA-5C31-DC07-9D89-31BE8D885292}"/>
              </a:ext>
            </a:extLst>
          </p:cNvPr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초록·노랑·파랑 등 총 112개 시연 에피소드 수집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SmolVLA는 초록·노랑 51개 에피소드로 8,000스텝 파인튜닝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ACT는 단일 블록 파지·이동 과제에 적용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304710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6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28" name="Google Shape;128;p16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16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16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1" name="Google Shape;131;p16"/>
          <p:cNvSpPr txBox="1"/>
          <p:nvPr/>
        </p:nvSpPr>
        <p:spPr>
          <a:xfrm>
            <a:off x="1499742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실행 결과와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한계</a:t>
            </a:r>
            <a:endParaRPr sz="70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2950083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표 3.1: 초기 접근법의 수행 내용과 결과</a:t>
            </a:r>
            <a:endParaRPr sz="700" dirty="0"/>
          </a:p>
        </p:txBody>
      </p:sp>
      <p:graphicFrame>
        <p:nvGraphicFramePr>
          <p:cNvPr id="133" name="Google Shape;133;p16"/>
          <p:cNvGraphicFramePr/>
          <p:nvPr/>
        </p:nvGraphicFramePr>
        <p:xfrm>
          <a:off x="514350" y="2235638"/>
          <a:ext cx="8096200" cy="2384325"/>
        </p:xfrm>
        <a:graphic>
          <a:graphicData uri="http://schemas.openxmlformats.org/drawingml/2006/table">
            <a:tbl>
              <a:tblPr>
                <a:noFill/>
                <a:tableStyleId>{60705842-0560-4C93-92A0-7A9CA526DA95}</a:tableStyleId>
              </a:tblPr>
              <a:tblGrid>
                <a:gridCol w="98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접근법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수행 내용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결과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비고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일반 ACT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단일 블록 이동, 액션 청크 옵션 조정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29/50회 성공 (58%)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-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SmolVLA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시연 데이터 학습과 원격 추론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목표 근처 접근, 파지 미달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-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Task ID ACT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미션 식별자 기반 단일 정책 설계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설계 검토 단계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-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73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ACT→CV/IK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학습 파지와 규칙 배치 연결 설계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설계 검토 후 전환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47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최종 채택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7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39" name="Google Shape;139;p17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17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17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2" name="Google Shape;142;p17"/>
          <p:cNvSpPr txBox="1"/>
          <p:nvPr/>
        </p:nvSpPr>
        <p:spPr>
          <a:xfrm>
            <a:off x="614897" y="1057566"/>
            <a:ext cx="45000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한계를 딛고 도달한 최종 방식</a:t>
            </a:r>
            <a:endParaRPr sz="7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586321" y="1289341"/>
            <a:ext cx="7000000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CV+IK 방식으로의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전환</a:t>
            </a:r>
            <a:endParaRPr sz="700" dirty="0"/>
          </a:p>
        </p:txBody>
      </p:sp>
      <p:cxnSp>
        <p:nvCxnSpPr>
          <p:cNvPr id="144" name="Google Shape;144;p17"/>
          <p:cNvCxnSpPr/>
          <p:nvPr/>
        </p:nvCxnSpPr>
        <p:spPr>
          <a:xfrm>
            <a:off x="987500" y="2287500"/>
            <a:ext cx="0" cy="1650000"/>
          </a:xfrm>
          <a:prstGeom prst="straightConnector1">
            <a:avLst/>
          </a:prstGeom>
          <a:noFill/>
          <a:ln w="19050" cap="rnd" cmpd="sng">
            <a:solidFill>
              <a:srgbClr val="212121">
                <a:alpha val="2392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7"/>
          <p:cNvSpPr/>
          <p:nvPr/>
        </p:nvSpPr>
        <p:spPr>
          <a:xfrm>
            <a:off x="800000" y="2100000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01</a:t>
            </a:r>
            <a:endParaRPr sz="7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1325000" y="208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방식의 한계 확인</a:t>
            </a:r>
            <a:endParaRPr sz="70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1325000" y="2330000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시간 소모와 정교함 부족으로 실사용 수준에는 미치지 못함</a:t>
            </a:r>
            <a:endParaRPr sz="700" dirty="0"/>
          </a:p>
        </p:txBody>
      </p:sp>
      <p:sp>
        <p:nvSpPr>
          <p:cNvPr id="148" name="Google Shape;148;p17"/>
          <p:cNvSpPr/>
          <p:nvPr/>
        </p:nvSpPr>
        <p:spPr>
          <a:xfrm>
            <a:off x="800000" y="2925000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02</a:t>
            </a:r>
            <a:endParaRPr sz="700"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1325000" y="2905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고전 컴퓨터비전(CV)+역기구학 채택</a:t>
            </a:r>
            <a:endParaRPr sz="700"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1325000" y="3155000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제한된 물체·평면 조건을 활용해 규칙 기반으로 재설계</a:t>
            </a:r>
            <a:endParaRPr sz="700" dirty="0"/>
          </a:p>
        </p:txBody>
      </p:sp>
      <p:sp>
        <p:nvSpPr>
          <p:cNvPr id="151" name="Google Shape;151;p17"/>
          <p:cNvSpPr/>
          <p:nvPr/>
        </p:nvSpPr>
        <p:spPr>
          <a:xfrm>
            <a:off x="800000" y="3750000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03</a:t>
            </a:r>
            <a:endParaRPr sz="700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325000" y="373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부가적 이점 발견</a:t>
            </a:r>
            <a:endParaRPr sz="700"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1325000" y="3980000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성공·실패를 즉시 판별할 수 있어 보상 데이터셋 구축에도 활용 가능</a:t>
            </a:r>
            <a:endParaRPr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8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59" name="Google Shape;159;p18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18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" name="Google Shape;161;p18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2" name="Google Shape;162;p18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CV 전환에 따른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부가적 이점</a:t>
            </a:r>
            <a:endParaRPr sz="700"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예상 밖의 장점을 데이터 자산으로</a:t>
            </a:r>
            <a:endParaRPr sz="700" dirty="0"/>
          </a:p>
        </p:txBody>
      </p:sp>
      <p:grpSp>
        <p:nvGrpSpPr>
          <p:cNvPr id="164" name="Google Shape;164;p18"/>
          <p:cNvGrpSpPr/>
          <p:nvPr/>
        </p:nvGrpSpPr>
        <p:grpSpPr>
          <a:xfrm>
            <a:off x="514350" y="2181391"/>
            <a:ext cx="8115300" cy="1186896"/>
            <a:chOff x="0" y="-28575"/>
            <a:chExt cx="4274726" cy="625196"/>
          </a:xfrm>
        </p:grpSpPr>
        <p:sp>
          <p:nvSpPr>
            <p:cNvPr id="165" name="Google Shape;165;p18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514350" y="3433102"/>
            <a:ext cx="8115300" cy="1186896"/>
            <a:chOff x="0" y="-28575"/>
            <a:chExt cx="4274726" cy="625196"/>
          </a:xfrm>
        </p:grpSpPr>
        <p:sp>
          <p:nvSpPr>
            <p:cNvPr id="168" name="Google Shape;168;p18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70" name="Google Shape;170;p18"/>
          <p:cNvSpPr txBox="1"/>
          <p:nvPr/>
        </p:nvSpPr>
        <p:spPr>
          <a:xfrm>
            <a:off x="1112975" y="2806128"/>
            <a:ext cx="6226135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 위치·부하 센서로 파지 성공 여부를 그 자리에서 확인할 수 있음</a:t>
            </a:r>
            <a:endParaRPr sz="70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1112975" y="2479822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성공·실패 즉시 판별</a:t>
            </a:r>
            <a:endParaRPr sz="700"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750150" y="2445691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01</a:t>
            </a:r>
            <a:endParaRPr sz="700"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1112975" y="4057838"/>
            <a:ext cx="6226135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판별 결과를 라벨 삼아 보상 데이터를 자동으로 축적할 수 있음</a:t>
            </a:r>
            <a:endParaRPr sz="700"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1112975" y="3731532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강화학습 보상 데이터셋</a:t>
            </a:r>
            <a:endParaRPr sz="700"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750150" y="3697402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02</a:t>
            </a:r>
            <a:endParaRPr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9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81" name="Google Shape;181;p19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9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19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4" name="Google Shape;184;p19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87" name="Google Shape;187;p19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시스템 아키텍처 다이어그램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(보고서 그림 3.1)</a:t>
            </a:r>
            <a:endParaRPr sz="700" dirty="0"/>
          </a:p>
        </p:txBody>
      </p:sp>
      <p:cxnSp>
        <p:nvCxnSpPr>
          <p:cNvPr id="189" name="Google Shape;189;p19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9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CV+IK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시스템 구성</a:t>
            </a:r>
            <a:endParaRPr sz="700"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카메라·인식·IK·상태제어</a:t>
            </a:r>
            <a:endParaRPr sz="700"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CV+IK 파이프라인</a:t>
            </a:r>
            <a:endParaRPr sz="700"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서비스가 영상을 제공하면 인식 모듈이 블록을 찾고, IK·상태 제어가 파지부터 배치까지 관리합니다.</a:t>
            </a:r>
            <a:endParaRPr sz="700" dirty="0"/>
          </a:p>
        </p:txBody>
      </p:sp>
      <p:sp>
        <p:nvSpPr>
          <p:cNvPr id="194" name="Google Shape;194;p19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→ 인식 → IK·계획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상태 제어(FSM)로 파지 확인 후 운반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관제 화면에서 실시간 검증</a:t>
            </a:r>
            <a:endParaRPr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0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00" name="Google Shape;200;p20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0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20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" name="Google Shape;203;p20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206" name="Google Shape;206;p20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오검출 vs 형상 필터 적용 장면</a:t>
            </a:r>
            <a:endParaRPr sz="700" dirty="0"/>
          </a:p>
        </p:txBody>
      </p:sp>
      <p:cxnSp>
        <p:nvCxnSpPr>
          <p:cNvPr id="208" name="Google Shape;208;p20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20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색상 유사 배경과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형상 기반 필터링</a:t>
            </a:r>
            <a:endParaRPr sz="700"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문제 → 해결 ①</a:t>
            </a:r>
            <a:endParaRPr sz="700"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형상 필터로 구분</a:t>
            </a:r>
            <a:endParaRPr sz="700" dirty="0"/>
          </a:p>
        </p:txBody>
      </p:sp>
      <p:sp>
        <p:nvSpPr>
          <p:cNvPr id="212" name="Google Shape;212;p20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지정 영역의 빨간 테이프와 빨간 블록은 색상이 비슷해, 임계값만으로는 배경까지 블록으로 잡혔습니다.</a:t>
            </a:r>
            <a:endParaRPr sz="700"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색 후보 생성 → 형상(면적·종횡비·채움비율)으로 재검증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테이프의 길쭉한 윤곽과 블록의 정사각형을 구분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설정값은 관제 화면에서 실시간 추적</a:t>
            </a:r>
            <a:endParaRPr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1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19" name="Google Shape;219;p21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p21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21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22" name="Google Shape;222;p21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23" name="Google Shape;223;p21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영상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Task1 순차 배치 시연 영상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(9월 2일 촬영)</a:t>
            </a:r>
            <a:endParaRPr sz="700" dirty="0"/>
          </a:p>
        </p:txBody>
      </p:sp>
      <p:cxnSp>
        <p:nvCxnSpPr>
          <p:cNvPr id="227" name="Google Shape;227;p21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21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Task1 CV 인식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시연 영상</a:t>
            </a:r>
            <a:endParaRPr sz="700"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614896" y="1057566"/>
            <a:ext cx="32439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Task1 CV 기반 동작 시연</a:t>
            </a:r>
            <a:endParaRPr sz="700"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실제 로봇팔 구현 영상</a:t>
            </a:r>
            <a:endParaRPr sz="700" dirty="0"/>
          </a:p>
        </p:txBody>
      </p:sp>
      <p:sp>
        <p:nvSpPr>
          <p:cNvPr id="231" name="Google Shape;231;p21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인식부터 파지·운반·배치까지 이어지는 실제 동작을 시연 영상으로 보여드립니다.</a:t>
            </a:r>
            <a:endParaRPr sz="700" dirty="0"/>
          </a:p>
        </p:txBody>
      </p:sp>
      <p:sp>
        <p:nvSpPr>
          <p:cNvPr id="232" name="Google Shape;232;p21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인식 → IK 계획 → 파지 → 운반 → 배치 전 과정 포함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9월 2일 순차 배치 시연 촬영본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재생 시간 약 100초</a:t>
            </a:r>
            <a:endParaRPr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2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38" name="Google Shape;238;p22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22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22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41" name="Google Shape;241;p22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42" name="Google Shape;242;p22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244" name="Google Shape;244;p22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영상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관제 화면 인식 과정 녹화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(검출 후보·필터 동작)</a:t>
            </a:r>
            <a:endParaRPr sz="700" dirty="0"/>
          </a:p>
        </p:txBody>
      </p:sp>
      <p:cxnSp>
        <p:nvCxnSpPr>
          <p:cNvPr id="246" name="Google Shape;246;p22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22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인식 과정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녹화 영상</a:t>
            </a:r>
            <a:endParaRPr sz="700"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카메라가 블록을 인식하는 과정</a:t>
            </a:r>
            <a:endParaRPr sz="700" dirty="0"/>
          </a:p>
        </p:txBody>
      </p:sp>
      <p:sp>
        <p:nvSpPr>
          <p:cNvPr id="249" name="Google Shape;249;p22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검출·색 할당·영역 필터 동작 화면</a:t>
            </a:r>
            <a:endParaRPr sz="700" dirty="0"/>
          </a:p>
        </p:txBody>
      </p:sp>
      <p:sp>
        <p:nvSpPr>
          <p:cNvPr id="250" name="Google Shape;250;p22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관제 화면에 표시되는 검출 후보, 색 기준점 할당, 영역 필터 적용 과정을 실시간으로 녹화한 영상입니다.</a:t>
            </a:r>
            <a:endParaRPr sz="700" dirty="0"/>
          </a:p>
        </p:txBody>
      </p:sp>
      <p:sp>
        <p:nvSpPr>
          <p:cNvPr id="251" name="Google Shape;251;p22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HSV 색 후보 → 형상 필터 → 색 기준점 할당 순서로 표시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지정 영역 내부 후보는 색 할당 전에 제외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FK 투영 위치와 검출 결과를 함께 표시</a:t>
            </a:r>
            <a:endParaRPr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23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57" name="Google Shape;257;p23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23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23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0" name="Google Shape;260;p23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61" name="Google Shape;261;p23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263" name="Google Shape;263;p23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손목 서보 과열 정지 당시 화면</a:t>
            </a:r>
            <a:endParaRPr sz="700" dirty="0"/>
          </a:p>
        </p:txBody>
      </p:sp>
      <p:cxnSp>
        <p:nvCxnSpPr>
          <p:cNvPr id="265" name="Google Shape;265;p23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23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손목 서보 과열 문제와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중립 방향 설계</a:t>
            </a:r>
            <a:endParaRPr sz="7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문제 → 해결 ②</a:t>
            </a:r>
            <a:endParaRPr sz="7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중립 손목 방향 설계</a:t>
            </a:r>
            <a:endParaRPr sz="700" dirty="0"/>
          </a:p>
        </p:txBody>
      </p:sp>
      <p:sp>
        <p:nvSpPr>
          <p:cNvPr id="269" name="Google Shape;269;p23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 yaw를 고정 방향으로 유지했더니 팔이 선회할수록 손목이 반대로 비틀리며 서보 과열 정지가 발생했습니다.</a:t>
            </a:r>
            <a:endParaRPr sz="700" dirty="0"/>
          </a:p>
        </p:txBody>
      </p:sp>
      <p:sp>
        <p:nvSpPr>
          <p:cNvPr id="270" name="Google Shape;270;p23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작업 위치별 중립 손목 방향을 기준으로 재설계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정사각형 블록의 회전 대칭성을 활용해 회전 최소화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이후 과열 정지 재발 없음</a:t>
            </a:r>
            <a:endParaRPr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4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76" name="Google Shape;276;p24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24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24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79" name="Google Shape;279;p24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80" name="Google Shape;280;p24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281" name="Google Shape;281;p24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282" name="Google Shape;282;p24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성공/실패 파지의 센서값 비교</a:t>
            </a:r>
            <a:endParaRPr sz="700" dirty="0"/>
          </a:p>
        </p:txBody>
      </p:sp>
      <p:cxnSp>
        <p:nvCxnSpPr>
          <p:cNvPr id="284" name="Google Shape;284;p24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5" name="Google Shape;285;p24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파지 확인을 위한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센서 기반 검증</a:t>
            </a:r>
            <a:endParaRPr sz="700" dirty="0"/>
          </a:p>
        </p:txBody>
      </p:sp>
      <p:sp>
        <p:nvSpPr>
          <p:cNvPr id="286" name="Google Shape;286;p24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문제 → 해결 ③</a:t>
            </a:r>
            <a:endParaRPr sz="700" dirty="0"/>
          </a:p>
        </p:txBody>
      </p:sp>
      <p:sp>
        <p:nvSpPr>
          <p:cNvPr id="287" name="Google Shape;287;p24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센서로 파지 확인</a:t>
            </a:r>
            <a:endParaRPr sz="700" dirty="0"/>
          </a:p>
        </p:txBody>
      </p:sp>
      <p:sp>
        <p:nvSpPr>
          <p:cNvPr id="288" name="Google Shape;288;p24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FK 목표 거리가 똑같이 12mm였던 성공·실패 두 시도에서, 모델 좌표만으로는 파지 여부를 알 수 없었습니다.</a:t>
            </a:r>
            <a:endParaRPr sz="700" dirty="0"/>
          </a:p>
        </p:txBody>
      </p:sp>
      <p:sp>
        <p:nvSpPr>
          <p:cNvPr id="289" name="Google Shape;289;p24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 위치·부하 센서로 파지 여부 직접 확인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빈손 닫힘이면 운반 전에 차단, 재시도로 전환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목표 도달과 물체 파지를 분리해서 판단</a:t>
            </a:r>
            <a:endParaRPr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5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95" name="Google Shape;295;p25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6" name="Google Shape;296;p25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7" name="Google Shape;297;p25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98" name="Google Shape;298;p25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99" name="Google Shape;299;p25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00" name="Google Shape;300;p25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01" name="Google Shape;301;p25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겹친 블록 인식 장면</a:t>
            </a:r>
            <a:endParaRPr sz="700" dirty="0"/>
          </a:p>
        </p:txBody>
      </p:sp>
      <p:cxnSp>
        <p:nvCxnSpPr>
          <p:cNvPr id="303" name="Google Shape;303;p25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4" name="Google Shape;304;p25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룰베이스 방식의 강점: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겹친 블록 인식</a:t>
            </a:r>
            <a:endParaRPr sz="700" dirty="0"/>
          </a:p>
        </p:txBody>
      </p:sp>
      <p:sp>
        <p:nvSpPr>
          <p:cNvPr id="305" name="Google Shape;305;p25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우리 방식의 강점</a:t>
            </a:r>
            <a:endParaRPr sz="700" dirty="0"/>
          </a:p>
        </p:txBody>
      </p:sp>
      <p:sp>
        <p:nvSpPr>
          <p:cNvPr id="306" name="Google Shape;306;p25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룰베이스의 강점</a:t>
            </a:r>
            <a:endParaRPr sz="700" dirty="0"/>
          </a:p>
        </p:txBody>
      </p:sp>
      <p:sp>
        <p:nvSpPr>
          <p:cNvPr id="307" name="Google Shape;307;p25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학습된 정책과 달리 색·형상 조건을 직접 설계해, 겹치거나 맞닿은 블록도 명시적으로 구분하고 재검증할 수 있었습니다.</a:t>
            </a:r>
            <a:endParaRPr sz="700" dirty="0"/>
          </a:p>
        </p:txBody>
      </p:sp>
      <p:sp>
        <p:nvSpPr>
          <p:cNvPr id="308" name="Google Shape;308;p25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형상 조건(면적·종횡비·채움비율)을 직접 튜닝 가능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실패 원인을 검출·좌표·IK·센서 단계별로 즉시 추적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새 배치 조건에도 설정값 조정만으로 대응</a:t>
            </a:r>
            <a:endParaRPr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6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14" name="Google Shape;314;p26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26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26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7" name="Google Shape;317;p26"/>
          <p:cNvSpPr txBox="1"/>
          <p:nvPr/>
        </p:nvSpPr>
        <p:spPr>
          <a:xfrm>
            <a:off x="1499742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1차 미션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실기 결과</a:t>
            </a:r>
            <a:endParaRPr sz="700" dirty="0"/>
          </a:p>
        </p:txBody>
      </p:sp>
      <p:sp>
        <p:nvSpPr>
          <p:cNvPr id="318" name="Google Shape;318;p26"/>
          <p:cNvSpPr txBox="1"/>
          <p:nvPr/>
        </p:nvSpPr>
        <p:spPr>
          <a:xfrm>
            <a:off x="2950083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9월 2일 시연 · 9월 8일 제한시간 시험</a:t>
            </a:r>
            <a:endParaRPr sz="700" dirty="0"/>
          </a:p>
        </p:txBody>
      </p:sp>
      <p:grpSp>
        <p:nvGrpSpPr>
          <p:cNvPr id="319" name="Google Shape;319;p26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320" name="Google Shape;320;p26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21" name="Google Shape;321;p26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22" name="Google Shape;322;p26"/>
          <p:cNvSpPr txBox="1"/>
          <p:nvPr/>
        </p:nvSpPr>
        <p:spPr>
          <a:xfrm>
            <a:off x="941932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4/5</a:t>
            </a:r>
            <a:endParaRPr sz="700" dirty="0"/>
          </a:p>
        </p:txBody>
      </p:sp>
      <p:sp>
        <p:nvSpPr>
          <p:cNvPr id="323" name="Google Shape;323;p26"/>
          <p:cNvSpPr txBox="1"/>
          <p:nvPr/>
        </p:nvSpPr>
        <p:spPr>
          <a:xfrm>
            <a:off x="941932" y="3395757"/>
            <a:ext cx="117866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180초 시험 배치</a:t>
            </a:r>
            <a:endParaRPr sz="700" dirty="0"/>
          </a:p>
        </p:txBody>
      </p:sp>
      <p:sp>
        <p:nvSpPr>
          <p:cNvPr id="324" name="Google Shape;324;p26"/>
          <p:cNvSpPr txBox="1"/>
          <p:nvPr/>
        </p:nvSpPr>
        <p:spPr>
          <a:xfrm>
            <a:off x="900967" y="3690106"/>
            <a:ext cx="1260591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파란 블록 1개가 영역 밖에 남아 종료</a:t>
            </a:r>
            <a:endParaRPr sz="700" dirty="0"/>
          </a:p>
        </p:txBody>
      </p:sp>
      <p:sp>
        <p:nvSpPr>
          <p:cNvPr id="325" name="Google Shape;325;p26"/>
          <p:cNvSpPr txBox="1"/>
          <p:nvPr/>
        </p:nvSpPr>
        <p:spPr>
          <a:xfrm>
            <a:off x="2969090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8.18</a:t>
            </a:r>
            <a:endParaRPr sz="700" dirty="0"/>
          </a:p>
        </p:txBody>
      </p:sp>
      <p:sp>
        <p:nvSpPr>
          <p:cNvPr id="326" name="Google Shape;326;p26"/>
          <p:cNvSpPr txBox="1"/>
          <p:nvPr/>
        </p:nvSpPr>
        <p:spPr>
          <a:xfrm>
            <a:off x="2969090" y="3395757"/>
            <a:ext cx="117866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캘리브레이션 RMS (mm)</a:t>
            </a:r>
            <a:endParaRPr sz="700" dirty="0"/>
          </a:p>
        </p:txBody>
      </p:sp>
      <p:sp>
        <p:nvSpPr>
          <p:cNvPr id="327" name="Google Shape;327;p26"/>
          <p:cNvSpPr txBox="1"/>
          <p:nvPr/>
        </p:nvSpPr>
        <p:spPr>
          <a:xfrm>
            <a:off x="2928125" y="3690106"/>
            <a:ext cx="1260591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목표 5mm 미만 기준에 미달</a:t>
            </a:r>
            <a:endParaRPr sz="700" dirty="0"/>
          </a:p>
        </p:txBody>
      </p:sp>
      <p:sp>
        <p:nvSpPr>
          <p:cNvPr id="328" name="Google Shape;328;p26"/>
          <p:cNvSpPr txBox="1"/>
          <p:nvPr/>
        </p:nvSpPr>
        <p:spPr>
          <a:xfrm>
            <a:off x="4996248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26.64</a:t>
            </a:r>
            <a:endParaRPr sz="700" dirty="0"/>
          </a:p>
        </p:txBody>
      </p:sp>
      <p:sp>
        <p:nvSpPr>
          <p:cNvPr id="329" name="Google Shape;329;p26"/>
          <p:cNvSpPr txBox="1"/>
          <p:nvPr/>
        </p:nvSpPr>
        <p:spPr>
          <a:xfrm>
            <a:off x="4996248" y="3395757"/>
            <a:ext cx="117866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최대 LOO 오차 (mm)</a:t>
            </a:r>
            <a:endParaRPr sz="700" dirty="0"/>
          </a:p>
        </p:txBody>
      </p:sp>
      <p:sp>
        <p:nvSpPr>
          <p:cNvPr id="330" name="Google Shape;330;p26"/>
          <p:cNvSpPr txBox="1"/>
          <p:nvPr/>
        </p:nvSpPr>
        <p:spPr>
          <a:xfrm>
            <a:off x="4955284" y="3690106"/>
            <a:ext cx="1260591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블록 폭 40mm보다 큰 값</a:t>
            </a:r>
            <a:endParaRPr sz="700" dirty="0"/>
          </a:p>
        </p:txBody>
      </p:sp>
      <p:sp>
        <p:nvSpPr>
          <p:cNvPr id="331" name="Google Shape;331;p26"/>
          <p:cNvSpPr txBox="1"/>
          <p:nvPr/>
        </p:nvSpPr>
        <p:spPr>
          <a:xfrm>
            <a:off x="7023405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58%</a:t>
            </a:r>
            <a:endParaRPr sz="700" dirty="0"/>
          </a:p>
        </p:txBody>
      </p:sp>
      <p:sp>
        <p:nvSpPr>
          <p:cNvPr id="332" name="Google Shape;332;p26"/>
          <p:cNvSpPr txBox="1"/>
          <p:nvPr/>
        </p:nvSpPr>
        <p:spPr>
          <a:xfrm>
            <a:off x="7023405" y="3395757"/>
            <a:ext cx="117866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초기 ACT 성공률</a:t>
            </a:r>
            <a:endParaRPr sz="700" dirty="0"/>
          </a:p>
        </p:txBody>
      </p:sp>
      <p:sp>
        <p:nvSpPr>
          <p:cNvPr id="333" name="Google Shape;333;p26"/>
          <p:cNvSpPr txBox="1"/>
          <p:nvPr/>
        </p:nvSpPr>
        <p:spPr>
          <a:xfrm>
            <a:off x="6982441" y="3690106"/>
            <a:ext cx="1260591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시절 단일 블록 이동</a:t>
            </a:r>
            <a:endParaRPr sz="700" dirty="0"/>
          </a:p>
        </p:txBody>
      </p:sp>
      <p:cxnSp>
        <p:nvCxnSpPr>
          <p:cNvPr id="334" name="Google Shape;334;p26"/>
          <p:cNvCxnSpPr/>
          <p:nvPr/>
        </p:nvCxnSpPr>
        <p:spPr>
          <a:xfrm>
            <a:off x="2548177" y="2658702"/>
            <a:ext cx="0" cy="1681175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26"/>
          <p:cNvCxnSpPr/>
          <p:nvPr/>
        </p:nvCxnSpPr>
        <p:spPr>
          <a:xfrm>
            <a:off x="4572000" y="2658702"/>
            <a:ext cx="0" cy="1681175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26"/>
          <p:cNvCxnSpPr/>
          <p:nvPr/>
        </p:nvCxnSpPr>
        <p:spPr>
          <a:xfrm>
            <a:off x="6595824" y="2658702"/>
            <a:ext cx="0" cy="1681175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7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42" name="Google Shape;342;p27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27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27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5" name="Google Shape;345;p27"/>
          <p:cNvSpPr txBox="1"/>
          <p:nvPr/>
        </p:nvSpPr>
        <p:spPr>
          <a:xfrm>
            <a:off x="1499742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캘리브레이션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결과</a:t>
            </a:r>
            <a:endParaRPr sz="700" dirty="0"/>
          </a:p>
        </p:txBody>
      </p:sp>
      <p:sp>
        <p:nvSpPr>
          <p:cNvPr id="346" name="Google Shape;346;p27"/>
          <p:cNvSpPr txBox="1"/>
          <p:nvPr/>
        </p:nvSpPr>
        <p:spPr>
          <a:xfrm>
            <a:off x="2950083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5점 → 9점 → 15점 → 9점(재수집)</a:t>
            </a:r>
            <a:endParaRPr sz="700" dirty="0"/>
          </a:p>
        </p:txBody>
      </p:sp>
      <p:graphicFrame>
        <p:nvGraphicFramePr>
          <p:cNvPr id="347" name="Google Shape;347;p27"/>
          <p:cNvGraphicFramePr/>
          <p:nvPr/>
        </p:nvGraphicFramePr>
        <p:xfrm>
          <a:off x="514350" y="2235638"/>
          <a:ext cx="8096200" cy="2384325"/>
        </p:xfrm>
        <a:graphic>
          <a:graphicData uri="http://schemas.openxmlformats.org/drawingml/2006/table">
            <a:tbl>
              <a:tblPr>
                <a:noFill/>
                <a:tableStyleId>{60705842-0560-4C93-92A0-7A9CA526DA95}</a:tableStyleId>
              </a:tblPr>
              <a:tblGrid>
                <a:gridCol w="98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단계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대응점 수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적합 RMS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비고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초기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5점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20.11 mm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-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확장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9점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13.46 mm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-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확장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15점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11.98 mm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-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재수집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9점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8.18 mm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Asta Sans"/>
                          <a:sym typeface="Asta Sans"/>
                        </a:rPr>
                        <a:t>목표 미달</a:t>
                      </a:r>
                      <a:endParaRPr sz="600" u="none" strike="noStrike" cap="none" dirty="0">
                        <a:latin typeface="프리젠테이션 5 Medium" pitchFamily="2" charset="-127"/>
                        <a:ea typeface="프리젠테이션 5 Medium" pitchFamily="2" charset="-127"/>
                        <a:cs typeface="Asta Sans"/>
                        <a:sym typeface="Asta Sans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8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53" name="Google Shape;353;p28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4" name="Google Shape;354;p28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5" name="Google Shape;355;p28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56" name="Google Shape;356;p28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357" name="Google Shape;357;p28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58" name="Google Shape;358;p28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59" name="Google Shape;359;p28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360" name="Google Shape;360;p28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3단 적재 성공 · 4단째 각도 한계 장면</a:t>
            </a:r>
            <a:endParaRPr sz="700" dirty="0"/>
          </a:p>
        </p:txBody>
      </p:sp>
      <p:cxnSp>
        <p:nvCxnSpPr>
          <p:cNvPr id="361" name="Google Shape;361;p28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28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Task2 진행 현황: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적재 미션</a:t>
            </a:r>
            <a:endParaRPr sz="700" dirty="0"/>
          </a:p>
        </p:txBody>
      </p:sp>
      <p:sp>
        <p:nvSpPr>
          <p:cNvPr id="363" name="Google Shape;363;p28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3단 적재 성공, 4단째 각도 한계</a:t>
            </a:r>
            <a:endParaRPr sz="700" dirty="0"/>
          </a:p>
        </p:txBody>
      </p:sp>
      <p:sp>
        <p:nvSpPr>
          <p:cNvPr id="364" name="Google Shape;364;p28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수직 캘리브레이션 한계</a:t>
            </a:r>
            <a:endParaRPr sz="700" dirty="0"/>
          </a:p>
        </p:txBody>
      </p:sp>
      <p:sp>
        <p:nvSpPr>
          <p:cNvPr id="365" name="Google Shape;365;p28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그리퍼를 수직 각도로 캘리브레이션해 두어, 3번째 블록까지는 안정적으로 쌓이지만 4번째부터는 로봇팔 각도가 나오지 않습니다.</a:t>
            </a:r>
            <a:endParaRPr sz="700" dirty="0"/>
          </a:p>
        </p:txBody>
      </p:sp>
      <p:sp>
        <p:nvSpPr>
          <p:cNvPr id="366" name="Google Shape;366;p28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적재 프리미티브·접촉 감지 자체는 구현 완료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타워 접근·하강 자세는 아직 미등록</a:t>
            </a:r>
            <a:endParaRPr sz="700" dirty="0"/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적재 실기 시험은 아직 수행 전</a:t>
            </a:r>
            <a:endParaRPr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29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72" name="Google Shape;372;p29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29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29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5" name="Google Shape;375;p29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향후</a:t>
            </a:r>
            <a:r>
              <a:rPr lang="ko" sz="25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 개선 방향</a:t>
            </a:r>
            <a:endParaRPr sz="700" dirty="0"/>
          </a:p>
        </p:txBody>
      </p:sp>
      <p:sp>
        <p:nvSpPr>
          <p:cNvPr id="376" name="Google Shape;376;p29"/>
          <p:cNvSpPr txBox="1"/>
          <p:nvPr/>
        </p:nvSpPr>
        <p:spPr>
          <a:xfrm>
            <a:off x="614896" y="1057566"/>
            <a:ext cx="3243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grpSp>
        <p:nvGrpSpPr>
          <p:cNvPr id="377" name="Google Shape;377;p29"/>
          <p:cNvGrpSpPr/>
          <p:nvPr/>
        </p:nvGrpSpPr>
        <p:grpSpPr>
          <a:xfrm>
            <a:off x="514350" y="2181391"/>
            <a:ext cx="8115300" cy="1186896"/>
            <a:chOff x="0" y="-28575"/>
            <a:chExt cx="4274726" cy="625196"/>
          </a:xfrm>
        </p:grpSpPr>
        <p:sp>
          <p:nvSpPr>
            <p:cNvPr id="378" name="Google Shape;378;p29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79" name="Google Shape;379;p29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380" name="Google Shape;380;p29"/>
          <p:cNvGrpSpPr/>
          <p:nvPr/>
        </p:nvGrpSpPr>
        <p:grpSpPr>
          <a:xfrm>
            <a:off x="514350" y="3433102"/>
            <a:ext cx="8115300" cy="1186896"/>
            <a:chOff x="0" y="-28575"/>
            <a:chExt cx="4274726" cy="625196"/>
          </a:xfrm>
        </p:grpSpPr>
        <p:sp>
          <p:nvSpPr>
            <p:cNvPr id="381" name="Google Shape;381;p29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82" name="Google Shape;382;p29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83" name="Google Shape;383;p29"/>
          <p:cNvSpPr txBox="1"/>
          <p:nvPr/>
        </p:nvSpPr>
        <p:spPr>
          <a:xfrm>
            <a:off x="1112975" y="2806128"/>
            <a:ext cx="622620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집게를 눕혀서 블록을 하나씩 옆에서 잡는 방식을 우선 검토 중</a:t>
            </a:r>
            <a:endParaRPr sz="700" dirty="0"/>
          </a:p>
        </p:txBody>
      </p:sp>
      <p:sp>
        <p:nvSpPr>
          <p:cNvPr id="384" name="Google Shape;384;p29"/>
          <p:cNvSpPr txBox="1"/>
          <p:nvPr/>
        </p:nvSpPr>
        <p:spPr>
          <a:xfrm>
            <a:off x="1112975" y="2479822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 수평 전환 검토</a:t>
            </a:r>
            <a:endParaRPr sz="700" dirty="0"/>
          </a:p>
        </p:txBody>
      </p:sp>
      <p:sp>
        <p:nvSpPr>
          <p:cNvPr id="385" name="Google Shape;385;p29"/>
          <p:cNvSpPr txBox="1"/>
          <p:nvPr/>
        </p:nvSpPr>
        <p:spPr>
          <a:xfrm>
            <a:off x="750150" y="2445691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01</a:t>
            </a:r>
            <a:endParaRPr sz="700" dirty="0"/>
          </a:p>
        </p:txBody>
      </p:sp>
      <p:sp>
        <p:nvSpPr>
          <p:cNvPr id="386" name="Google Shape;386;p29"/>
          <p:cNvSpPr txBox="1"/>
          <p:nvPr/>
        </p:nvSpPr>
        <p:spPr>
          <a:xfrm>
            <a:off x="1112975" y="4057838"/>
            <a:ext cx="6226135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여러 접근 자세와 캘리브레이션 조합을 추가로 시도해볼 계획</a:t>
            </a:r>
            <a:endParaRPr sz="700" dirty="0"/>
          </a:p>
        </p:txBody>
      </p:sp>
      <p:sp>
        <p:nvSpPr>
          <p:cNvPr id="387" name="Google Shape;387;p29"/>
          <p:cNvSpPr txBox="1"/>
          <p:nvPr/>
        </p:nvSpPr>
        <p:spPr>
          <a:xfrm>
            <a:off x="1112975" y="3731532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고도화·대안 방식 비교</a:t>
            </a:r>
            <a:endParaRPr sz="700" dirty="0"/>
          </a:p>
        </p:txBody>
      </p:sp>
      <p:sp>
        <p:nvSpPr>
          <p:cNvPr id="388" name="Google Shape;388;p29"/>
          <p:cNvSpPr txBox="1"/>
          <p:nvPr/>
        </p:nvSpPr>
        <p:spPr>
          <a:xfrm>
            <a:off x="750150" y="3697402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02</a:t>
            </a:r>
            <a:endParaRPr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/>
        </p:nvSpPr>
        <p:spPr>
          <a:xfrm>
            <a:off x="736450" y="1980491"/>
            <a:ext cx="417360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감사합니다</a:t>
            </a:r>
            <a:endParaRPr sz="700" dirty="0"/>
          </a:p>
        </p:txBody>
      </p:sp>
      <p:sp>
        <p:nvSpPr>
          <p:cNvPr id="394" name="Google Shape;394;p30"/>
          <p:cNvSpPr txBox="1"/>
          <p:nvPr/>
        </p:nvSpPr>
        <p:spPr>
          <a:xfrm>
            <a:off x="784075" y="1593488"/>
            <a:ext cx="32438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SIM2REAL · Q&amp;A</a:t>
            </a:r>
            <a:endParaRPr sz="700" dirty="0"/>
          </a:p>
        </p:txBody>
      </p:sp>
      <p:sp>
        <p:nvSpPr>
          <p:cNvPr id="395" name="Google Shape;395;p30"/>
          <p:cNvSpPr txBox="1"/>
          <p:nvPr/>
        </p:nvSpPr>
        <p:spPr>
          <a:xfrm>
            <a:off x="736450" y="2835879"/>
            <a:ext cx="3243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grpSp>
        <p:nvGrpSpPr>
          <p:cNvPr id="396" name="Google Shape;396;p30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97" name="Google Shape;397;p30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30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30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1223</Words>
  <Application>Microsoft Office PowerPoint</Application>
  <PresentationFormat>화면 슬라이드 쇼(16:9)</PresentationFormat>
  <Paragraphs>209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Arial</vt:lpstr>
      <vt:lpstr>Calibri</vt:lpstr>
      <vt:lpstr>프리젠테이션 5 Medium</vt:lpstr>
      <vt:lpstr>Asta Sans</vt:lpstr>
      <vt:lpstr>Simple Dark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김주환</cp:lastModifiedBy>
  <cp:revision>12</cp:revision>
  <dcterms:modified xsi:type="dcterms:W3CDTF">2026-09-10T17:41:56Z</dcterms:modified>
</cp:coreProperties>
</file>