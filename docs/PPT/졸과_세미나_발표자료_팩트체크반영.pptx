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49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4945" y="1375126"/>
            <a:ext cx="3240000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Team Sim2Real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945" y="1644162"/>
            <a:ext cx="6237600" cy="883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컴퓨터</a:t>
            </a:r>
            <a:r>
              <a:rPr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비전과</a:t>
            </a:r>
            <a:r>
              <a:rPr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역기구학</a:t>
            </a:r>
            <a:r>
              <a:rPr lang="en-US"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SO-ARM101 </a:t>
            </a:r>
            <a:endParaRPr lang="en-US" sz="25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l">
              <a:lnSpc>
                <a:spcPct val="120000"/>
              </a:lnSpc>
            </a:pP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로봇팔의</a:t>
            </a:r>
            <a:r>
              <a:rPr lang="en-US"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이동</a:t>
            </a:r>
            <a:r>
              <a:rPr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및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2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시스템</a:t>
            </a:r>
            <a:endParaRPr sz="25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000" y="260524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PUSAN NATIONAL UNIVERSITY  · 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졸업과제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세미나</a:t>
            </a:r>
            <a:endParaRPr sz="13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8000" y="2898245"/>
            <a:ext cx="720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윤민석</a:t>
            </a:r>
            <a:r>
              <a:rPr sz="1250" b="1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50" b="1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김주환</a:t>
            </a:r>
            <a:r>
              <a:rPr sz="1250" b="1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50" b="1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이동근</a:t>
            </a:r>
            <a:endParaRPr sz="1250" b="1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0" name="Google Shape;61;p13">
            <a:extLst>
              <a:ext uri="{FF2B5EF4-FFF2-40B4-BE49-F238E27FC236}">
                <a16:creationId xmlns:a16="http://schemas.microsoft.com/office/drawing/2014/main" id="{2FD7000E-AA55-C46D-9B0B-46D9163F60A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79395" y="444510"/>
            <a:ext cx="1545950" cy="15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개요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&amp;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싱글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탑다운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카메라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+ CV·IK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규칙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파이프라인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Picture 6" descr="시스템개념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581" y="882000"/>
            <a:ext cx="3959419" cy="2969564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15491" y="2770945"/>
            <a:ext cx="4140000" cy="228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사용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기술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스택</a:t>
            </a:r>
            <a:endParaRPr sz="14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000" y="3137046"/>
            <a:ext cx="4392000" cy="143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CV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색상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(HSV) +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형상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면적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900–3200mm²,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종횡비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≤1.6,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충진율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≥0.65, solidity ≥0.78)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필터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검출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좌표·IK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15점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적합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RMS 11.98mm) +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그리퍼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반경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접선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+ 롤(yaw)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중립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정렬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제어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FSM(SELECT→PICK→VERIFY→TRANSPORT→PLACE)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4회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재시도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센서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2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하나의 파이프라인으로 두 가지 미션 수행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미션별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별도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시스템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없이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SELECT·PICK·VERIFY·TRANSPORT는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완전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공유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, PLACE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전략만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교체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Picture 6" descr="Tas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0" y="1355898"/>
            <a:ext cx="4572000" cy="1442720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pic>
        <p:nvPicPr>
          <p:cNvPr id="8" name="Picture 7" descr="Tas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00" y="3013429"/>
            <a:ext cx="4572000" cy="1548000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119200" y="1303895"/>
            <a:ext cx="3664800" cy="20211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00255" y="1373811"/>
            <a:ext cx="3456000" cy="228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평가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방식</a:t>
            </a:r>
            <a:endParaRPr sz="14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4000" y="1777171"/>
            <a:ext cx="3456000" cy="1368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각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평가자가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5개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영역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밖에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재배치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1차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: 3분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영역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내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배치된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수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평가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2차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: 5분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5초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안정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유지된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수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평가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두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모두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동일한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FSM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코드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위에서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배치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(PLACE)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전략만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달라짐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조작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시스템이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풀어야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했던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001" y="828053"/>
            <a:ext cx="2106000" cy="2736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9999" y="881999"/>
            <a:ext cx="1854001" cy="260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색상</a:t>
            </a:r>
            <a:r>
              <a:rPr sz="16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6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간섭</a:t>
            </a:r>
            <a:endParaRPr sz="16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999" y="1242000"/>
            <a:ext cx="1854001" cy="475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빨간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빨간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지정영역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테이프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조명에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따라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구분이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어려움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20000" y="814197"/>
            <a:ext cx="2106000" cy="27360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9525">
            <a:solidFill>
              <a:srgbClr val="FDE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45999" y="881999"/>
            <a:ext cx="1854001" cy="260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r>
              <a:rPr sz="160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60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불일치</a:t>
            </a:r>
            <a:endParaRPr sz="1600" b="1" i="0" dirty="0">
              <a:solidFill>
                <a:srgbClr val="E0662A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45999" y="1242000"/>
            <a:ext cx="1854001" cy="475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카메라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픽셀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로봇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정확히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변환해야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6000" y="828051"/>
            <a:ext cx="2106000" cy="2736000"/>
          </a:xfrm>
          <a:prstGeom prst="roundRect">
            <a:avLst>
              <a:gd name="adj" fmla="val 6000"/>
            </a:avLst>
          </a:prstGeom>
          <a:solidFill>
            <a:srgbClr val="FBE4EA"/>
          </a:solidFill>
          <a:ln w="9525">
            <a:solidFill>
              <a:srgbClr val="FB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1999" y="881999"/>
            <a:ext cx="1854001" cy="260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 err="1">
                <a:solidFill>
                  <a:srgbClr val="C23B5E"/>
                </a:solidFill>
                <a:latin typeface="프리젠테이션 5 Medium" pitchFamily="2" charset="-127"/>
                <a:ea typeface="프리젠테이션 5 Medium" pitchFamily="2" charset="-127"/>
              </a:rPr>
              <a:t>접촉</a:t>
            </a:r>
            <a:r>
              <a:rPr sz="1600" b="1" i="0" dirty="0">
                <a:solidFill>
                  <a:srgbClr val="C23B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600" b="1" i="0" dirty="0" err="1">
                <a:solidFill>
                  <a:srgbClr val="C23B5E"/>
                </a:solidFill>
                <a:latin typeface="프리젠테이션 5 Medium" pitchFamily="2" charset="-127"/>
                <a:ea typeface="프리젠테이션 5 Medium" pitchFamily="2" charset="-127"/>
              </a:rPr>
              <a:t>오차</a:t>
            </a:r>
            <a:endParaRPr sz="1600" b="1" i="0" dirty="0">
              <a:solidFill>
                <a:srgbClr val="C23B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1999" y="1242000"/>
            <a:ext cx="1854001" cy="475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역기구학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도달이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보장하지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않음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12000" y="821124"/>
            <a:ext cx="2106000" cy="2736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37999" y="881999"/>
            <a:ext cx="1854001" cy="260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반복</a:t>
            </a:r>
            <a:r>
              <a:rPr sz="16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6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처리</a:t>
            </a:r>
            <a:endParaRPr sz="16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7999" y="1242000"/>
            <a:ext cx="1854001" cy="475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제한시간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안에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실패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대상을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재선택하며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여러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처리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BACKGROUND · </a:t>
            </a:r>
            <a:r>
              <a:rPr sz="12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착수</a:t>
            </a: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sz="12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중간보고서</a:t>
            </a: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시점</a:t>
            </a:r>
            <a:endParaRPr sz="12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초기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모방학습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접근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Task1은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모방학습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, Task2는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CV로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분담하는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초기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계획으로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출발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Picture 6" descr="setup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322" y="846000"/>
            <a:ext cx="2239355" cy="2034000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04000" y="2898000"/>
            <a:ext cx="3780000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리더암-팔로워암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텔레오퍼레이션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장비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배치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중간보고서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그림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2.1)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864000"/>
            <a:ext cx="4320000" cy="228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ACT ·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SmolVLA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조작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endParaRPr sz="14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000" y="1080000"/>
            <a:ext cx="4428000" cy="19181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LeRobot으로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시연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수집·학습·추론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환경을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구성하고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gRPC로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policy_server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추론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)와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robot_client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로봇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)를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sz="13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초록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31 ·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노랑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20 ·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파랑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31 ·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기본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30개 등 총 112개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시연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에피소드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수집</a:t>
            </a:r>
            <a:endParaRPr sz="13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SmolVLA는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초록·노랑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51개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에피소드로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smolvla_base를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8,000스텝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파인튜닝</a:t>
            </a:r>
            <a:endParaRPr sz="13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ACT는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초록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고정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위치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±3cm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범위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약 30개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에피소드로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단일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파지·이동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과제에</a:t>
            </a:r>
            <a:r>
              <a:rPr sz="13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적용</a:t>
            </a:r>
            <a:endParaRPr sz="13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모방학습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결과와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한계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반복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rollout으로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세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후보를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동일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조건에서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비교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882000"/>
          <a:ext cx="5615999" cy="251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접근법</a:t>
                      </a:r>
                      <a:endParaRPr sz="12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수행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내용</a:t>
                      </a:r>
                      <a:endParaRPr sz="12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결과</a:t>
                      </a:r>
                      <a:endParaRPr sz="12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l"/>
                      <a:r>
                        <a:rPr sz="11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ACT </a:t>
                      </a:r>
                      <a:r>
                        <a:rPr sz="11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단독</a:t>
                      </a:r>
                      <a:endParaRPr sz="115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초록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블록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·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고정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위치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±3cm · 약 30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에피소드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청크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옵션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chunk_size_threshold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튜닝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튜닝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전 약 15% →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튜닝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후 약 60%</a:t>
                      </a:r>
                    </a:p>
                    <a:p>
                      <a:pPr algn="ctr"/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잠정치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좁은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범위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한정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검증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l"/>
                      <a:r>
                        <a:rPr sz="11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SmolVLA</a:t>
                      </a:r>
                      <a:endParaRPr sz="115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초록·노랑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51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에피소드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파인튜닝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+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원격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추론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목표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위치까지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접근은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하였으나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정밀도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부족으로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성공률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미달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l"/>
                      <a:r>
                        <a:rPr sz="11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하이브리드</a:t>
                      </a:r>
                      <a:endParaRPr sz="115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  <a:p>
                      <a:pPr algn="l"/>
                      <a:r>
                        <a:rPr sz="11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ACT→CV/IK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파지는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ACT,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배치는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CV/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IK로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설계·검토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구간도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CV+IK로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전환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시</a:t>
                      </a:r>
                    </a:p>
                    <a:p>
                      <a:pPr algn="ctr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재학습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없이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더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빠르고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예측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가능하게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수렴</a:t>
                      </a:r>
                      <a:endParaRPr sz="11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0000" y="882000"/>
            <a:ext cx="2664000" cy="2376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6000" y="1008000"/>
            <a:ext cx="2448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세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후보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비교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결론</a:t>
            </a:r>
            <a:endParaRPr sz="135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46000" y="1296000"/>
            <a:ext cx="2448000" cy="1319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남은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일정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대비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성공을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최우선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목표로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</a:t>
            </a:r>
          </a:p>
          <a:p>
            <a:pPr algn="l">
              <a:lnSpc>
                <a:spcPct val="135000"/>
              </a:lnSpc>
            </a:pPr>
            <a:endParaRPr sz="13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l">
              <a:lnSpc>
                <a:spcPct val="135000"/>
              </a:lnSpc>
            </a:pP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구간까지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규칙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기반으로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통합한</a:t>
            </a:r>
            <a:endParaRPr sz="13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l">
              <a:lnSpc>
                <a:spcPct val="135000"/>
              </a:lnSpc>
            </a:pPr>
            <a:endParaRPr sz="13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l">
              <a:lnSpc>
                <a:spcPct val="135000"/>
              </a:lnSpc>
            </a:pP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CV+IK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단독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경로를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최종</a:t>
            </a:r>
            <a:r>
              <a:rPr sz="13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채택</a:t>
            </a:r>
            <a:endParaRPr sz="13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모방학습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한계를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딛고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도달한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최종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방식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CV+IK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방식으로의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전환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000" y="900000"/>
            <a:ext cx="8496000" cy="91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0000" y="1098000"/>
            <a:ext cx="522000" cy="522000"/>
          </a:xfrm>
          <a:prstGeom prst="ellipse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000" y="1015200"/>
            <a:ext cx="7523999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모방학습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방식의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한계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endParaRPr sz="15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4000" y="1242000"/>
            <a:ext cx="7523999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좁은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위치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범위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(±3cm)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에서만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성능이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검증되었고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넓은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범위로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확장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재현성이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불확실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남은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일정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(약 8주)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안에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실사용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수준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확보가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어려움</a:t>
            </a:r>
            <a:endParaRPr sz="12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4000" y="1889999"/>
            <a:ext cx="8496000" cy="91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0000" y="2087999"/>
            <a:ext cx="522000" cy="522000"/>
          </a:xfrm>
          <a:prstGeom prst="ellipse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4000" y="2005199"/>
            <a:ext cx="7523999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고전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컴퓨터비전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(CV) +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역기구학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채택</a:t>
            </a:r>
            <a:endParaRPr sz="15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4000" y="2231999"/>
            <a:ext cx="7523999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고정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탑다운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카메라·평면·강체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단색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블록·고정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지정영역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기하학적으로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완전히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규정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가능한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문제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구조를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규칙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기반으로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재설계</a:t>
            </a:r>
            <a:endParaRPr sz="12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4000" y="2879998"/>
            <a:ext cx="8496000" cy="91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0000" y="3077998"/>
            <a:ext cx="522000" cy="522000"/>
          </a:xfrm>
          <a:prstGeom prst="ellipse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4000" y="2995198"/>
            <a:ext cx="7523999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부가적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이점</a:t>
            </a:r>
            <a:r>
              <a:rPr sz="15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발견</a:t>
            </a:r>
            <a:endParaRPr sz="15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4000" y="3221998"/>
            <a:ext cx="7523999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실패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원인이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캘리브레이션·색상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임계값·IK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도달성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중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하나로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국소화되어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수치로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진단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가능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재학습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없이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분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단위로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파라미터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조정</a:t>
            </a:r>
            <a:endParaRPr sz="12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BONUS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CV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전환에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따른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부가적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이점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예상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밖의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장점을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데이터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자산으로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000" y="918000"/>
            <a:ext cx="4212000" cy="2376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4000" y="1044000"/>
            <a:ext cx="720000" cy="423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852000" cy="277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성공·실패</a:t>
            </a:r>
            <a:r>
              <a:rPr sz="17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7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즉시</a:t>
            </a:r>
            <a:r>
              <a:rPr sz="17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7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판별</a:t>
            </a:r>
            <a:endParaRPr sz="17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4000" y="1764000"/>
            <a:ext cx="3852000" cy="49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그리퍼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위치·부하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센서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Present_Position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Present_Load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)로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성공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여부를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그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자리에서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확인할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수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있음</a:t>
            </a:r>
            <a:endParaRPr sz="13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44000" y="918000"/>
            <a:ext cx="4212000" cy="2376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4000" y="1044000"/>
            <a:ext cx="720000" cy="423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4000" y="1440000"/>
            <a:ext cx="3852000" cy="277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강화학습</a:t>
            </a:r>
            <a:r>
              <a:rPr sz="17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7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보상</a:t>
            </a:r>
            <a:r>
              <a:rPr sz="17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7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</a:t>
            </a:r>
            <a:endParaRPr sz="17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24000" y="1764000"/>
            <a:ext cx="3852000" cy="494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판별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결과를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라벨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삼아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성공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실패가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태깅된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보상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데이터를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자동으로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축적할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수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있음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향후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확장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과제</a:t>
            </a:r>
            <a:r>
              <a:rPr sz="13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CV+IK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시스템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구성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카메라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인식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· IK ·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상태제어가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Orin Nano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단독으로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완결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Picture 6" descr="카메라 오버레이 사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185" y="846000"/>
            <a:ext cx="3627629" cy="1674000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932000" y="2574000"/>
            <a:ext cx="3851999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관제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화면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검출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좌표·각도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실시간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표시</a:t>
            </a:r>
            <a:endParaRPr sz="1050" b="0" i="1" dirty="0">
              <a:solidFill>
                <a:srgbClr val="8A8F9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000" y="846000"/>
            <a:ext cx="4320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파이프라인</a:t>
            </a:r>
            <a:endParaRPr sz="135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000" y="1044000"/>
            <a:ext cx="4428000" cy="1289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탑다운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카메라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HSV+형상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픽셀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homography로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픽셀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로봇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베이스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(mm)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변환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그리퍼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반경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접선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IK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후보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다중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사전계산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열기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hover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하강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닫기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실패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다음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후보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들어올림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팔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접기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선회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뻗기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내려놓기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000" y="2375999"/>
            <a:ext cx="4320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상태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기계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(FSM)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2574000"/>
            <a:ext cx="4428000" cy="937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SELECT → PICK → VERIFY → TRANSPORT → PLACE → SELECT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순환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1·2차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PLACE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배치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전략만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교체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나머지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상태는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완전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공유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Orin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Nano가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검출·IK·제어를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모두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담당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GPU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서버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실시간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의존성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없음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PROBLEM → SOLUTION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색상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유사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배경과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형상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필터링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형상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필터로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구분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Picture 6" descr="블록 검출 원리 도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128" y="846000"/>
            <a:ext cx="3927744" cy="2214000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76000" y="3078000"/>
            <a:ext cx="4644000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관제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화면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후보별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면적·각도·검출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마커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실시간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표시</a:t>
            </a:r>
            <a:endParaRPr sz="1050" b="0" i="1" dirty="0">
              <a:solidFill>
                <a:srgbClr val="8A8F9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000" y="918000"/>
            <a:ext cx="3708000" cy="190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문제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영역의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빨간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테이프와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빨간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색상이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비슷해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HSV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임계값만으로는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배경까지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블록으로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잡힘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해결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색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후보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생성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형상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면적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900–3200mm²,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종횡비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≤1.6)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으로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재검증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추가</a:t>
            </a: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게이트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충진율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(fill) ≥0.65, solidity ≥0.78 —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테이프의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길쭉하거나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빈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윤곽과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채워진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정사각형을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구분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설정값은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관제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화면에서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실시간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추적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가능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절차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검증과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하드웨어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한계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규명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작업영역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15개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지점에서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FK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↔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영상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중심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좌표를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짝지어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homography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추정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900000"/>
          <a:ext cx="4752000" cy="1655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199">
                <a:tc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측정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항목</a:t>
                      </a:r>
                      <a:endParaRPr sz="12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값</a:t>
                      </a: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99"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카메라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마운트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드리프트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(10분, p95)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0.32 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px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기준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2 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px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199"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체스판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homography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잔차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</a:t>
                      </a:r>
                      <a:r>
                        <a:rPr sz="12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광학계만</a:t>
                      </a:r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RMS 0.4 mm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199">
                <a:tc>
                  <a:txBody>
                    <a:bodyPr/>
                    <a:lstStyle/>
                    <a:p>
                      <a:pPr algn="l"/>
                      <a:r>
                        <a:rPr sz="12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픽셀→로봇</a:t>
                      </a:r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캘리브레이션</a:t>
                      </a:r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적합</a:t>
                      </a:r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RMS (15점)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11.98 mm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3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Leave-One-Out </a:t>
                      </a:r>
                      <a:r>
                        <a:rPr sz="12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평균</a:t>
                      </a:r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/ </a:t>
                      </a:r>
                      <a:r>
                        <a:rPr sz="12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최악</a:t>
                      </a:r>
                      <a:endParaRPr sz="12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13.99 mm / 28.56 mm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4000" y="2664000"/>
            <a:ext cx="4752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점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수를</a:t>
            </a: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늘려도</a:t>
            </a: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개선되지</a:t>
            </a: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않은</a:t>
            </a: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진행</a:t>
            </a: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이력</a:t>
            </a:r>
            <a:endParaRPr sz="125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000" y="2862000"/>
            <a:ext cx="4752000" cy="6588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9점 (2026-08-31): RMS 9.5mm ·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최악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LOO 32mm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15점 (2026-09-01,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채택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): RMS 11.98mm ·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최악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LOO 28.56mm —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(RMS&lt;5mm)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미달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0" name="Picture 9" descr="9점 캘리브레이션 사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00" y="1219447"/>
            <a:ext cx="1745999" cy="981104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256000" y="2520000"/>
            <a:ext cx="1745999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9점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중간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단계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</p:txBody>
      </p:sp>
      <p:pic>
        <p:nvPicPr>
          <p:cNvPr id="12" name="Picture 11" descr="12점 캘리브레이션 사진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99" y="1219847"/>
            <a:ext cx="1745999" cy="980305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073999" y="2520000"/>
            <a:ext cx="1745999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15점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최종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채택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CALIBRATION · 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오차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원인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규명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: 4가지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가설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체스판만으로는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잔차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0.4mm —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문제는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FK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결합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쪽에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있음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900000"/>
          <a:ext cx="8495998" cy="1835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9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8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8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199">
                <a:tc>
                  <a:txBody>
                    <a:bodyPr/>
                    <a:lstStyle/>
                    <a:p>
                      <a:pPr algn="ctr"/>
                      <a:r>
                        <a:rPr sz="115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#</a:t>
                      </a: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가설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검증</a:t>
                      </a:r>
                      <a:r>
                        <a:rPr sz="115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방법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결과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높이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(z)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불일치로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인한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시차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오차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z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편차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std 8.0mm→1.4mm로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통제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후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재측정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개선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없음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2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손목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각도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wrist_roll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불일치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편차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148°→0.4°로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통제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후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재측정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개선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없음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공구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좌표계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고정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오프셋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오프셋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벡터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격자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탐색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최적화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11.98→10.57mm (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미미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3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4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위치별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계통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오차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잔차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보간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후 LOO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재평가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13.99→14.45mm (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오히려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악화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4000" y="2844000"/>
            <a:ext cx="8496000" cy="7920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9525">
            <a:solidFill>
              <a:srgbClr val="FDE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000" y="2934000"/>
            <a:ext cx="8208000" cy="211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가설</a:t>
            </a:r>
            <a:r>
              <a:rPr sz="130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4의 </a:t>
            </a:r>
            <a:r>
              <a:rPr sz="130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기각이</a:t>
            </a:r>
            <a:r>
              <a:rPr sz="130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결정적</a:t>
            </a:r>
            <a:endParaRPr sz="1300" b="1" i="0" dirty="0">
              <a:solidFill>
                <a:srgbClr val="E0662A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8000" y="3114000"/>
            <a:ext cx="8208000" cy="42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위치에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따라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매끄럽게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변하는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계통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오차라면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보간이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이를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포착했어야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하나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오히려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악화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오차는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점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단위로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무작위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평행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그리퍼가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캘리브레이션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데이터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수집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닫히는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축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방향만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구속하고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수직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방향은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구속하지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못해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발생하는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하드웨어성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한계로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규정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RMS~12mm·최악~29mm를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전제로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재시도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시스템을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endParaRPr sz="11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IK &amp;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역기구학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(IK)과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재시도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원칙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: "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닫아봐야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안다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" —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항상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닫고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센서로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Picture 6" descr="식블록 파지 운반 경로 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82000"/>
            <a:ext cx="3495214" cy="1655999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24000" y="2555999"/>
            <a:ext cx="4176000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전·후·좌·우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15mm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재시도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파지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성공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운반</a:t>
            </a:r>
            <a:endParaRPr sz="1050" b="0" i="1" dirty="0">
              <a:solidFill>
                <a:srgbClr val="8A8F9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000" y="2790000"/>
            <a:ext cx="4176000" cy="6243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placo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IK는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시드에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민감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탑다운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시드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테이블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도입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25개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지점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중 23개 0.00mm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수렴</a:t>
            </a:r>
            <a:endParaRPr sz="11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탑다운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도달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반경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0.03–0.32m,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벗어나면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전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도달불가로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차단</a:t>
            </a:r>
            <a:endParaRPr sz="11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80000" y="882000"/>
          <a:ext cx="4139998" cy="82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조건</a:t>
                      </a:r>
                      <a:endParaRPr sz="12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그리퍼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위치</a:t>
                      </a:r>
                      <a:endParaRPr sz="12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부하</a:t>
                      </a:r>
                      <a:endParaRPr sz="12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블록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(3회)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44.1 – 44.3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500 (</a:t>
                      </a:r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포화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01"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빈손</a:t>
                      </a:r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(3회)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3.4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39 – 41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80000" y="1764000"/>
            <a:ext cx="4140000" cy="2007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두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분포가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완전히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분리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임계값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위치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20.0 /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부하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200.0) →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오분류</a:t>
            </a:r>
            <a:r>
              <a:rPr sz="11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없음</a:t>
            </a:r>
            <a:endParaRPr sz="11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000" y="2160000"/>
            <a:ext cx="4140000" cy="1161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실패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사전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계산된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후보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중심·대각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4방향·좌우)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순서로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4회까지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재시도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그리퍼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개방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턱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간격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약 70mm vs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40mm → ±15mm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오차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흡수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LOO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오차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15개 중 10개(67%)가 이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허용량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안에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포함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PROBLEM → SOLUTION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손목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서보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과열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문제와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중립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방향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중립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손목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방향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000" y="918000"/>
            <a:ext cx="4536000" cy="18219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문제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그리퍼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yaw를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로봇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베이스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고정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절대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방향으로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유지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shoulder_pan이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회전할수록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wrist_roll이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반대로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비틀림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사고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작업영역을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가로지르는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동안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약 80°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휘둘리며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한계각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(-125°)에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도달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중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서보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과열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보호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정지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발생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해결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각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위치에서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wrist_roll이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중립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(0)이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되는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yaw를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자동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선택하도록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재설계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활용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정사각형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90°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회전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대칭을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이용해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각도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정렬이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필요한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경우도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중립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기준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±45°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이내로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해결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12000" y="918000"/>
            <a:ext cx="1764000" cy="1512000"/>
          </a:xfrm>
          <a:prstGeom prst="roundRect">
            <a:avLst>
              <a:gd name="adj" fmla="val 10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12000" y="1018800"/>
            <a:ext cx="1764000" cy="10156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125° → 3.7°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000" y="1404000"/>
            <a:ext cx="1656000" cy="187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wrist_roll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최대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편차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개선</a:t>
            </a:r>
            <a:endParaRPr sz="115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83999" y="918000"/>
            <a:ext cx="1764000" cy="1512000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 w="9525">
            <a:solidFill>
              <a:srgbClr val="FDE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3999" y="1018800"/>
            <a:ext cx="1764000" cy="5539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43.5°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7999" y="1404000"/>
            <a:ext cx="1656000" cy="38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대칭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활용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시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실측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최대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편차</a:t>
            </a:r>
            <a:endParaRPr sz="115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>
              <a:lnSpc>
                <a:spcPct val="115000"/>
              </a:lnSpc>
            </a:pP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허용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범위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±45° </a:t>
            </a:r>
            <a:r>
              <a:rPr sz="11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이내</a:t>
            </a:r>
            <a:r>
              <a:rPr sz="11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</p:txBody>
      </p:sp>
      <p:pic>
        <p:nvPicPr>
          <p:cNvPr id="14" name="Picture 13" descr="탑 뷰 카메라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500" y="2520000"/>
            <a:ext cx="1106999" cy="1475999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983999" y="3152041"/>
            <a:ext cx="1764000" cy="2119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이후</a:t>
            </a:r>
            <a:r>
              <a:rPr sz="13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과열</a:t>
            </a:r>
            <a:r>
              <a:rPr sz="13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정지</a:t>
            </a:r>
            <a:r>
              <a:rPr sz="13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재발</a:t>
            </a:r>
            <a:r>
              <a:rPr sz="13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없음</a:t>
            </a:r>
            <a:endParaRPr sz="13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다중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계층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안전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모든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궤적은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자세가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아니라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측정된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현재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자세에서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918000"/>
          <a:ext cx="6840000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계층</a:t>
                      </a:r>
                      <a:endParaRPr sz="13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내용</a:t>
                      </a:r>
                      <a:endParaRPr sz="130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궤적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보간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틱당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관절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변화량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상한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로봇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펌웨어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max_relative_target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상대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이동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클램프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항상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활성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IK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게이트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도달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불가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목표는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실행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전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차단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게이트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파지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미확인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시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운반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단계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진입</a:t>
                      </a:r>
                      <a:r>
                        <a:rPr sz="125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금지</a:t>
                      </a:r>
                      <a:endParaRPr sz="125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종료</a:t>
                      </a:r>
                      <a:r>
                        <a:rPr sz="12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처리</a:t>
                      </a:r>
                      <a:endParaRPr sz="125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성공·실패</a:t>
                      </a:r>
                      <a:r>
                        <a:rPr sz="12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무관하게</a:t>
                      </a:r>
                      <a:r>
                        <a:rPr sz="12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그리퍼</a:t>
                      </a:r>
                      <a:r>
                        <a:rPr sz="12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개방</a:t>
                      </a:r>
                      <a:r>
                        <a:rPr sz="125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후 홈 </a:t>
                      </a:r>
                      <a:r>
                        <a:rPr sz="125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복귀</a:t>
                      </a:r>
                      <a:endParaRPr sz="125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72000" y="918000"/>
            <a:ext cx="1548000" cy="2376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80000" y="1061999"/>
            <a:ext cx="1332000" cy="752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이전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동작이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목표에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못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미친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상태에서도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급격한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도약이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발생하지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않음</a:t>
            </a:r>
            <a:endParaRPr sz="125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룰베이스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방식의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강점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학습된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정책과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달리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색·형상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조건을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직접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설계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000" y="918000"/>
            <a:ext cx="2736000" cy="23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4000" y="1061999"/>
            <a:ext cx="125999" cy="125999"/>
          </a:xfrm>
          <a:prstGeom prst="ellipse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4000" y="1018800"/>
            <a:ext cx="226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직접</a:t>
            </a:r>
            <a:r>
              <a:rPr sz="15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튜닝</a:t>
            </a:r>
            <a:endParaRPr sz="15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4000" y="1386000"/>
            <a:ext cx="2376000" cy="492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형상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조건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면적·종횡비·충진율·solidity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)을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코드에서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직접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조정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가능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68000" y="918000"/>
            <a:ext cx="2736000" cy="23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48000" y="1061999"/>
            <a:ext cx="125999" cy="125999"/>
          </a:xfrm>
          <a:prstGeom prst="ellipse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8000" y="1018800"/>
            <a:ext cx="226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단계별</a:t>
            </a:r>
            <a:r>
              <a:rPr sz="15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추적</a:t>
            </a:r>
            <a:endParaRPr sz="15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8000" y="1386000"/>
            <a:ext cx="2376000" cy="492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실패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원인을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검출·좌표·IK·센서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단계별로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즉시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추적하여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국소화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12000" y="918000"/>
            <a:ext cx="2736000" cy="23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92000" y="1061999"/>
            <a:ext cx="125999" cy="125999"/>
          </a:xfrm>
          <a:prstGeom prst="ellipse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2000" y="1018800"/>
            <a:ext cx="226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빠른</a:t>
            </a:r>
            <a:r>
              <a:rPr sz="15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5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대응</a:t>
            </a:r>
            <a:endParaRPr sz="15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2000" y="1386000"/>
            <a:ext cx="2376000" cy="492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새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배치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조건에도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재학습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없이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설정값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조정만으로</a:t>
            </a:r>
            <a:r>
              <a:rPr sz="12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대응</a:t>
            </a:r>
            <a:endParaRPr sz="12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TASK 1 ·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1차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진행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현황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지정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영역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운반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제한시간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180초</a:t>
            </a:r>
          </a:p>
        </p:txBody>
      </p:sp>
      <p:pic>
        <p:nvPicPr>
          <p:cNvPr id="7" name="Picture 6" descr="Task1 집는 장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82000"/>
            <a:ext cx="1785523" cy="3096000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pic>
        <p:nvPicPr>
          <p:cNvPr id="8" name="Picture 7" descr="Task1 여러 블럭 중 하나 잡는 장면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00" y="1607681"/>
            <a:ext cx="3564000" cy="1644637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263999" y="882000"/>
            <a:ext cx="2520000" cy="30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8000" y="990000"/>
            <a:ext cx="2232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확인된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진행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상황</a:t>
            </a:r>
            <a:endParaRPr sz="135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8000" y="1223999"/>
            <a:ext cx="2232000" cy="85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단일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검출→접근→파지→운반→배치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전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과정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완료</a:t>
            </a:r>
            <a:endParaRPr sz="11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5블록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전체를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지정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영역으로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모으는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반복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로직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재선택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방지·시간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예산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종료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구현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완료</a:t>
            </a:r>
            <a:endParaRPr sz="11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8000" y="2574000"/>
            <a:ext cx="2232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정식</a:t>
            </a:r>
            <a:r>
              <a:rPr sz="135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측정</a:t>
            </a:r>
            <a:r>
              <a:rPr sz="135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예정</a:t>
            </a:r>
            <a:endParaRPr sz="1350" b="1" i="0" dirty="0">
              <a:solidFill>
                <a:srgbClr val="E0662A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8000" y="2808000"/>
            <a:ext cx="2232000" cy="661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5블록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전체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성공률·소요시간은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팀 rollout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기록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템플릿에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누적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측정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중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위치별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(좌/우)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분리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기록</a:t>
            </a:r>
            <a:r>
              <a:rPr sz="115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예정</a:t>
            </a:r>
            <a:endParaRPr sz="115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TASK 2 ·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2차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진행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현황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접촉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기반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적층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제한시간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300초 ·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안정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유지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5초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918000"/>
            <a:ext cx="1404000" cy="360000"/>
          </a:xfrm>
          <a:prstGeom prst="roundRect">
            <a:avLst>
              <a:gd name="adj" fmla="val 50000"/>
            </a:avLst>
          </a:prstGeom>
          <a:solidFill>
            <a:srgbClr val="C2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저속</a:t>
            </a:r>
            <a:r>
              <a:rPr sz="1200" b="1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하강</a:t>
            </a:r>
            <a:endParaRPr sz="1200" b="1" i="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28000" y="951293"/>
            <a:ext cx="216000" cy="2934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4000" y="918000"/>
            <a:ext cx="1404000" cy="360000"/>
          </a:xfrm>
          <a:prstGeom prst="roundRect">
            <a:avLst>
              <a:gd name="adj" fmla="val 50000"/>
            </a:avLst>
          </a:prstGeom>
          <a:solidFill>
            <a:srgbClr val="C2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접촉</a:t>
            </a:r>
            <a:r>
              <a:rPr sz="1200" b="1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감지</a:t>
            </a:r>
            <a:endParaRPr sz="1200" b="1" i="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48000" y="951293"/>
            <a:ext cx="216000" cy="2934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918000"/>
            <a:ext cx="1404000" cy="360000"/>
          </a:xfrm>
          <a:prstGeom prst="roundRect">
            <a:avLst>
              <a:gd name="adj" fmla="val 50000"/>
            </a:avLst>
          </a:prstGeom>
          <a:solidFill>
            <a:srgbClr val="C2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정지</a:t>
            </a:r>
            <a:r>
              <a:rPr sz="1200" b="1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· </a:t>
            </a:r>
            <a:r>
              <a:rPr sz="12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해제</a:t>
            </a:r>
            <a:endParaRPr sz="1200" b="1" i="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000" y="1404000"/>
            <a:ext cx="4644000" cy="43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블록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수로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높이를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추정하지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않고</a:t>
            </a:r>
            <a:endParaRPr sz="12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l">
              <a:lnSpc>
                <a:spcPct val="125000"/>
              </a:lnSpc>
            </a:pP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접촉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ContactMonitor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으로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상단을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찾는</a:t>
            </a:r>
            <a:r>
              <a:rPr sz="12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방식</a:t>
            </a:r>
            <a:endParaRPr sz="120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4000" y="1908000"/>
            <a:ext cx="4644000" cy="1080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0" y="1998000"/>
            <a:ext cx="4356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구현</a:t>
            </a:r>
            <a:r>
              <a:rPr sz="135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완료</a:t>
            </a:r>
            <a:endParaRPr sz="135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000" y="2196000"/>
            <a:ext cx="4356000" cy="4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프리미티브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StackPlaceStrategy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구현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접촉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감지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ContactMonitor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구현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4000" y="3060000"/>
            <a:ext cx="4644000" cy="108000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9525">
            <a:solidFill>
              <a:srgbClr val="FDE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000" y="3150000"/>
            <a:ext cx="4356000" cy="22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35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시험</a:t>
            </a:r>
            <a:r>
              <a:rPr sz="135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전 · </a:t>
            </a: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남은</a:t>
            </a:r>
            <a:r>
              <a:rPr sz="1350" b="1" i="0" dirty="0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350" b="1" i="0" dirty="0" err="1">
                <a:solidFill>
                  <a:srgbClr val="E0662A"/>
                </a:solidFill>
                <a:latin typeface="프리젠테이션 5 Medium" pitchFamily="2" charset="-127"/>
                <a:ea typeface="프리젠테이션 5 Medium" pitchFamily="2" charset="-127"/>
              </a:rPr>
              <a:t>작업</a:t>
            </a:r>
            <a:endParaRPr sz="1350" b="1" i="0" dirty="0">
              <a:solidFill>
                <a:srgbClr val="E0662A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8000" y="3348000"/>
            <a:ext cx="4356000" cy="4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타워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접근·하강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포즈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tower_approach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/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tower_descent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아직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미등록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포즈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등록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후 5초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안정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유지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성공률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측정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예정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9" name="Picture 18" descr="Tas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00" y="1093143"/>
            <a:ext cx="3707999" cy="1305713"/>
          </a:xfrm>
          <a:prstGeom prst="rect">
            <a:avLst/>
          </a:prstGeom>
          <a:ln w="9525">
            <a:solidFill>
              <a:srgbClr val="DDE2E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112000" y="2610000"/>
            <a:ext cx="3708000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성공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판정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기준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예시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완성된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타워를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5초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sz="1050" b="0" i="1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050" b="0" i="1" dirty="0" err="1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유지</a:t>
            </a:r>
            <a:endParaRPr sz="1050" b="0" i="1" dirty="0">
              <a:solidFill>
                <a:srgbClr val="8A8F9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12000" y="2862000"/>
            <a:ext cx="3708000" cy="11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6000" y="2952000"/>
            <a:ext cx="3420000" cy="659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※ 위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사진은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과제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성공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판정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기준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)를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보여주는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예시이며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,</a:t>
            </a:r>
          </a:p>
          <a:p>
            <a:pPr algn="l">
              <a:lnSpc>
                <a:spcPct val="135000"/>
              </a:lnSpc>
            </a:pP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로봇이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자율적으로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3단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이상을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쌓은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결과가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아닙니다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시험은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타워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포즈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등록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후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진행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10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예정입니다</a:t>
            </a:r>
            <a:r>
              <a:rPr sz="110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향후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일정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및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남은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과제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000" y="630000"/>
            <a:ext cx="7920000" cy="203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추석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연휴로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앞당겨진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학과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일정</a:t>
            </a:r>
            <a:r>
              <a:rPr sz="1250" b="0" i="0" dirty="0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0" i="0" dirty="0" err="1">
                <a:solidFill>
                  <a:srgbClr val="555A5E"/>
                </a:solidFill>
                <a:latin typeface="프리젠테이션 5 Medium" pitchFamily="2" charset="-127"/>
                <a:ea typeface="프리젠테이션 5 Medium" pitchFamily="2" charset="-127"/>
              </a:rPr>
              <a:t>기준</a:t>
            </a:r>
            <a:endParaRPr sz="1250" b="0" i="0" dirty="0">
              <a:solidFill>
                <a:srgbClr val="555A5E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900000"/>
          <a:ext cx="5039998" cy="230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5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42"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항목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마감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비고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42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포스터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파일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제출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9월 10일 (목)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PDF, A1,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분과C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42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포스터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인쇄업체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제출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9월 11일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이후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수정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불가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42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최종보고서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/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최종평가표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9월 14일 (월)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졸업과제서버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업로드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42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소개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동영상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(3–10분)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9월 20일 (일)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시연영상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아님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42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GitHub repo · README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9월 29일 (화)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48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실제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시연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10월 1일 (목) 9–13시</a:t>
                      </a: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IT관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TechWeek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발표회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508000" y="900000"/>
            <a:ext cx="3311999" cy="30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2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52000" y="1008000"/>
            <a:ext cx="3024000" cy="228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잔여</a:t>
            </a:r>
            <a:r>
              <a:rPr sz="14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1" i="0" dirty="0" err="1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과제</a:t>
            </a:r>
            <a:endParaRPr sz="1400" b="1" i="0" dirty="0">
              <a:solidFill>
                <a:srgbClr val="006B5D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52000" y="1223999"/>
            <a:ext cx="3024000" cy="2422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5블록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전체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모으기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(1차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성공률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측정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위치별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(좌/우)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분리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기록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(2차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PLACE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전략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및 5초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유지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성공률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측정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지정구역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4모서리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좌표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재등록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손목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카메라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근접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보정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색상별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HSV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임계값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실환경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재튜닝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Docker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평가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서버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이미지의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CV+IK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경로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대응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여부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확정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▸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시연계획서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작성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및 10월 1일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시연</a:t>
            </a:r>
            <a:r>
              <a:rPr sz="1200" b="0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리허설</a:t>
            </a:r>
            <a:endParaRPr sz="1200" b="0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8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000" y="162000"/>
            <a:ext cx="7200000" cy="195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006B5D"/>
                </a:solidFill>
                <a:latin typeface="프리젠테이션 5 Medium" pitchFamily="2" charset="-127"/>
                <a:ea typeface="프리젠테이션 5 Medium" pitchFamily="2" charset="-127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342000"/>
            <a:ext cx="7920000" cy="35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구성원별</a:t>
            </a:r>
            <a:r>
              <a:rPr sz="220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진척도</a:t>
            </a:r>
            <a:endParaRPr sz="220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4000" y="738000"/>
          <a:ext cx="8495998" cy="237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이름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담당</a:t>
                      </a:r>
                      <a:r>
                        <a:rPr sz="115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및 </a:t>
                      </a:r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수행</a:t>
                      </a:r>
                      <a:r>
                        <a:rPr sz="1150" b="1" i="0" dirty="0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내용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진척도</a:t>
                      </a:r>
                      <a:endParaRPr sz="1150" b="1" i="0" dirty="0">
                        <a:solidFill>
                          <a:srgbClr val="FFFFFF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8000" marB="18000" anchor="ctr">
                    <a:solidFill>
                      <a:srgbClr val="006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윤민석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CV+IK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파이프라인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구현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전반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: 15점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캘리브레이션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및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오차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원인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규명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TopDownIK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모듈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그리퍼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좌표계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보정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재시도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로직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손목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서보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과열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해결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단일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블록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데모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성공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CV+IK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핵심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구현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및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실기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검증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진행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중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이동근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프로젝트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초기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셋업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듀얼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카메라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웹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뷰어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gRPC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원격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추론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환경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(ACT/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SmolVLA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), FSM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스켈레톤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CV/IK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실행환경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리팩터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인프라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구축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완료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/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리팩터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리뷰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대기</a:t>
                      </a:r>
                      <a:endParaRPr sz="1100" b="0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E1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김주환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정량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평가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체계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정의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및 rollout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기록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템플릿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배포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PR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리뷰·기술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문서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정리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최종보고서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작성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, 5블록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전체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미션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실기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검증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착수</a:t>
                      </a:r>
                      <a:endParaRPr sz="1100" b="1" i="0" dirty="0">
                        <a:solidFill>
                          <a:srgbClr val="212121"/>
                        </a:solidFill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평가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체계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완료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/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최종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통합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검증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진행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</a:rPr>
                        <a:t> 중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4000" y="3204000"/>
            <a:ext cx="8496000" cy="612000"/>
          </a:xfrm>
          <a:prstGeom prst="roundRect">
            <a:avLst>
              <a:gd name="adj" fmla="val 6000"/>
            </a:avLst>
          </a:prstGeom>
          <a:solidFill>
            <a:srgbClr val="E1F2EE"/>
          </a:solidFill>
          <a:ln w="9525">
            <a:solidFill>
              <a:srgbClr val="E1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3397308"/>
            <a:ext cx="8208000" cy="2253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전체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팀원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: 5블록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전체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모으기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(1차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및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적재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(2차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미션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실기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성공률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측정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시연계획서·포스터·발표</a:t>
            </a:r>
            <a:r>
              <a:rPr sz="1250" b="1" i="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</a:rPr>
              <a:t>준비</a:t>
            </a:r>
            <a:endParaRPr sz="1250" b="1" i="0" dirty="0">
              <a:solidFill>
                <a:srgbClr val="21212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68000" y="4891501"/>
            <a:ext cx="432000" cy="162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dirty="0">
                <a:solidFill>
                  <a:srgbClr val="8A8F93"/>
                </a:solidFill>
                <a:latin typeface="프리젠테이션 5 Medium" pitchFamily="2" charset="-127"/>
                <a:ea typeface="프리젠테이션 5 Medium" pitchFamily="2" charset="-127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5999"/>
            <a:ext cx="9144000" cy="586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감사합니다</a:t>
            </a:r>
            <a:endParaRPr sz="3600" b="1" i="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592000"/>
            <a:ext cx="9144000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SIM2REAL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2204</Words>
  <Application>Microsoft Office PowerPoint</Application>
  <PresentationFormat>화면 슬라이드 쇼(16:9)</PresentationFormat>
  <Paragraphs>303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프리젠테이션 5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김주환</cp:lastModifiedBy>
  <cp:revision>9</cp:revision>
  <dcterms:created xsi:type="dcterms:W3CDTF">2013-01-27T09:14:16Z</dcterms:created>
  <dcterms:modified xsi:type="dcterms:W3CDTF">2026-09-10T18:22:49Z</dcterms:modified>
  <cp:category/>
</cp:coreProperties>
</file>